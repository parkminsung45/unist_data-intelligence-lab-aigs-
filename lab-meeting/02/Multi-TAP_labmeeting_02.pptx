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81" r:id="rId4"/>
    <p:sldId id="315" r:id="rId5"/>
    <p:sldId id="308" r:id="rId6"/>
    <p:sldId id="260" r:id="rId7"/>
    <p:sldId id="291" r:id="rId8"/>
    <p:sldId id="292" r:id="rId9"/>
    <p:sldId id="263" r:id="rId10"/>
    <p:sldId id="264" r:id="rId11"/>
    <p:sldId id="265" r:id="rId12"/>
    <p:sldId id="293" r:id="rId13"/>
    <p:sldId id="294" r:id="rId14"/>
    <p:sldId id="301" r:id="rId15"/>
    <p:sldId id="296" r:id="rId16"/>
    <p:sldId id="297" r:id="rId17"/>
    <p:sldId id="298" r:id="rId18"/>
    <p:sldId id="272" r:id="rId19"/>
    <p:sldId id="300" r:id="rId20"/>
    <p:sldId id="274" r:id="rId21"/>
    <p:sldId id="309" r:id="rId22"/>
    <p:sldId id="310" r:id="rId23"/>
    <p:sldId id="311" r:id="rId24"/>
    <p:sldId id="313" r:id="rId25"/>
    <p:sldId id="279" r:id="rId26"/>
    <p:sldId id="316"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524"/>
    <p:restoredTop sz="87727"/>
  </p:normalViewPr>
  <p:slideViewPr>
    <p:cSldViewPr snapToGrid="0" snapToObjects="1">
      <p:cViewPr varScale="1">
        <p:scale>
          <a:sx n="135" d="100"/>
          <a:sy n="135" d="100"/>
        </p:scale>
        <p:origin x="51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790267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발표할 논문은 KDD 2026에 게재된 Multi-TAP입니다. 크로스 도메인 추천에서, 한 도메인 안에서도 사용자의 선호가 카테고리마다 다르다는 문제를 제기하고, 이를 여러 개의 페르소나로 분해한 뒤 타깃 도메인에 필요한 정보만 선택적으로 전이하는 프레임워크입니다.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본론에 앞서 30초로 큰 그림을 말씀드리겠습니다. 쿠팡 전자제품관의 구매 기록으로 가구관에서 추천을 해준다고 생각해 보겠습니다. 기존 방법은 전자제품관에서 이 사람은 비싼 걸 좋아한다처럼 한 줄로 요약해 가구관으로 통째로 넘깁니다. 그런데 같은 전자제품관 안에서도 컴퓨터는 비싼 걸, 이어폰은 싼 걸 사는 사람이 많아서, 한 줄로 요약하면 이 차이가 사라집니다. 그래서 이 논문은 P1에서 다섯 가지 기준별로 페르소나를 따로 만들고, P2에서 도플갱어라는 중간 다리를 거쳐 가구관에 맞는 정보만 흡수합니다. 즉 질문을 어떻게 옮길까에서 무엇을 옮길까로 바꾼 논문입니다.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17D43-3AED-CEE4-8D21-E6D1D336A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F3DC5C-3CF4-CA74-5E69-C02936B91F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64CCE6-0A4A-9CB0-3813-46E978A05EE8}"/>
              </a:ext>
            </a:extLst>
          </p:cNvPr>
          <p:cNvSpPr>
            <a:spLocks noGrp="1"/>
          </p:cNvSpPr>
          <p:nvPr>
            <p:ph type="body" idx="1"/>
          </p:nvPr>
        </p:nvSpPr>
        <p:spPr/>
        <p:txBody>
          <a:bodyPr/>
          <a:lstStyle/>
          <a:p>
            <a:r>
              <a:rPr lang="en-US" dirty="0"/>
              <a:t>CDR은 데이터가 많은 source 도메인의 정보를 빌려와 데이터가 부족한 target 도메인의 추천을 개선하는 분야이고, 해결하려는 문제는 데이터 희소성입니다. 기존 연구는 크게 두 갈래입니다. 첫째 EMCDR, SA-VAE 같은 매핑 방식은 양쪽을 모두 이용한 overlapping user로 source 벡터를 target 벡터로 바꾸는 함수를 학습합니다. 둘째 UniCDR, EDDA 같은 분해 방식은 취향을 도메인 공통 취향과 고유 취향으로 나눕니다. 그런데 두 방식 모두 도메인 단위로 사용자를 하나의 벡터로 요약하기 때문에, 맥락에 따라 달라지는 선호 신호가 압축된다는 공통 한계가 있습니다.</a:t>
            </a:r>
          </a:p>
        </p:txBody>
      </p:sp>
      <p:sp>
        <p:nvSpPr>
          <p:cNvPr id="4" name="Slide Number Placeholder 3">
            <a:extLst>
              <a:ext uri="{FF2B5EF4-FFF2-40B4-BE49-F238E27FC236}">
                <a16:creationId xmlns:a16="http://schemas.microsoft.com/office/drawing/2014/main" id="{63F3AC60-C523-C607-2B60-D8B14B0B7D4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010469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35D87-6C69-D3F8-F703-EA1575040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2C9D28-D3EE-EE03-9DA9-C0DB06D283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80E799-8479-AA79-2867-E9CD66194BBB}"/>
              </a:ext>
            </a:extLst>
          </p:cNvPr>
          <p:cNvSpPr>
            <a:spLocks noGrp="1"/>
          </p:cNvSpPr>
          <p:nvPr>
            <p:ph type="body" idx="1"/>
          </p:nvPr>
        </p:nvSpPr>
        <p:spPr/>
        <p:txBody>
          <a:bodyPr/>
          <a:lstStyle/>
          <a:p>
            <a:r>
              <a:rPr lang="en-US" dirty="0"/>
              <a:t>CDR은 데이터가 많은 source 도메인의 정보를 빌려와 데이터가 부족한 target 도메인의 추천을 개선하는 분야이고, 해결하려는 문제는 데이터 희소성입니다. 기존 연구는 크게 두 갈래입니다. 첫째 EMCDR, SA-VAE 같은 매핑 방식은 양쪽을 모두 이용한 overlapping user로 source 벡터를 target 벡터로 바꾸는 함수를 학습합니다. 둘째 UniCDR, EDDA 같은 분해 방식은 취향을 도메인 공통 취향과 고유 취향으로 나눕니다. 그런데 두 방식 모두 도메인 단위로 사용자를 하나의 벡터로 요약하기 때문에, 맥락에 따라 달라지는 선호 신호가 압축된다는 공통 한계가 있습니다.</a:t>
            </a:r>
          </a:p>
        </p:txBody>
      </p:sp>
      <p:sp>
        <p:nvSpPr>
          <p:cNvPr id="4" name="Slide Number Placeholder 3">
            <a:extLst>
              <a:ext uri="{FF2B5EF4-FFF2-40B4-BE49-F238E27FC236}">
                <a16:creationId xmlns:a16="http://schemas.microsoft.com/office/drawing/2014/main" id="{58372A6A-CF37-69EE-48DC-8D97D59DB35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594099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C492A-43AD-E7B1-1C1B-6866E5DEBF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41F152-0B81-F365-36B8-B422E0A017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1B6B1-89DC-F906-70F9-54903AF364A4}"/>
              </a:ext>
            </a:extLst>
          </p:cNvPr>
          <p:cNvSpPr>
            <a:spLocks noGrp="1"/>
          </p:cNvSpPr>
          <p:nvPr>
            <p:ph type="body" idx="1"/>
          </p:nvPr>
        </p:nvSpPr>
        <p:spPr/>
        <p:txBody>
          <a:bodyPr/>
          <a:lstStyle/>
          <a:p>
            <a:r>
              <a:rPr lang="en-US" dirty="0"/>
              <a:t>기존 CDR에는 한 도메인 안에서 취향은 균일하다는 가정이 깔려 있는데, 이 논문은 이 가정 자체가 틀렸다고 주장합니다. Figure 1을 보시면, Electronics 도메인에서 Computer 카테고리 기준으로 고가 제품을 사던 사용자의 60%, 저가 사용자의 65%가 다른 카테고리로 가면 상대적 가격 선호가 바뀝니다. Home Audio 기준으로는 54%, 66%입니다. 논문은 이 현상을 IDH, 도메인 내 이질성이라고 부릅니다. IDH를 무시하면 전이를 하기도 전에 정보가 손실되고, 그 압축된 벡터를 옮기면서 손실이 더 커지는데, 이를 무차별 전이라고 합니다. </a:t>
            </a:r>
            <a:r>
              <a:rPr lang="ko-KR" altLang="en-US" dirty="0"/>
              <a:t>따라서</a:t>
            </a:r>
            <a:r>
              <a:rPr lang="en-US" dirty="0"/>
              <a:t> 이 논문은 질문을 어떻게 옮길까에서 무엇을 옮길까로 바꿉니다.</a:t>
            </a:r>
          </a:p>
        </p:txBody>
      </p:sp>
      <p:sp>
        <p:nvSpPr>
          <p:cNvPr id="4" name="Slide Number Placeholder 3">
            <a:extLst>
              <a:ext uri="{FF2B5EF4-FFF2-40B4-BE49-F238E27FC236}">
                <a16:creationId xmlns:a16="http://schemas.microsoft.com/office/drawing/2014/main" id="{BCED695C-6A41-68E5-35E3-44208C51F3C2}"/>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996646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기여는 세 가지입니다. 첫째, CDR에서 도메인 내 이질성 문제를 처음 제기하고 정량적으로 분석했습니다. 둘째, 이를 해결하는 Multi-TAP 프레임워크를 제안했습니다. 셋째, 실험에서 다섯 개의 SOTA CDR 방법 대비 HR@5 기준 최대 36.3% 향상을 보였습니다.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2에서는 이 현상을 숫자로 증명합니다. 이론적 근거는 Ajzen의 계획행동이론으로, 행동은 하나의 고정된 선호가 아니라 맥락에 따른 여러 잠재 의도에서 나온다는 이론입니다. 기준은 가격, 평균 평점으로 본 품질, 상호작용 수로 본 인기 세 가지입니다. 첫 단계로 카테고리마다 아이템을 줄 세워 3등분하고 1, 2, 3 등급을 붙입니다. 카테고리별로 나누는 이유는 노트북 50만 원은 저가지만 이어폰 50만 원은 고가이기 때문에 스케일을 맞추기 위해서입니다. 두 번째로, 사용자가 그 카테고리에서 이용한 아이템 등급의 평균을 사용자 점수로 삼습니다.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번째로 이 점수를 다시 3등분해서 Low, Medium, High 라벨을 붙입니다. 이 라벨은 뒤의 페르소나 DB에 그대로 재사용됩니다. 마지막으로 선호 보존율을 정의합니다. 카테고리 c_b에서 라벨 g였던 사람 중 카테고리 c_t에서도 g인 사람의 비율입니다. 분모가 다르기 때문에 A에서 B, B에서 A의 값이 다른 비대칭 지표이고, 값이 낮을수록 도메인 내 이질성이 강하다는 뜻입니다.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2는 보존율을 히트맵으로 나타낸 것입니다. 세로축이 기준 카테고리, 가로축이 비교 카테고리입니다. 전반적으로 보존율이 낮고, 예를 들어 Electronics의 Car에서 GPS로 가면 약 31%만 가격 성향을 유지합니다. 또 저가 선호 사용자의 보존율이 고가 선호 사용자보다 더 낮습니다. 참고로 라벨이 3등분이므로, 선호가 카테고리와 무관하다면 보존율은 대략 3분의 1 정도가 나옵니다. 31%는 이에 가까운 수치라고 볼 수 있습니다. 이것은 제 해석입니다. 결론적으로 도메인 단위 벡터는 필연적으로 정보를 압축하므로, 전이 전에 기준별로 세밀하게 모델링해야 한다는 것이 논문의 주장입니다.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제안 프레임워크의 전체 구조입니다. source 도메인과 target 도메인이 있고, 두 도메인을 모두 이용한 overlapping user가 있습니다. 목표는 target 도메인, 특히 overlapping user의 추천 정확도를 높이는 것입니다. 흐름은 세 단계입니다. 왼쪽 (a)의 P1에서 source와 target 각각에서 사용자의 페르소나 벡터를 만들고, 오른쪽 (b)의 P2에서 도플갱어를 통해 source 정보를 선별적으로 전이한 뒤, target 아이템과 매칭해 추천합니다.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P1은 source와 target에서 각각 독립적으로 수행됩니다. 첫 단계는 사용자 페르소나 데이터베이스 구축이고, 기준은 다섯 가지입니다. 가격 민감도, 품질 선호, 인기 편향은 Section 2의 라벨을 그대로 재사용합니다. 여기에 얼마나 넓게 사는지를 보는 카테고리 다양성과, 한 카테고리를 얼마나 깊게 사는지를 보는 카테고리 친숙도를 새로 정의합니다. 이 다섯 개를 쓰는 이유는 가격, 평점, 카테고리가 어느 이커머스에나 있는 메타데이터라서, 추가 피처나 수작업 없이 다른 도메인으로 일반화할 수 있기 때문입니다.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새로 정의한 두 기준을 보겠습니다. 카테고리 다양성은 한 도메인에서 이용한 서로 다른 카테고리의 수를 세고, 전체 사용자 대비 3등분합니다. 도메인당 값이 하나입니다. 카테고리 친숙도는 특정 카테고리에서의 상호작용 수를, 같은 카테고리를 이용한 다른 사용자들과 비교해 3등분합니다. 카테고리마다 원래 구매 빈도가 다르기 때문에 카테고리별로 따로 계산합니다. 이렇게 만든 라벨을 카테고리와 기준 조합마다 모은 것이 페르소나 DB이고, 오른쪽 부록 Table 8처럼 Kitchen and Dining 가격 H 같은 형태입니다.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단계는 LLM으로 페르소나 문장을 만드는 것입니다. 핵심은 LLM이 추론기가 아니라 번역기라는 점입니다. 숨은 취향을 추측하게 하지 않고, 이미 계산된 통계를 문장으로 옮기기만 시킵니다. 길고 비정형적인 입력이 LLM의 추론 성능을 떨어뜨리고 환각을 늘린다는 선행연구가 있기 때문입니다. 입력은 인기 아이템 50개와 고평점 아이템 50개로 만든 도메인 설명, 사용자가 이용한 아이템의 제목과 카테고리, 페르소나 DB, 그리고 기준 간 의미가 섞이지 않도록 기준별 의미를 정해둔 고정 프롬프트입니다. 식의 세로 두 줄은 텍스트 이어붙이기를 뜻합니다. 출력은 기준별 3에서 4문장짜리 페르소나 다섯 개를 JSON으로 한 번의 호출로 받습니다. 페르소나는 누적된 분포 수준의 요약이라 천천히 변하므로 자주 재생성할 필요가 없습니다.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단계에서는 다섯 개 문장을 text-embedding-3-large로 각각 3072차원 벡터로 바꿉니다. 문장을 만든 LLM과 같은 계열을 써서 의미 일관성을 맞춥니다. 그다음 self-attention으로 합치는데, 학습 가능한 MASK 토큰이 질문자 역할을 하고 다섯 개 페르소나 벡터가 key와 value 역할을 합니다. 심사위원이 보고서 다섯 개를 읽고 이 사람은 가격 페르소나가 중요하다며 가중치를 매기는 것과 같습니다. 루트 n으로 나누는 것은 값이 너무 커지지 않게 하는 스케일링입니다. 결과적으로 source와 target 페르소나 벡터가 하나씩 생깁니다.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P2는 선택적 전이 단계입니다. 기존 contrastive 방법은 source와 target 벡터를 직접 가깝게 당겨서 target 고유의 취향이 뭉개집니다. 그래서 이 논문은 target을 기준점으로 삼고, 학습도 target 도메인에서만 합니다. 첫 단계는 도플갱어 생성입니다. 초기값은 target 페르소나의 복사본이고, 이것을 질문자로, source 페르소나를 key와 value로 하는 cross-attention을 수행합니다. 분모가 모든 source 사용자에 대한 합이므로, 가중치는 target의 내가 여러 source 사용자 중 source의 나와 상대적으로 얼마나 닮았는지를 나타내는 0과 1 사이의 숫자입니다. 도플갱어는 이 가중치에 source의 나를 곱한 것이라서, 닮은 만큼만 source 정보를 가져옵니다.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단계에서는 InfoNCE로 전이합니다. target의 나는 내 도플갱어와는 가깝게, 다른 사람의 도플갱어와는 멀게 학습됩니다. 유사도는 코사인 유사도이고, 온도 타우는 작을수록 구분을 엄격하게 합니다. 이렇게 하면 source 정보가 직접 맞붙지 않고 간접적으로 들어옵니다. 비유하자면 통역사를 사이에 두는 셈으로, source의 말을 그대로 옮겨 적는 것이 아니라 target 입장에 맞는 만큼만 전달받는 구조입니다.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학습 과정입니다. 페르소나는 의미 정보라서 나와 비슷한 사람이 산 것 같은 협업 신호는 잡지 못합니다. 그래서 사용자-아이템 그래프에서 이웃 정보를 퍼뜨려 만드는 LightGCN으로 미리 ID 벡터를 학습해 페르소나 벡터와 이어붙이고 단층 MLP를 통과시킵니다. 아이템은 제목과 카테고리를 같은 인코더로 벡터화한 512차원 의미 벡터를 씁니다. 추천 손실은 BPR로, 산 아이템의 점수가 안 산 아이템보다 높도록 학습합니다. 최종 손실은 BPR에 람다를 곱한 도플갱어 손실을 더한 형태입니다. source 쪽은 같은 BPR로 미리 학습해 두고 target 학습 중에는 업데이트하지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실험은 다섯 가지 질문으로 구성됩니다. 전체 성능, 페르소나 모델링의 효과, 도플갱어 전이의 효과, 하이퍼파라미터 민감도, 효율성입니다. 데이터는 Amazon Reviews 2023의 다섯 개 도메인으로 가능한 10쌍을 모두 실험했고, 본문에는 overlapping user가 가장 많은 세 쌍을 싣고 나머지는 부록 Table 12에 있습니다. 중요한 점은 시간 기준 분할입니다. 2019년 이전으로 학습하고 이후를 검증과 테스트로 나눠, 미래 정보가 학습에 새지 않게 하고 실제 서비스 상황과 비슷하게 만들었습니다. 그래서 베이스라인 수치가 원 논문과 다를 수 있지만, 원래 설정에서는 재현이 되는 것을 확인했다고 밝힙니다.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평가는 샘플링 없이 안 본 모든 아이템을 후보로 두는 full ranking이라 수치가 2에서 4% 정도로 작게 나옵니다. 지표는 정답이 상위 5개 안에 들었는지 보는 HR@5와, 정답이 위에 있을수록 점수를 더 주는 NDCG@5이고, 모든 결과는 seed 5개의 평균입니다. 베이스라인은 단일 도메인 방법 세 개와 CDR 방법 다섯 개이고, 그중 PPA가 가장 강한 경쟁자입니다. 페르소나 생성은 gpt-4o로 사용자당 최근 30개 상호작용을 쓰며 약 0.022달러가 듭니다.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성능입니다. Multi-TAP은 여섯 개 방향 중 다섯 개에서 1위입니다. 가장 큰 차이는 Home에서 Electronics 방향으로, PPA 대비 HR은 2.44 대 1.79로 36.3%, NDCG는 0.77 대 0.54로 42.6% 높습니다. 예외는 Cloth에서 Sports 방향으로, PPA가 2.25, Multi-TAP이 2.08로 2위입니다. 대신 반대 방향에서는 4.09 대 3.36으로 크게 앞섭니다. 참고로 Home에서 Electronics 방향에서는 단일 도메인 LightGCN이 2.21로 CDR 베이스라인들보다 높은데, 이는 무차별 전이가 오히려 성능을 떨어뜨릴 수 있다는 논문의 주장과도 맞닿아 있습니다.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EQ2는 페르소나 모델링의 효과입니다. 왼쪽 Table 5는 페르소나 한 개에 원래 값, 한 개에 등급 라벨, 다섯 개에 등급 라벨을 비교합니다. Sports에서 Cloth 기준 3.70, 3.77, 4.09로 올라갑니다. 절대값보다 상대 등급이 더 좋은 신호이고, 같은 입력이어도 분해하면 추가 이득이 있다는 뜻입니다. 오른쪽 Table 6은 결합 방식 비교로, 평균 3.66, 이어붙이기 3.99, self-attention 4.09로 적응적 가중치가 가장 좋습니다.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cold-start 실험입니다. 사용자의 10%를 뽑아 target 학습 데이터의 상호작용을 5개 미만으로 제한했습니다. PPA 대비 최대 향상은 Home에서 Toys 방향에서 HR 14.52%, NDCG 25.81%입니다. 다만 정확히 말씀드리면, NDCG는 네 방향 모두 앞서지만 HR은 Elec에서 Home, Toys에서 Home 방향에서 PPA가 근소하게 높습니다. 따라서 본문의 consistently outperforms는 NDCG 기준으로 성립합니다.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EQ3은 도플갱어 전이의 효과입니다. 백본은 같고 전이 방식만 다른 세 변형, 즉 ID 벡터끼리, 페르소나끼리, 둘을 합친 것끼리 직접 정렬하는 방식과 비교했습니다. Multi-TAP이 모든 경우 가장 좋았고, 직접 정렬은 방향마다 성능이 불안정했습니다. 직접 정렬이 도메인 고유 신호를 억누를 수 있다는 해석입니다. EQ4에서 람다는 0이 아닌 값에서 성능이 좋아지고 1보다 클 때 특히 좋으며, 타우는 0.4에서 0.6에서 최적이고 안정적입니다. EQ5 효율성 측면에서 학습은 9분에서 30분, 페르소나 생성은 사용자당 약 3초이며 오프라인으로 처리됩니다.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관련 연구입니다. 매핑, 분해, 부정적 전이 완화 계열 모두 도메인 단위로 작동해서 IDH를 다루지 않습니다. 가장 가까운 PPA도 여러 선호 프로토타입을 쓰지만 상호작용에서 암묵적으로 학습되고, 개수를 하이퍼파라미터로 정해야 하며, target에 맞춰 조정되지 않습니다. LLM 기반인 LASSO는 LLM이 추론해 비정형 프로필 하나로 압축하기 때문에 제어가 어렵습니다. Multi-TAP은 명시적이고 해석 가능한 다섯 기준, 구조화된 입력, target 적응형 전이라는 점에서 다릅니다.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결론입니다. 이 논문은 기존 CDR이 도메인 내 이질성을 명시적으로 포착하지 못한다는 점을 밝혔고, 다중 페르소나로 이질적 선호를 구조화해 모델링한 뒤 도플갱어 정렬로 target 적응적 전이를 수행하는 Multi-TAP을 제안했습니다. 실험에서 SOTA 대비 일관된 성능 우위를 보이면서도 계산 효율적이었습니다. 이상입니다.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B519A-F389-A19D-365F-FADF88044F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38E0A8-E8A5-BB41-1BE3-058C5BEF51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DC6111-5EF5-B7CB-1C34-C9A508CFEA29}"/>
              </a:ext>
            </a:extLst>
          </p:cNvPr>
          <p:cNvSpPr>
            <a:spLocks noGrp="1"/>
          </p:cNvSpPr>
          <p:nvPr>
            <p:ph type="body" idx="1"/>
          </p:nvPr>
        </p:nvSpPr>
        <p:spPr/>
        <p:txBody>
          <a:bodyPr/>
          <a:lstStyle/>
          <a:p>
            <a:r>
              <a:rPr lang="en-US" dirty="0"/>
              <a:t>결론입니다. 이 논문은 기존 CDR이 도메인 내 이질성을 명시적으로 포착하지 못한다는 점을 밝혔고, 다중 페르소나로 이질적 선호를 구조화해 모델링한 뒤 도플갱어 정렬로 target 적응적 전이를 수행하는 Multi-TAP을 제안했습니다. 실험에서 SOTA 대비 일관된 성능 우위를 보이면서도 계산 효율적이었습니다. 이상입니다.</a:t>
            </a:r>
          </a:p>
        </p:txBody>
      </p:sp>
      <p:sp>
        <p:nvSpPr>
          <p:cNvPr id="4" name="Slide Number Placeholder 3">
            <a:extLst>
              <a:ext uri="{FF2B5EF4-FFF2-40B4-BE49-F238E27FC236}">
                <a16:creationId xmlns:a16="http://schemas.microsoft.com/office/drawing/2014/main" id="{4FAB034B-49C7-47AA-CAA7-BA0CA015ABE4}"/>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116154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74320" y="1325880"/>
            <a:ext cx="7315200" cy="2103120"/>
          </a:xfrm>
          <a:prstGeom prst="rect">
            <a:avLst/>
          </a:prstGeom>
          <a:noFill/>
          <a:ln/>
        </p:spPr>
        <p:txBody>
          <a:bodyPr wrap="square" lIns="0" tIns="0" rIns="0" bIns="0" rtlCol="0" anchor="t"/>
          <a:lstStyle/>
          <a:p>
            <a:pPr marL="0" indent="0">
              <a:lnSpc>
                <a:spcPct val="95000"/>
              </a:lnSpc>
              <a:buNone/>
            </a:pPr>
            <a:r>
              <a:rPr lang="en-US" sz="3100" dirty="0">
                <a:solidFill>
                  <a:srgbClr val="FFFFFF"/>
                </a:solidFill>
                <a:latin typeface="Pretendard" panose="02000503000000020004" pitchFamily="2" charset="-127"/>
                <a:ea typeface="Pretendard" panose="02000503000000020004" pitchFamily="2" charset="-127"/>
                <a:cs typeface="Pretendard" panose="02000503000000020004" pitchFamily="2" charset="-127"/>
              </a:rPr>
              <a:t>Multi-TAP:</a:t>
            </a:r>
            <a:endParaRPr lang="en-US" sz="3100" dirty="0"/>
          </a:p>
          <a:p>
            <a:pPr marL="0" indent="0">
              <a:lnSpc>
                <a:spcPct val="95000"/>
              </a:lnSpc>
              <a:buNone/>
            </a:pPr>
            <a:r>
              <a:rPr lang="en-US" sz="3100" dirty="0">
                <a:solidFill>
                  <a:srgbClr val="FFFFFF"/>
                </a:solidFill>
                <a:latin typeface="Pretendard" panose="02000503000000020004" pitchFamily="2" charset="-127"/>
                <a:ea typeface="Pretendard" panose="02000503000000020004" pitchFamily="2" charset="-127"/>
                <a:cs typeface="Pretendard" panose="02000503000000020004" pitchFamily="2" charset="-127"/>
              </a:rPr>
              <a:t>Multi-criteria Target Adaptive</a:t>
            </a:r>
            <a:endParaRPr lang="en-US" sz="3100" dirty="0"/>
          </a:p>
          <a:p>
            <a:pPr marL="0" indent="0">
              <a:lnSpc>
                <a:spcPct val="95000"/>
              </a:lnSpc>
              <a:buNone/>
            </a:pPr>
            <a:r>
              <a:rPr lang="en-US" sz="3100" dirty="0">
                <a:solidFill>
                  <a:srgbClr val="FFFFFF"/>
                </a:solidFill>
                <a:latin typeface="Pretendard" panose="02000503000000020004" pitchFamily="2" charset="-127"/>
                <a:ea typeface="Pretendard" panose="02000503000000020004" pitchFamily="2" charset="-127"/>
                <a:cs typeface="Pretendard" panose="02000503000000020004" pitchFamily="2" charset="-127"/>
              </a:rPr>
              <a:t>Persona Modeling for</a:t>
            </a:r>
            <a:endParaRPr lang="en-US" sz="3100" dirty="0"/>
          </a:p>
          <a:p>
            <a:pPr marL="0" indent="0">
              <a:lnSpc>
                <a:spcPct val="95000"/>
              </a:lnSpc>
              <a:buNone/>
            </a:pPr>
            <a:r>
              <a:rPr lang="en-US" sz="3100" dirty="0">
                <a:solidFill>
                  <a:srgbClr val="FFFFFF"/>
                </a:solidFill>
                <a:latin typeface="Pretendard" panose="02000503000000020004" pitchFamily="2" charset="-127"/>
                <a:ea typeface="Pretendard" panose="02000503000000020004" pitchFamily="2" charset="-127"/>
                <a:cs typeface="Pretendard" panose="02000503000000020004" pitchFamily="2" charset="-127"/>
              </a:rPr>
              <a:t>Cross-domain Recommendation</a:t>
            </a:r>
            <a:endParaRPr lang="en-US" sz="3100" dirty="0"/>
          </a:p>
        </p:txBody>
      </p:sp>
      <p:sp>
        <p:nvSpPr>
          <p:cNvPr id="3" name="Text 1"/>
          <p:cNvSpPr txBox="1"/>
          <p:nvPr/>
        </p:nvSpPr>
        <p:spPr>
          <a:xfrm>
            <a:off x="274320" y="3611880"/>
            <a:ext cx="7315200" cy="640080"/>
          </a:xfrm>
          <a:prstGeom prst="rect">
            <a:avLst/>
          </a:prstGeom>
          <a:noFill/>
          <a:ln/>
        </p:spPr>
        <p:txBody>
          <a:bodyPr wrap="square" lIns="0" tIns="0" rIns="0" bIns="0" rtlCol="0" anchor="ctr"/>
          <a:lstStyle/>
          <a:p>
            <a:pPr marL="0" indent="0">
              <a:buNone/>
            </a:pPr>
            <a:r>
              <a:rPr lang="en-US" sz="1500" dirty="0">
                <a:solidFill>
                  <a:srgbClr val="C9CED4"/>
                </a:solidFill>
                <a:latin typeface="Pretendard" panose="02000503000000020004" pitchFamily="2" charset="-127"/>
                <a:ea typeface="Pretendard" panose="02000503000000020004" pitchFamily="2" charset="-127"/>
                <a:cs typeface="Pretendard" panose="02000503000000020004" pitchFamily="2" charset="-127"/>
              </a:rPr>
              <a:t>Daehee Kang (UNIST) · Yeon-Chang Lee (UNIST)</a:t>
            </a:r>
            <a:endParaRPr lang="en-US" sz="1500" dirty="0"/>
          </a:p>
          <a:p>
            <a:pPr marL="0" indent="0">
              <a:buNone/>
            </a:pPr>
            <a:r>
              <a:rPr lang="en-US" sz="1500" dirty="0">
                <a:solidFill>
                  <a:srgbClr val="C9CED4"/>
                </a:solidFill>
                <a:latin typeface="Pretendard" panose="02000503000000020004" pitchFamily="2" charset="-127"/>
                <a:ea typeface="Pretendard" panose="02000503000000020004" pitchFamily="2" charset="-127"/>
                <a:cs typeface="Pretendard" panose="02000503000000020004" pitchFamily="2" charset="-127"/>
              </a:rPr>
              <a:t>KDD 2026 · arXiv:2603.07086</a:t>
            </a:r>
            <a:endParaRPr lang="en-US" sz="1500" dirty="0"/>
          </a:p>
        </p:txBody>
      </p:sp>
      <p:sp>
        <p:nvSpPr>
          <p:cNvPr id="4" name="Text 2"/>
          <p:cNvSpPr txBox="1"/>
          <p:nvPr/>
        </p:nvSpPr>
        <p:spPr>
          <a:xfrm>
            <a:off x="274320" y="4754880"/>
            <a:ext cx="5486400" cy="365760"/>
          </a:xfrm>
          <a:prstGeom prst="rect">
            <a:avLst/>
          </a:prstGeom>
          <a:noFill/>
          <a:ln/>
        </p:spPr>
        <p:txBody>
          <a:bodyPr wrap="square" lIns="0" tIns="0" rIns="0" bIns="0" rtlCol="0" anchor="ctr"/>
          <a:lstStyle/>
          <a:p>
            <a:pPr marL="0" indent="0">
              <a:buNone/>
            </a:pPr>
            <a:r>
              <a:rPr lang="en-US" sz="1600" dirty="0">
                <a:solidFill>
                  <a:srgbClr val="FFFFFF"/>
                </a:solidFill>
                <a:latin typeface="Pretendard" panose="02000503000000020004" pitchFamily="2" charset="-127"/>
                <a:ea typeface="Pretendard" panose="02000503000000020004" pitchFamily="2" charset="-127"/>
                <a:cs typeface="Pretendard" panose="02000503000000020004" pitchFamily="2" charset="-127"/>
              </a:rPr>
              <a:t>Presented by </a:t>
            </a:r>
            <a:r>
              <a:rPr lang="en-US" sz="1600" dirty="0" err="1">
                <a:solidFill>
                  <a:srgbClr val="FFFFFF"/>
                </a:solidFill>
                <a:latin typeface="Pretendard" panose="02000503000000020004" pitchFamily="2" charset="-127"/>
                <a:ea typeface="Pretendard" panose="02000503000000020004" pitchFamily="2" charset="-127"/>
                <a:cs typeface="Pretendard" panose="02000503000000020004" pitchFamily="2" charset="-127"/>
              </a:rPr>
              <a:t>Minsung</a:t>
            </a:r>
            <a:r>
              <a:rPr lang="en-US" sz="1600" dirty="0">
                <a:solidFill>
                  <a:srgbClr val="FFFFFF"/>
                </a:solidFill>
                <a:latin typeface="Pretendard" panose="02000503000000020004" pitchFamily="2" charset="-127"/>
                <a:ea typeface="Pretendard" panose="02000503000000020004" pitchFamily="2" charset="-127"/>
                <a:cs typeface="Pretendard" panose="02000503000000020004" pitchFamily="2" charset="-127"/>
              </a:rPr>
              <a:t> Park</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0. Overview</a:t>
            </a:r>
            <a:endParaRPr lang="en-US" sz="2800" dirty="0"/>
          </a:p>
        </p:txBody>
      </p:sp>
      <p:sp>
        <p:nvSpPr>
          <p:cNvPr id="3" name="Text 1"/>
          <p:cNvSpPr txBox="1"/>
          <p:nvPr/>
        </p:nvSpPr>
        <p:spPr>
          <a:xfrm>
            <a:off x="640080" y="1234440"/>
            <a:ext cx="1828800" cy="457200"/>
          </a:xfrm>
          <a:prstGeom prst="rect">
            <a:avLst/>
          </a:prstGeom>
          <a:noFill/>
          <a:ln/>
        </p:spPr>
        <p:txBody>
          <a:bodyPr wrap="square" lIns="0" tIns="0" rIns="0" bIns="0" rtlCol="0" anchor="ctr"/>
          <a:lstStyle/>
          <a:p>
            <a:pPr marL="0" indent="0">
              <a:spcAft>
                <a:spcPts val="600"/>
              </a:spcAft>
              <a:buNone/>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비유</a:t>
            </a:r>
            <a:endParaRPr lang="en-US" sz="1600" dirty="0"/>
          </a:p>
        </p:txBody>
      </p:sp>
      <p:sp>
        <p:nvSpPr>
          <p:cNvPr id="4" name="Text 2"/>
          <p:cNvSpPr txBox="1"/>
          <p:nvPr/>
        </p:nvSpPr>
        <p:spPr>
          <a:xfrm>
            <a:off x="2560320" y="1234440"/>
            <a:ext cx="9052560" cy="457200"/>
          </a:xfrm>
          <a:prstGeom prst="rect">
            <a:avLst/>
          </a:prstGeom>
          <a:noFill/>
          <a:ln/>
        </p:spPr>
        <p:txBody>
          <a:bodyPr wrap="square" lIns="0" tIns="0" rIns="0" bIns="0" rtlCol="0" anchor="ctr"/>
          <a:lstStyle/>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쿠팡 전자제품관(A)에서 산 기록으로 가구관(B)에서 추천을 해준다고 가정</a:t>
            </a:r>
            <a:endParaRPr lang="en-US" sz="1500" dirty="0"/>
          </a:p>
        </p:txBody>
      </p:sp>
      <p:sp>
        <p:nvSpPr>
          <p:cNvPr id="5" name="Shape 3"/>
          <p:cNvSpPr/>
          <p:nvPr/>
        </p:nvSpPr>
        <p:spPr>
          <a:xfrm>
            <a:off x="640080" y="1746504"/>
            <a:ext cx="10972800" cy="0"/>
          </a:xfrm>
          <a:prstGeom prst="line">
            <a:avLst/>
          </a:prstGeom>
          <a:noFill/>
          <a:ln w="9525">
            <a:solidFill>
              <a:srgbClr val="D9DDE1"/>
            </a:solidFill>
            <a:prstDash val="solid"/>
          </a:ln>
        </p:spPr>
        <p:txBody>
          <a:bodyPr/>
          <a:lstStyle/>
          <a:p>
            <a:endParaRPr lang="ko-KR" altLang="en-US"/>
          </a:p>
        </p:txBody>
      </p:sp>
      <p:sp>
        <p:nvSpPr>
          <p:cNvPr id="6" name="Text 4"/>
          <p:cNvSpPr txBox="1"/>
          <p:nvPr/>
        </p:nvSpPr>
        <p:spPr>
          <a:xfrm>
            <a:off x="640080" y="1801368"/>
            <a:ext cx="1828800" cy="457200"/>
          </a:xfrm>
          <a:prstGeom prst="rect">
            <a:avLst/>
          </a:prstGeom>
          <a:noFill/>
          <a:ln/>
        </p:spPr>
        <p:txBody>
          <a:bodyPr wrap="square" lIns="0" tIns="0" rIns="0" bIns="0" rtlCol="0" anchor="ctr"/>
          <a:lstStyle/>
          <a:p>
            <a:pPr marL="0" indent="0">
              <a:spcAft>
                <a:spcPts val="600"/>
              </a:spcAft>
              <a:buNone/>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기존 방법</a:t>
            </a:r>
            <a:endParaRPr lang="en-US" sz="1600" dirty="0"/>
          </a:p>
        </p:txBody>
      </p:sp>
      <p:sp>
        <p:nvSpPr>
          <p:cNvPr id="7" name="Text 5"/>
          <p:cNvSpPr txBox="1"/>
          <p:nvPr/>
        </p:nvSpPr>
        <p:spPr>
          <a:xfrm>
            <a:off x="2560320" y="1801368"/>
            <a:ext cx="9052560" cy="457200"/>
          </a:xfrm>
          <a:prstGeom prst="rect">
            <a:avLst/>
          </a:prstGeom>
          <a:noFill/>
          <a:ln/>
        </p:spPr>
        <p:txBody>
          <a:bodyPr wrap="square" lIns="0" tIns="0" rIns="0" bIns="0" rtlCol="0" anchor="ctr"/>
          <a:lstStyle/>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A에서 "이 사람은 비싼 걸 좋아함"처럼 한 줄로 요약한 뒤 B로 통째로 전달</a:t>
            </a:r>
            <a:endParaRPr lang="en-US" sz="1500" dirty="0"/>
          </a:p>
        </p:txBody>
      </p:sp>
      <p:sp>
        <p:nvSpPr>
          <p:cNvPr id="8" name="Shape 6"/>
          <p:cNvSpPr/>
          <p:nvPr/>
        </p:nvSpPr>
        <p:spPr>
          <a:xfrm>
            <a:off x="640080" y="2313432"/>
            <a:ext cx="10972800" cy="0"/>
          </a:xfrm>
          <a:prstGeom prst="line">
            <a:avLst/>
          </a:prstGeom>
          <a:noFill/>
          <a:ln w="9525">
            <a:solidFill>
              <a:srgbClr val="D9DDE1"/>
            </a:solidFill>
            <a:prstDash val="solid"/>
          </a:ln>
        </p:spPr>
        <p:txBody>
          <a:bodyPr/>
          <a:lstStyle/>
          <a:p>
            <a:endParaRPr lang="ko-KR" altLang="en-US"/>
          </a:p>
        </p:txBody>
      </p:sp>
      <p:sp>
        <p:nvSpPr>
          <p:cNvPr id="9" name="Text 7"/>
          <p:cNvSpPr txBox="1"/>
          <p:nvPr/>
        </p:nvSpPr>
        <p:spPr>
          <a:xfrm>
            <a:off x="640080" y="2368296"/>
            <a:ext cx="1828800" cy="713232"/>
          </a:xfrm>
          <a:prstGeom prst="rect">
            <a:avLst/>
          </a:prstGeom>
          <a:noFill/>
          <a:ln/>
        </p:spPr>
        <p:txBody>
          <a:bodyPr wrap="square" lIns="0" tIns="0" rIns="0" bIns="0" rtlCol="0" anchor="ctr"/>
          <a:lstStyle/>
          <a:p>
            <a:pPr marL="0" indent="0">
              <a:spcAft>
                <a:spcPts val="600"/>
              </a:spcAft>
              <a:buNone/>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문제</a:t>
            </a:r>
            <a:endParaRPr lang="en-US" sz="1600" dirty="0"/>
          </a:p>
        </p:txBody>
      </p:sp>
      <p:sp>
        <p:nvSpPr>
          <p:cNvPr id="10" name="Text 8"/>
          <p:cNvSpPr txBox="1"/>
          <p:nvPr/>
        </p:nvSpPr>
        <p:spPr>
          <a:xfrm>
            <a:off x="2560320" y="2368296"/>
            <a:ext cx="9052560" cy="713232"/>
          </a:xfrm>
          <a:prstGeom prst="rect">
            <a:avLst/>
          </a:prstGeom>
          <a:noFill/>
          <a:ln/>
        </p:spPr>
        <p:txBody>
          <a:bodyPr wrap="square" lIns="0" tIns="0" rIns="0" bIns="0" rtlCol="0" anchor="ctr"/>
          <a:lstStyle/>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같은 전자제품관 안에서도 컴퓨터는 비싼 걸, 이어폰은 싼 걸 사는 사람이 많음</a:t>
            </a:r>
            <a:endParaRPr lang="en-US" sz="1500" dirty="0"/>
          </a:p>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한 줄로 요약하는 순간 이 차이가 뭉개짐</a:t>
            </a:r>
            <a:endParaRPr lang="en-US" sz="1500" dirty="0"/>
          </a:p>
        </p:txBody>
      </p:sp>
      <p:sp>
        <p:nvSpPr>
          <p:cNvPr id="11" name="Shape 9"/>
          <p:cNvSpPr/>
          <p:nvPr/>
        </p:nvSpPr>
        <p:spPr>
          <a:xfrm>
            <a:off x="640080" y="3136392"/>
            <a:ext cx="10972800" cy="0"/>
          </a:xfrm>
          <a:prstGeom prst="line">
            <a:avLst/>
          </a:prstGeom>
          <a:noFill/>
          <a:ln w="9525">
            <a:solidFill>
              <a:srgbClr val="D9DDE1"/>
            </a:solidFill>
            <a:prstDash val="solid"/>
          </a:ln>
        </p:spPr>
        <p:txBody>
          <a:bodyPr/>
          <a:lstStyle/>
          <a:p>
            <a:endParaRPr lang="ko-KR" altLang="en-US"/>
          </a:p>
        </p:txBody>
      </p:sp>
      <p:sp>
        <p:nvSpPr>
          <p:cNvPr id="12" name="Text 10"/>
          <p:cNvSpPr txBox="1"/>
          <p:nvPr/>
        </p:nvSpPr>
        <p:spPr>
          <a:xfrm>
            <a:off x="640080" y="3191256"/>
            <a:ext cx="1828800" cy="713232"/>
          </a:xfrm>
          <a:prstGeom prst="rect">
            <a:avLst/>
          </a:prstGeom>
          <a:noFill/>
          <a:ln/>
        </p:spPr>
        <p:txBody>
          <a:bodyPr wrap="square" lIns="0" tIns="0" rIns="0" bIns="0" rtlCol="0" anchor="ctr"/>
          <a:lstStyle/>
          <a:p>
            <a:pPr marL="0" indent="0">
              <a:spcAft>
                <a:spcPts val="600"/>
              </a:spcAft>
              <a:buNone/>
            </a:pPr>
            <a:r>
              <a:rPr lang="en-US" sz="16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해결 (P1)</a:t>
            </a:r>
            <a:endParaRPr lang="en-US" sz="1600" dirty="0"/>
          </a:p>
        </p:txBody>
      </p:sp>
      <p:sp>
        <p:nvSpPr>
          <p:cNvPr id="13" name="Text 11"/>
          <p:cNvSpPr txBox="1"/>
          <p:nvPr/>
        </p:nvSpPr>
        <p:spPr>
          <a:xfrm>
            <a:off x="2560320" y="3191256"/>
            <a:ext cx="9052560" cy="713232"/>
          </a:xfrm>
          <a:prstGeom prst="rect">
            <a:avLst/>
          </a:prstGeom>
          <a:noFill/>
          <a:ln/>
        </p:spPr>
        <p:txBody>
          <a:bodyPr wrap="square" lIns="0" tIns="0" rIns="0" bIns="0" rtlCol="0" anchor="ctr"/>
          <a:lstStyle/>
          <a:p>
            <a:pPr>
              <a:spcAft>
                <a:spcPts val="600"/>
              </a:spcAft>
            </a:pP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LLM이</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문장으로</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작</a:t>
            </a:r>
            <a:r>
              <a:rPr lang="ko-KR" alt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성 </a:t>
            </a:r>
            <a:r>
              <a:rPr lang="en-US" altLang="ko-KR"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5개 </a:t>
            </a:r>
            <a:r>
              <a:rPr lang="en-US" altLang="ko-KR"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기준</a:t>
            </a:r>
            <a:r>
              <a:rPr lang="en-US" altLang="ko-KR"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t>
            </a:r>
            <a:r>
              <a:rPr lang="en-US" altLang="ko-KR"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가격·품질·인기·카테고리</a:t>
            </a:r>
            <a:r>
              <a:rPr lang="en-US" altLang="ko-KR"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다양성·카테고리</a:t>
            </a:r>
            <a:r>
              <a:rPr lang="en-US" altLang="ko-KR"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친숙도</a:t>
            </a:r>
            <a:r>
              <a:rPr lang="en-US" altLang="ko-KR"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t>
            </a:r>
            <a:r>
              <a:rPr lang="en-US" altLang="ko-KR"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별로</a:t>
            </a:r>
            <a:r>
              <a:rPr lang="en-US" altLang="ko-KR"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페르소나를</a:t>
            </a:r>
            <a:r>
              <a:rPr lang="en-US" altLang="ko-KR"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따로</a:t>
            </a:r>
            <a:r>
              <a:rPr lang="en-US" altLang="ko-KR"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생성</a:t>
            </a:r>
            <a:endParaRPr lang="en-US" altLang="ko-KR" sz="1500" dirty="0"/>
          </a:p>
          <a:p>
            <a:pPr marL="0" indent="0">
              <a:spcAft>
                <a:spcPts val="600"/>
              </a:spcAft>
              <a:buNone/>
            </a:pPr>
            <a:r>
              <a:rPr lang="ko-KR" alt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한 뒤</a:t>
            </a:r>
            <a:r>
              <a:rPr lang="en-US" altLang="ko-KR"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벡터로</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변환 </a:t>
            </a: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후</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Attention </a:t>
            </a:r>
            <a:r>
              <a:rPr lang="ko-KR" alt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기법</a:t>
            </a: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으로</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결합</a:t>
            </a:r>
            <a:endParaRPr lang="en-US" sz="1500" dirty="0"/>
          </a:p>
        </p:txBody>
      </p:sp>
      <p:sp>
        <p:nvSpPr>
          <p:cNvPr id="14" name="Shape 12"/>
          <p:cNvSpPr/>
          <p:nvPr/>
        </p:nvSpPr>
        <p:spPr>
          <a:xfrm>
            <a:off x="640080" y="3959352"/>
            <a:ext cx="10972800" cy="0"/>
          </a:xfrm>
          <a:prstGeom prst="line">
            <a:avLst/>
          </a:prstGeom>
          <a:noFill/>
          <a:ln w="9525">
            <a:solidFill>
              <a:srgbClr val="D9DDE1"/>
            </a:solidFill>
            <a:prstDash val="solid"/>
          </a:ln>
        </p:spPr>
        <p:txBody>
          <a:bodyPr/>
          <a:lstStyle/>
          <a:p>
            <a:endParaRPr lang="ko-KR" altLang="en-US"/>
          </a:p>
        </p:txBody>
      </p:sp>
      <p:sp>
        <p:nvSpPr>
          <p:cNvPr id="15" name="Text 13"/>
          <p:cNvSpPr txBox="1"/>
          <p:nvPr/>
        </p:nvSpPr>
        <p:spPr>
          <a:xfrm>
            <a:off x="640080" y="4014216"/>
            <a:ext cx="1828800" cy="457200"/>
          </a:xfrm>
          <a:prstGeom prst="rect">
            <a:avLst/>
          </a:prstGeom>
          <a:noFill/>
          <a:ln/>
        </p:spPr>
        <p:txBody>
          <a:bodyPr wrap="square" lIns="0" tIns="0" rIns="0" bIns="0" rtlCol="0" anchor="ctr"/>
          <a:lstStyle/>
          <a:p>
            <a:pPr marL="0" indent="0">
              <a:spcAft>
                <a:spcPts val="600"/>
              </a:spcAft>
              <a:buNone/>
            </a:pPr>
            <a:r>
              <a:rPr lang="en-US" sz="16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해결 (P2)</a:t>
            </a:r>
            <a:endParaRPr lang="en-US" sz="1600" dirty="0"/>
          </a:p>
        </p:txBody>
      </p:sp>
      <p:sp>
        <p:nvSpPr>
          <p:cNvPr id="16" name="Text 14"/>
          <p:cNvSpPr txBox="1"/>
          <p:nvPr/>
        </p:nvSpPr>
        <p:spPr>
          <a:xfrm>
            <a:off x="2560320" y="4014216"/>
            <a:ext cx="9052560" cy="457200"/>
          </a:xfrm>
          <a:prstGeom prst="rect">
            <a:avLst/>
          </a:prstGeom>
          <a:noFill/>
          <a:ln/>
        </p:spPr>
        <p:txBody>
          <a:bodyPr wrap="square" lIns="0" tIns="0" rIns="0" bIns="0" rtlCol="0" anchor="ctr"/>
          <a:lstStyle/>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A의 정보를 통째로 옮기지 않고, "도플갱어"라는 중간 다리를 거쳐 B에 맞는 정보만 흡수</a:t>
            </a:r>
            <a:endParaRPr lang="en-US" sz="1500" dirty="0"/>
          </a:p>
        </p:txBody>
      </p:sp>
      <p:sp>
        <p:nvSpPr>
          <p:cNvPr id="17" name="Shape 15"/>
          <p:cNvSpPr/>
          <p:nvPr/>
        </p:nvSpPr>
        <p:spPr>
          <a:xfrm>
            <a:off x="640080" y="4526280"/>
            <a:ext cx="10972800" cy="0"/>
          </a:xfrm>
          <a:prstGeom prst="line">
            <a:avLst/>
          </a:prstGeom>
          <a:noFill/>
          <a:ln w="9525">
            <a:solidFill>
              <a:srgbClr val="D9DDE1"/>
            </a:solidFill>
            <a:prstDash val="solid"/>
          </a:ln>
        </p:spPr>
        <p:txBody>
          <a:bodyPr/>
          <a:lstStyle/>
          <a:p>
            <a:endParaRPr lang="ko-KR" altLang="en-US"/>
          </a:p>
        </p:txBody>
      </p:sp>
      <p:sp>
        <p:nvSpPr>
          <p:cNvPr id="18" name="Shape 16"/>
          <p:cNvSpPr/>
          <p:nvPr/>
        </p:nvSpPr>
        <p:spPr>
          <a:xfrm>
            <a:off x="640080" y="5120640"/>
            <a:ext cx="10972800" cy="548640"/>
          </a:xfrm>
          <a:prstGeom prst="rect">
            <a:avLst/>
          </a:prstGeom>
          <a:solidFill>
            <a:srgbClr val="E9F7F6">
              <a:alpha val="50000"/>
            </a:srgbClr>
          </a:solidFill>
          <a:ln w="12700">
            <a:solidFill>
              <a:srgbClr val="E9F7F6"/>
            </a:solidFill>
            <a:prstDash val="solid"/>
          </a:ln>
        </p:spPr>
        <p:txBody>
          <a:bodyPr/>
          <a:lstStyle/>
          <a:p>
            <a:endParaRPr lang="ko-KR" altLang="en-US"/>
          </a:p>
        </p:txBody>
      </p:sp>
      <p:sp>
        <p:nvSpPr>
          <p:cNvPr id="19" name="Text 17"/>
          <p:cNvSpPr txBox="1"/>
          <p:nvPr/>
        </p:nvSpPr>
        <p:spPr>
          <a:xfrm>
            <a:off x="868680" y="5120640"/>
            <a:ext cx="10607040" cy="548640"/>
          </a:xfrm>
          <a:prstGeom prst="rect">
            <a:avLst/>
          </a:prstGeom>
          <a:noFill/>
          <a:ln/>
        </p:spPr>
        <p:txBody>
          <a:bodyPr wrap="square" lIns="0" tIns="0" rIns="0" bIns="0" rtlCol="0" anchor="ctr"/>
          <a:lstStyle/>
          <a:p>
            <a:pPr marL="0" indent="0">
              <a:spcAft>
                <a:spcPts val="600"/>
              </a:spcAft>
              <a:buNone/>
            </a:pPr>
            <a:r>
              <a:rPr lang="en-US" sz="160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핵심 질문의 전환  </a:t>
            </a: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"선호를 어떻게 옮길까(How)?"  →  "어떤 선호를 옮길까(What)?"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FA880E5-0BE6-9AA8-E294-0392E694FE2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8E572DC-6CAD-6DE3-C09E-C89921A5BEDC}"/>
              </a:ext>
            </a:extLst>
          </p:cNvPr>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1. Introduction — Background</a:t>
            </a:r>
            <a:endParaRPr lang="en-US" sz="2800" dirty="0"/>
          </a:p>
        </p:txBody>
      </p:sp>
      <p:sp>
        <p:nvSpPr>
          <p:cNvPr id="3" name="Text 1">
            <a:extLst>
              <a:ext uri="{FF2B5EF4-FFF2-40B4-BE49-F238E27FC236}">
                <a16:creationId xmlns:a16="http://schemas.microsoft.com/office/drawing/2014/main" id="{F5D86966-545F-3243-BABB-87A5A39E6169}"/>
              </a:ext>
            </a:extLst>
          </p:cNvPr>
          <p:cNvSpPr txBox="1"/>
          <p:nvPr/>
        </p:nvSpPr>
        <p:spPr>
          <a:xfrm>
            <a:off x="640080" y="1289304"/>
            <a:ext cx="10972800" cy="206987"/>
          </a:xfrm>
          <a:prstGeom prst="rect">
            <a:avLst/>
          </a:prstGeom>
          <a:noFill/>
          <a:ln/>
        </p:spPr>
        <p:txBody>
          <a:bodyPr wrap="square" lIns="0" tIns="0" rIns="0" bIns="0" rtlCol="0" anchor="t"/>
          <a:lstStyle/>
          <a:p>
            <a:pPr marL="0" indent="0" algn="ctr">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CDR (Cross-domain Recommendation) </a:t>
            </a:r>
            <a:r>
              <a:rPr lang="en-US" altLang="ko-KR"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데이터가 많은 source 도메인의 정보를 빌려와, 데이터가 부족한 target 도메인의 추천을 </a:t>
            </a: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개선하는</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분</a:t>
            </a:r>
            <a:r>
              <a:rPr lang="ko-KR" alt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야</a:t>
            </a:r>
            <a:endParaRPr lang="en-US" sz="1500" dirty="0"/>
          </a:p>
        </p:txBody>
      </p:sp>
      <p:graphicFrame>
        <p:nvGraphicFramePr>
          <p:cNvPr id="4" name="Table 0">
            <a:extLst>
              <a:ext uri="{FF2B5EF4-FFF2-40B4-BE49-F238E27FC236}">
                <a16:creationId xmlns:a16="http://schemas.microsoft.com/office/drawing/2014/main" id="{1CD275F0-BA2B-0D9D-FE47-E7A11BD71524}"/>
              </a:ext>
            </a:extLst>
          </p:cNvPr>
          <p:cNvGraphicFramePr>
            <a:graphicFrameLocks noGrp="1"/>
          </p:cNvGraphicFramePr>
          <p:nvPr/>
        </p:nvGraphicFramePr>
        <p:xfrm>
          <a:off x="640080" y="2377440"/>
          <a:ext cx="10972800" cy="1965960"/>
        </p:xfrm>
        <a:graphic>
          <a:graphicData uri="http://schemas.openxmlformats.org/drawingml/2006/table">
            <a:tbl>
              <a:tblPr/>
              <a:tblGrid>
                <a:gridCol w="23774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6675120">
                  <a:extLst>
                    <a:ext uri="{9D8B030D-6E8A-4147-A177-3AD203B41FA5}">
                      <a16:colId xmlns:a16="http://schemas.microsoft.com/office/drawing/2014/main" val="20002"/>
                    </a:ext>
                  </a:extLst>
                </a:gridCol>
              </a:tblGrid>
              <a:tr h="411480">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접근</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대표 연구</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핵심 아이디어</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extLst>
                  <a:ext uri="{0D108BD9-81ED-4DB2-BD59-A6C34878D82A}">
                    <a16:rowId xmlns:a16="http://schemas.microsoft.com/office/drawing/2014/main" val="10000"/>
                  </a:ext>
                </a:extLst>
              </a:tr>
              <a:tr h="777240">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 매핑 방식</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EMCDR, SA-VAE</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양쪽 도메인을 모두 쓴 사람(overlapping users)을 이용해, source 사용자 벡터를 target 벡터로 바꿔주는 함수를 학습</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B. 분해 · 공유공간 방식</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UniCDR, EDDA</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취향을 "도메인 공통 취향(domain-shared)"과 "도메인 고유 취향(domain-specific)"으로 분리</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Shape 2">
            <a:extLst>
              <a:ext uri="{FF2B5EF4-FFF2-40B4-BE49-F238E27FC236}">
                <a16:creationId xmlns:a16="http://schemas.microsoft.com/office/drawing/2014/main" id="{504C6C56-51E0-C363-F386-5FD0900630E8}"/>
              </a:ext>
            </a:extLst>
          </p:cNvPr>
          <p:cNvSpPr/>
          <p:nvPr/>
        </p:nvSpPr>
        <p:spPr>
          <a:xfrm>
            <a:off x="640080" y="4572000"/>
            <a:ext cx="10972800" cy="868680"/>
          </a:xfrm>
          <a:prstGeom prst="rect">
            <a:avLst/>
          </a:prstGeom>
          <a:solidFill>
            <a:srgbClr val="E9F7F6">
              <a:alpha val="50000"/>
            </a:srgbClr>
          </a:solidFill>
          <a:ln w="12700">
            <a:solidFill>
              <a:srgbClr val="E9F7F6"/>
            </a:solidFill>
            <a:prstDash val="solid"/>
          </a:ln>
        </p:spPr>
        <p:txBody>
          <a:bodyPr/>
          <a:lstStyle/>
          <a:p>
            <a:endParaRPr lang="ko-KR" altLang="en-US" dirty="0"/>
          </a:p>
        </p:txBody>
      </p:sp>
      <p:sp>
        <p:nvSpPr>
          <p:cNvPr id="6" name="Text 3">
            <a:extLst>
              <a:ext uri="{FF2B5EF4-FFF2-40B4-BE49-F238E27FC236}">
                <a16:creationId xmlns:a16="http://schemas.microsoft.com/office/drawing/2014/main" id="{AFB25F9C-C380-D89A-CFEE-D99E3E69B16A}"/>
              </a:ext>
            </a:extLst>
          </p:cNvPr>
          <p:cNvSpPr txBox="1"/>
          <p:nvPr/>
        </p:nvSpPr>
        <p:spPr>
          <a:xfrm>
            <a:off x="822960" y="4572000"/>
            <a:ext cx="10607040" cy="868680"/>
          </a:xfrm>
          <a:prstGeom prst="rect">
            <a:avLst/>
          </a:prstGeom>
          <a:noFill/>
          <a:ln/>
        </p:spPr>
        <p:txBody>
          <a:bodyPr wrap="square" lIns="0" tIns="0" rIns="0" bIns="0" rtlCol="0" anchor="ctr"/>
          <a:lstStyle/>
          <a:p>
            <a:pPr marL="0" indent="0">
              <a:spcAft>
                <a:spcPts val="600"/>
              </a:spcAft>
              <a:buNone/>
            </a:pPr>
            <a:r>
              <a:rPr lang="en-US" sz="150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공통 한계  </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두 방식 모두 도메인 단위로 사용자를 벡터 하나로 요약 → 맥락에 따라 달라지는 선호 신호가 압축됨</a:t>
            </a:r>
            <a:endParaRPr lang="en-US" sz="1500" dirty="0"/>
          </a:p>
        </p:txBody>
      </p:sp>
      <p:sp>
        <p:nvSpPr>
          <p:cNvPr id="9" name="TextBox 8">
            <a:extLst>
              <a:ext uri="{FF2B5EF4-FFF2-40B4-BE49-F238E27FC236}">
                <a16:creationId xmlns:a16="http://schemas.microsoft.com/office/drawing/2014/main" id="{F76311A7-4B43-D2D1-4F1C-934DB5FFA5A9}"/>
              </a:ext>
            </a:extLst>
          </p:cNvPr>
          <p:cNvSpPr txBox="1"/>
          <p:nvPr/>
        </p:nvSpPr>
        <p:spPr>
          <a:xfrm>
            <a:off x="2911497" y="1709142"/>
            <a:ext cx="6429965" cy="276999"/>
          </a:xfrm>
          <a:prstGeom prst="rect">
            <a:avLst/>
          </a:prstGeom>
          <a:noFill/>
        </p:spPr>
        <p:txBody>
          <a:bodyPr wrap="none" rtlCol="0">
            <a:spAutoFit/>
          </a:bodyPr>
          <a:lstStyle/>
          <a:p>
            <a:pPr algn="ctr">
              <a:spcAft>
                <a:spcPts val="600"/>
              </a:spcAft>
            </a:pPr>
            <a:r>
              <a:rPr lang="en-US" altLang="ko-KR" sz="1200" dirty="0" err="1">
                <a:solidFill>
                  <a:srgbClr val="6E7781"/>
                </a:solidFill>
                <a:latin typeface="Pretendard" panose="02000503000000020004" pitchFamily="2" charset="-127"/>
                <a:ea typeface="Pretendard" panose="02000503000000020004" pitchFamily="2" charset="-127"/>
                <a:cs typeface="Pretendard" panose="02000503000000020004" pitchFamily="2" charset="-127"/>
              </a:rPr>
              <a:t>해결하려는</a:t>
            </a:r>
            <a:r>
              <a:rPr lang="en-US" altLang="ko-KR" sz="12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sz="1200" dirty="0" err="1">
                <a:solidFill>
                  <a:srgbClr val="6E7781"/>
                </a:solidFill>
                <a:latin typeface="Pretendard" panose="02000503000000020004" pitchFamily="2" charset="-127"/>
                <a:ea typeface="Pretendard" panose="02000503000000020004" pitchFamily="2" charset="-127"/>
                <a:cs typeface="Pretendard" panose="02000503000000020004" pitchFamily="2" charset="-127"/>
              </a:rPr>
              <a:t>문제</a:t>
            </a:r>
            <a:r>
              <a:rPr lang="en-US" altLang="ko-KR" sz="12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 data sparsity (</a:t>
            </a:r>
            <a:r>
              <a:rPr lang="en-US" altLang="ko-KR" sz="1200" dirty="0" err="1">
                <a:solidFill>
                  <a:srgbClr val="6E7781"/>
                </a:solidFill>
                <a:latin typeface="Pretendard" panose="02000503000000020004" pitchFamily="2" charset="-127"/>
                <a:ea typeface="Pretendard" panose="02000503000000020004" pitchFamily="2" charset="-127"/>
                <a:cs typeface="Pretendard" panose="02000503000000020004" pitchFamily="2" charset="-127"/>
              </a:rPr>
              <a:t>데이터</a:t>
            </a:r>
            <a:r>
              <a:rPr lang="en-US" altLang="ko-KR" sz="12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sz="1200" dirty="0" err="1">
                <a:solidFill>
                  <a:srgbClr val="6E7781"/>
                </a:solidFill>
                <a:latin typeface="Pretendard" panose="02000503000000020004" pitchFamily="2" charset="-127"/>
                <a:ea typeface="Pretendard" panose="02000503000000020004" pitchFamily="2" charset="-127"/>
                <a:cs typeface="Pretendard" panose="02000503000000020004" pitchFamily="2" charset="-127"/>
              </a:rPr>
              <a:t>희소성</a:t>
            </a:r>
            <a:r>
              <a:rPr lang="en-US" altLang="ko-KR" sz="12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 · </a:t>
            </a:r>
            <a:r>
              <a:rPr lang="en-US" altLang="ko-KR" sz="1200" dirty="0" err="1">
                <a:solidFill>
                  <a:srgbClr val="6E7781"/>
                </a:solidFill>
                <a:latin typeface="Pretendard" panose="02000503000000020004" pitchFamily="2" charset="-127"/>
                <a:ea typeface="Pretendard" panose="02000503000000020004" pitchFamily="2" charset="-127"/>
                <a:cs typeface="Pretendard" panose="02000503000000020004" pitchFamily="2" charset="-127"/>
              </a:rPr>
              <a:t>예</a:t>
            </a:r>
            <a:r>
              <a:rPr lang="en-US" altLang="ko-KR" sz="12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 Amazon, </a:t>
            </a:r>
            <a:r>
              <a:rPr lang="en-US" altLang="ko-KR" sz="1200" dirty="0" err="1">
                <a:solidFill>
                  <a:srgbClr val="6E7781"/>
                </a:solidFill>
                <a:latin typeface="Pretendard" panose="02000503000000020004" pitchFamily="2" charset="-127"/>
                <a:ea typeface="Pretendard" panose="02000503000000020004" pitchFamily="2" charset="-127"/>
                <a:cs typeface="Pretendard" panose="02000503000000020004" pitchFamily="2" charset="-127"/>
              </a:rPr>
              <a:t>eBay처럼</a:t>
            </a:r>
            <a:r>
              <a:rPr lang="en-US" altLang="ko-KR" sz="12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sz="1200" dirty="0" err="1">
                <a:solidFill>
                  <a:srgbClr val="6E7781"/>
                </a:solidFill>
                <a:latin typeface="Pretendard" panose="02000503000000020004" pitchFamily="2" charset="-127"/>
                <a:ea typeface="Pretendard" panose="02000503000000020004" pitchFamily="2" charset="-127"/>
                <a:cs typeface="Pretendard" panose="02000503000000020004" pitchFamily="2" charset="-127"/>
              </a:rPr>
              <a:t>여러</a:t>
            </a:r>
            <a:r>
              <a:rPr lang="en-US" altLang="ko-KR" sz="12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sz="1200" dirty="0" err="1">
                <a:solidFill>
                  <a:srgbClr val="6E7781"/>
                </a:solidFill>
                <a:latin typeface="Pretendard" panose="02000503000000020004" pitchFamily="2" charset="-127"/>
                <a:ea typeface="Pretendard" panose="02000503000000020004" pitchFamily="2" charset="-127"/>
                <a:cs typeface="Pretendard" panose="02000503000000020004" pitchFamily="2" charset="-127"/>
              </a:rPr>
              <a:t>도메인을</a:t>
            </a:r>
            <a:r>
              <a:rPr lang="en-US" altLang="ko-KR" sz="12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sz="1200" dirty="0" err="1">
                <a:solidFill>
                  <a:srgbClr val="6E7781"/>
                </a:solidFill>
                <a:latin typeface="Pretendard" panose="02000503000000020004" pitchFamily="2" charset="-127"/>
                <a:ea typeface="Pretendard" panose="02000503000000020004" pitchFamily="2" charset="-127"/>
                <a:cs typeface="Pretendard" panose="02000503000000020004" pitchFamily="2" charset="-127"/>
              </a:rPr>
              <a:t>가진</a:t>
            </a:r>
            <a:r>
              <a:rPr lang="en-US" altLang="ko-KR" sz="12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sz="1200" dirty="0" err="1">
                <a:solidFill>
                  <a:srgbClr val="6E7781"/>
                </a:solidFill>
                <a:latin typeface="Pretendard" panose="02000503000000020004" pitchFamily="2" charset="-127"/>
                <a:ea typeface="Pretendard" panose="02000503000000020004" pitchFamily="2" charset="-127"/>
                <a:cs typeface="Pretendard" panose="02000503000000020004" pitchFamily="2" charset="-127"/>
              </a:rPr>
              <a:t>이커머스</a:t>
            </a:r>
            <a:endParaRPr lang="en-US" altLang="ko-KR" sz="1200" dirty="0"/>
          </a:p>
        </p:txBody>
      </p:sp>
    </p:spTree>
    <p:extLst>
      <p:ext uri="{BB962C8B-B14F-4D97-AF65-F5344CB8AC3E}">
        <p14:creationId xmlns:p14="http://schemas.microsoft.com/office/powerpoint/2010/main" val="88161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1584B1D-70D2-9B99-E835-4CD602B47DB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EFAF365-DCF7-037B-9013-20D94E2A1759}"/>
              </a:ext>
            </a:extLst>
          </p:cNvPr>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1. Introduction — Background</a:t>
            </a:r>
            <a:endParaRPr lang="en-US" sz="2800" dirty="0"/>
          </a:p>
        </p:txBody>
      </p:sp>
      <p:graphicFrame>
        <p:nvGraphicFramePr>
          <p:cNvPr id="50" name="Method Comparison Table"/>
          <p:cNvGraphicFramePr>
            <a:graphicFrameLocks noGrp="1"/>
          </p:cNvGraphicFramePr>
          <p:nvPr/>
        </p:nvGraphicFramePr>
        <p:xfrm>
          <a:off x="640080" y="1422400"/>
          <a:ext cx="10972800" cy="3632200"/>
        </p:xfrm>
        <a:graphic>
          <a:graphicData uri="http://schemas.openxmlformats.org/drawingml/2006/table">
            <a:tbl>
              <a:tblPr firstRow="1"/>
              <a:tblGrid>
                <a:gridCol w="1143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444500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381000">
                <a:tc>
                  <a:txBody>
                    <a:bodyPr/>
                    <a:lstStyle/>
                    <a:p>
                      <a:pPr marL="0" indent="0" algn="l">
                        <a:buNone/>
                      </a:pPr>
                      <a:r>
                        <a:rPr lang="ko-KR" altLang="en-US" sz="1400" b="1"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방법</a:t>
                      </a:r>
                    </a:p>
                  </a:txBody>
                  <a:tcPr anchor="ctr">
                    <a:lnL w="0">
                      <a:noFill/>
                    </a:lnL>
                    <a:lnR w="0">
                      <a:noFill/>
                    </a:lnR>
                    <a:lnT w="0">
                      <a:noFill/>
                    </a:lnT>
                    <a:lnB w="12700">
                      <a:solidFill>
                        <a:srgbClr val="002856"/>
                      </a:solidFill>
                    </a:lnB>
                    <a:noFill/>
                  </a:tcPr>
                </a:tc>
                <a:tc>
                  <a:txBody>
                    <a:bodyPr/>
                    <a:lstStyle/>
                    <a:p>
                      <a:pPr marL="0" indent="0" algn="l">
                        <a:buNone/>
                      </a:pPr>
                      <a:r>
                        <a:rPr lang="ko-KR" altLang="en-US" sz="1400" b="1"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접근</a:t>
                      </a:r>
                    </a:p>
                  </a:txBody>
                  <a:tcPr anchor="ctr">
                    <a:lnL w="0">
                      <a:noFill/>
                    </a:lnL>
                    <a:lnR w="0">
                      <a:noFill/>
                    </a:lnR>
                    <a:lnT w="0">
                      <a:noFill/>
                    </a:lnT>
                    <a:lnB w="12700">
                      <a:solidFill>
                        <a:srgbClr val="002856"/>
                      </a:solidFill>
                    </a:lnB>
                    <a:noFill/>
                  </a:tcPr>
                </a:tc>
                <a:tc>
                  <a:txBody>
                    <a:bodyPr/>
                    <a:lstStyle/>
                    <a:p>
                      <a:pPr marL="0" indent="0" algn="l">
                        <a:buNone/>
                      </a:pPr>
                      <a:r>
                        <a:rPr lang="ko-KR" altLang="en-US" sz="1400" b="1"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핵심 아이디어</a:t>
                      </a:r>
                    </a:p>
                  </a:txBody>
                  <a:tcPr anchor="ctr">
                    <a:lnL w="0">
                      <a:noFill/>
                    </a:lnL>
                    <a:lnR w="0">
                      <a:noFill/>
                    </a:lnR>
                    <a:lnT w="0">
                      <a:noFill/>
                    </a:lnT>
                    <a:lnB w="12700">
                      <a:solidFill>
                        <a:srgbClr val="002856"/>
                      </a:solidFill>
                    </a:lnB>
                    <a:noFill/>
                  </a:tcPr>
                </a:tc>
                <a:tc>
                  <a:txBody>
                    <a:bodyPr/>
                    <a:lstStyle/>
                    <a:p>
                      <a:pPr marL="0" indent="0" algn="l">
                        <a:buNone/>
                      </a:pPr>
                      <a:r>
                        <a:rPr lang="ko-KR" altLang="en-US" sz="1400" b="1"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Multi-TAP 관점의 한계</a:t>
                      </a:r>
                    </a:p>
                  </a:txBody>
                  <a:tcPr anchor="ctr">
                    <a:lnL w="0">
                      <a:noFill/>
                    </a:lnL>
                    <a:lnR w="0">
                      <a:noFill/>
                    </a:lnR>
                    <a:lnT w="0">
                      <a:noFill/>
                    </a:lnT>
                    <a:lnB w="12700">
                      <a:solidFill>
                        <a:srgbClr val="002856"/>
                      </a:solidFill>
                    </a:lnB>
                    <a:noFill/>
                  </a:tcPr>
                </a:tc>
                <a:extLst>
                  <a:ext uri="{0D108BD9-81ED-4DB2-BD59-A6C34878D82A}">
                    <a16:rowId xmlns:a16="http://schemas.microsoft.com/office/drawing/2014/main" val="10000"/>
                  </a:ext>
                </a:extLst>
              </a:tr>
              <a:tr h="812800">
                <a:tc>
                  <a:txBody>
                    <a:bodyPr/>
                    <a:lstStyle/>
                    <a:p>
                      <a:pPr marL="0" indent="0" algn="l">
                        <a:buNone/>
                      </a:pPr>
                      <a:r>
                        <a:rPr lang="ko-KR" altLang="en-US" sz="1400" b="1"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EMCDR</a:t>
                      </a:r>
                    </a:p>
                  </a:txBody>
                  <a:tcPr anchor="ctr">
                    <a:lnL w="0">
                      <a:noFill/>
                    </a:lnL>
                    <a:lnR w="0">
                      <a:noFill/>
                    </a:lnR>
                    <a:lnT w="12700" cap="flat" cmpd="sng" algn="ctr">
                      <a:solidFill>
                        <a:srgbClr val="002856"/>
                      </a:solidFill>
                      <a:prstDash val="solid"/>
                      <a:round/>
                      <a:headEnd type="none" w="med" len="med"/>
                      <a:tailEnd type="none" w="med" len="med"/>
                    </a:lnT>
                    <a:lnB w="9525">
                      <a:solidFill>
                        <a:srgbClr val="D9DDE1"/>
                      </a:solidFill>
                    </a:lnB>
                    <a:noFill/>
                  </a:tcPr>
                </a:tc>
                <a:tc>
                  <a:txBody>
                    <a:bodyPr/>
                    <a:lstStyle/>
                    <a:p>
                      <a:pPr marL="0" indent="0" algn="l">
                        <a:buNone/>
                      </a:pPr>
                      <a:r>
                        <a:rPr lang="ko-KR" altLang="en-US" sz="1400" b="1"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매핑</a:t>
                      </a:r>
                    </a:p>
                  </a:txBody>
                  <a:tcPr anchor="ctr">
                    <a:lnL w="0">
                      <a:noFill/>
                    </a:lnL>
                    <a:lnR w="0">
                      <a:noFill/>
                    </a:lnR>
                    <a:lnT w="12700" cap="flat" cmpd="sng" algn="ctr">
                      <a:solidFill>
                        <a:srgbClr val="002856"/>
                      </a:solidFill>
                      <a:prstDash val="solid"/>
                      <a:round/>
                      <a:headEnd type="none" w="med" len="med"/>
                      <a:tailEnd type="none" w="med" len="med"/>
                    </a:lnT>
                    <a:lnB w="9525">
                      <a:solidFill>
                        <a:srgbClr val="D9DDE1"/>
                      </a:solidFill>
                    </a:lnB>
                    <a:noFill/>
                  </a:tcPr>
                </a:tc>
                <a:tc>
                  <a:txBody>
                    <a:bodyPr/>
                    <a:lstStyle/>
                    <a:p>
                      <a:pPr marL="0" indent="0" algn="l">
                        <a:buNone/>
                      </a:pPr>
                      <a:r>
                        <a:rPr lang="ko-KR" alt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Source·Target 벡터를 따로 학습한 뒤, 겹치는 사용자로 번역 함수(선형/MLP) 학습</a:t>
                      </a:r>
                    </a:p>
                  </a:txBody>
                  <a:tcPr anchor="ctr">
                    <a:lnL w="0">
                      <a:noFill/>
                    </a:lnL>
                    <a:lnR w="0">
                      <a:noFill/>
                    </a:lnR>
                    <a:lnT w="12700" cap="flat" cmpd="sng" algn="ctr">
                      <a:solidFill>
                        <a:srgbClr val="002856"/>
                      </a:solidFill>
                      <a:prstDash val="solid"/>
                      <a:round/>
                      <a:headEnd type="none" w="med" len="med"/>
                      <a:tailEnd type="none" w="med" len="med"/>
                    </a:lnT>
                    <a:lnB w="9525">
                      <a:solidFill>
                        <a:srgbClr val="D9DDE1"/>
                      </a:solidFill>
                    </a:lnB>
                    <a:noFill/>
                  </a:tcPr>
                </a:tc>
                <a:tc>
                  <a:txBody>
                    <a:bodyPr/>
                    <a:lstStyle/>
                    <a:p>
                      <a:pPr marL="0" indent="0" algn="l">
                        <a:buNone/>
                      </a:pPr>
                      <a:r>
                        <a:rPr lang="ko-KR" alt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사용자를 도메인당 벡터 하나로 요약해 통째로 번역</a:t>
                      </a:r>
                    </a:p>
                  </a:txBody>
                  <a:tcPr anchor="ctr">
                    <a:lnL w="0">
                      <a:noFill/>
                    </a:lnL>
                    <a:lnR w="0">
                      <a:noFill/>
                    </a:lnR>
                    <a:lnT w="12700" cap="flat" cmpd="sng" algn="ctr">
                      <a:solidFill>
                        <a:srgbClr val="002856"/>
                      </a:solidFill>
                      <a:prstDash val="solid"/>
                      <a:round/>
                      <a:headEnd type="none" w="med" len="med"/>
                      <a:tailEnd type="none" w="med" len="med"/>
                    </a:lnT>
                    <a:lnB w="9525">
                      <a:solidFill>
                        <a:srgbClr val="D9DDE1"/>
                      </a:solidFill>
                    </a:lnB>
                    <a:noFill/>
                  </a:tcPr>
                </a:tc>
                <a:extLst>
                  <a:ext uri="{0D108BD9-81ED-4DB2-BD59-A6C34878D82A}">
                    <a16:rowId xmlns:a16="http://schemas.microsoft.com/office/drawing/2014/main" val="10001"/>
                  </a:ext>
                </a:extLst>
              </a:tr>
              <a:tr h="812800">
                <a:tc>
                  <a:txBody>
                    <a:bodyPr/>
                    <a:lstStyle/>
                    <a:p>
                      <a:pPr marL="0" indent="0" algn="l">
                        <a:buNone/>
                      </a:pPr>
                      <a:r>
                        <a:rPr lang="ko-KR" altLang="en-US" sz="1400" b="1"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SA-VAE</a:t>
                      </a:r>
                    </a:p>
                  </a:txBody>
                  <a:tcPr anchor="ctr">
                    <a:lnL w="0">
                      <a:noFill/>
                    </a:lnL>
                    <a:lnR w="0">
                      <a:noFill/>
                    </a:lnR>
                    <a:lnT w="9525" cap="flat" cmpd="sng" algn="ctr">
                      <a:solidFill>
                        <a:srgbClr val="D9DDE1"/>
                      </a:solidFill>
                      <a:prstDash val="solid"/>
                      <a:round/>
                      <a:headEnd type="none" w="med" len="med"/>
                      <a:tailEnd type="none" w="med" len="med"/>
                    </a:lnT>
                    <a:lnB w="9525">
                      <a:solidFill>
                        <a:srgbClr val="D9DDE1"/>
                      </a:solidFill>
                    </a:lnB>
                    <a:noFill/>
                  </a:tcPr>
                </a:tc>
                <a:tc>
                  <a:txBody>
                    <a:bodyPr/>
                    <a:lstStyle/>
                    <a:p>
                      <a:pPr marL="0" indent="0" algn="l">
                        <a:buNone/>
                      </a:pPr>
                      <a:r>
                        <a:rPr lang="ko-KR" altLang="en-US" sz="1400" b="1"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매핑</a:t>
                      </a:r>
                    </a:p>
                  </a:txBody>
                  <a:tcPr anchor="ctr">
                    <a:lnL w="0">
                      <a:noFill/>
                    </a:lnL>
                    <a:lnR w="0">
                      <a:noFill/>
                    </a:lnR>
                    <a:lnT w="9525" cap="flat" cmpd="sng" algn="ctr">
                      <a:solidFill>
                        <a:srgbClr val="D9DDE1"/>
                      </a:solidFill>
                      <a:prstDash val="solid"/>
                      <a:round/>
                      <a:headEnd type="none" w="med" len="med"/>
                      <a:tailEnd type="none" w="med" len="med"/>
                    </a:lnT>
                    <a:lnB w="9525">
                      <a:solidFill>
                        <a:srgbClr val="D9DDE1"/>
                      </a:solidFill>
                    </a:lnB>
                    <a:noFill/>
                  </a:tcPr>
                </a:tc>
                <a:tc>
                  <a:txBody>
                    <a:bodyPr/>
                    <a:lstStyle/>
                    <a:p>
                      <a:pPr marL="0" indent="0" algn="l">
                        <a:buNone/>
                      </a:pPr>
                      <a:r>
                        <a:rPr lang="ko-KR" alt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VAE로 두 도메인의 잠재 공간 자체를 정렬 (Rigid: 인코더 공유, Soft: Source를 닮도록 유도)</a:t>
                      </a:r>
                    </a:p>
                  </a:txBody>
                  <a:tcPr anchor="ctr">
                    <a:lnL w="0">
                      <a:noFill/>
                    </a:lnL>
                    <a:lnR w="0">
                      <a:noFill/>
                    </a:lnR>
                    <a:lnT w="9525" cap="flat" cmpd="sng" algn="ctr">
                      <a:solidFill>
                        <a:srgbClr val="D9DDE1"/>
                      </a:solidFill>
                      <a:prstDash val="solid"/>
                      <a:round/>
                      <a:headEnd type="none" w="med" len="med"/>
                      <a:tailEnd type="none" w="med" len="med"/>
                    </a:lnT>
                    <a:lnB w="9525">
                      <a:solidFill>
                        <a:srgbClr val="D9DDE1"/>
                      </a:solidFill>
                    </a:lnB>
                    <a:noFill/>
                  </a:tcPr>
                </a:tc>
                <a:tc>
                  <a:txBody>
                    <a:bodyPr/>
                    <a:lstStyle/>
                    <a:p>
                      <a:pPr marL="0" indent="0" algn="l">
                        <a:buNone/>
                      </a:pPr>
                      <a:r>
                        <a:rPr lang="ko-KR" alt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공간 전체를 맞추는 방식이라 여전히 도메인 단위 정렬</a:t>
                      </a:r>
                    </a:p>
                  </a:txBody>
                  <a:tcPr anchor="ctr">
                    <a:lnL w="0">
                      <a:noFill/>
                    </a:lnL>
                    <a:lnR w="0">
                      <a:noFill/>
                    </a:lnR>
                    <a:lnT w="9525" cap="flat" cmpd="sng" algn="ctr">
                      <a:solidFill>
                        <a:srgbClr val="D9DDE1"/>
                      </a:solidFill>
                      <a:prstDash val="solid"/>
                      <a:round/>
                      <a:headEnd type="none" w="med" len="med"/>
                      <a:tailEnd type="none" w="med" len="med"/>
                    </a:lnT>
                    <a:lnB w="9525">
                      <a:solidFill>
                        <a:srgbClr val="D9DDE1"/>
                      </a:solidFill>
                    </a:lnB>
                    <a:noFill/>
                  </a:tcPr>
                </a:tc>
                <a:extLst>
                  <a:ext uri="{0D108BD9-81ED-4DB2-BD59-A6C34878D82A}">
                    <a16:rowId xmlns:a16="http://schemas.microsoft.com/office/drawing/2014/main" val="10002"/>
                  </a:ext>
                </a:extLst>
              </a:tr>
              <a:tr h="812800">
                <a:tc>
                  <a:txBody>
                    <a:bodyPr/>
                    <a:lstStyle/>
                    <a:p>
                      <a:pPr marL="0" indent="0" algn="l">
                        <a:buNone/>
                      </a:pPr>
                      <a:r>
                        <a:rPr lang="ko-KR" altLang="en-US" sz="1400" b="1"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UniCDR</a:t>
                      </a:r>
                    </a:p>
                  </a:txBody>
                  <a:tcPr anchor="ctr">
                    <a:lnL w="0">
                      <a:noFill/>
                    </a:lnL>
                    <a:lnR w="0">
                      <a:noFill/>
                    </a:lnR>
                    <a:lnT w="9525" cap="flat" cmpd="sng" algn="ctr">
                      <a:solidFill>
                        <a:srgbClr val="D9DDE1"/>
                      </a:solidFill>
                      <a:prstDash val="solid"/>
                      <a:round/>
                      <a:headEnd type="none" w="med" len="med"/>
                      <a:tailEnd type="none" w="med" len="med"/>
                    </a:lnT>
                    <a:lnB w="9525">
                      <a:solidFill>
                        <a:srgbClr val="D9DDE1"/>
                      </a:solidFill>
                    </a:lnB>
                    <a:noFill/>
                  </a:tcPr>
                </a:tc>
                <a:tc>
                  <a:txBody>
                    <a:bodyPr/>
                    <a:lstStyle/>
                    <a:p>
                      <a:pPr marL="0" indent="0" algn="l">
                        <a:buNone/>
                      </a:pPr>
                      <a:r>
                        <a:rPr lang="ko-KR" altLang="en-US" sz="1400" b="1"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분해·공유공간</a:t>
                      </a:r>
                    </a:p>
                  </a:txBody>
                  <a:tcPr anchor="ctr">
                    <a:lnL w="0">
                      <a:noFill/>
                    </a:lnL>
                    <a:lnR w="0">
                      <a:noFill/>
                    </a:lnR>
                    <a:lnT w="9525" cap="flat" cmpd="sng" algn="ctr">
                      <a:solidFill>
                        <a:srgbClr val="D9DDE1"/>
                      </a:solidFill>
                      <a:prstDash val="solid"/>
                      <a:round/>
                      <a:headEnd type="none" w="med" len="med"/>
                      <a:tailEnd type="none" w="med" len="med"/>
                    </a:lnT>
                    <a:lnB w="9525">
                      <a:solidFill>
                        <a:srgbClr val="D9DDE1"/>
                      </a:solidFill>
                    </a:lnB>
                    <a:noFill/>
                  </a:tcPr>
                </a:tc>
                <a:tc>
                  <a:txBody>
                    <a:bodyPr/>
                    <a:lstStyle/>
                    <a:p>
                      <a:pPr marL="0" indent="0" algn="l">
                        <a:buNone/>
                      </a:pPr>
                      <a:r>
                        <a:rPr lang="ko-KR" alt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사용자 표현을 도메인 공유 벡터 + 도메인 고유 벡터로 나눠, 공유 부분으로 지식 전이</a:t>
                      </a:r>
                    </a:p>
                  </a:txBody>
                  <a:tcPr anchor="ctr">
                    <a:lnL w="0">
                      <a:noFill/>
                    </a:lnL>
                    <a:lnR w="0">
                      <a:noFill/>
                    </a:lnR>
                    <a:lnT w="9525" cap="flat" cmpd="sng" algn="ctr">
                      <a:solidFill>
                        <a:srgbClr val="D9DDE1"/>
                      </a:solidFill>
                      <a:prstDash val="solid"/>
                      <a:round/>
                      <a:headEnd type="none" w="med" len="med"/>
                      <a:tailEnd type="none" w="med" len="med"/>
                    </a:lnT>
                    <a:lnB w="9525">
                      <a:solidFill>
                        <a:srgbClr val="D9DDE1"/>
                      </a:solidFill>
                    </a:lnB>
                    <a:noFill/>
                  </a:tcPr>
                </a:tc>
                <a:tc>
                  <a:txBody>
                    <a:bodyPr/>
                    <a:lstStyle/>
                    <a:p>
                      <a:pPr marL="0" indent="0" algn="l">
                        <a:buNone/>
                      </a:pPr>
                      <a:r>
                        <a:rPr lang="ko-KR" alt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고유 부분도 도메인당 벡터 하나라 도메인 안의 카테고리 차이(IDH)는 미처리</a:t>
                      </a:r>
                    </a:p>
                  </a:txBody>
                  <a:tcPr anchor="ctr">
                    <a:lnL w="0">
                      <a:noFill/>
                    </a:lnL>
                    <a:lnR w="0">
                      <a:noFill/>
                    </a:lnR>
                    <a:lnT w="9525" cap="flat" cmpd="sng" algn="ctr">
                      <a:solidFill>
                        <a:srgbClr val="D9DDE1"/>
                      </a:solidFill>
                      <a:prstDash val="solid"/>
                      <a:round/>
                      <a:headEnd type="none" w="med" len="med"/>
                      <a:tailEnd type="none" w="med" len="med"/>
                    </a:lnT>
                    <a:lnB w="9525">
                      <a:solidFill>
                        <a:srgbClr val="D9DDE1"/>
                      </a:solidFill>
                    </a:lnB>
                    <a:noFill/>
                  </a:tcPr>
                </a:tc>
                <a:extLst>
                  <a:ext uri="{0D108BD9-81ED-4DB2-BD59-A6C34878D82A}">
                    <a16:rowId xmlns:a16="http://schemas.microsoft.com/office/drawing/2014/main" val="10003"/>
                  </a:ext>
                </a:extLst>
              </a:tr>
              <a:tr h="812800">
                <a:tc>
                  <a:txBody>
                    <a:bodyPr/>
                    <a:lstStyle/>
                    <a:p>
                      <a:pPr marL="0" indent="0" algn="l">
                        <a:buNone/>
                      </a:pPr>
                      <a:r>
                        <a:rPr lang="ko-KR" altLang="en-US" sz="1400" b="1"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EDDA</a:t>
                      </a:r>
                    </a:p>
                  </a:txBody>
                  <a:tcPr anchor="ctr">
                    <a:lnL w="0">
                      <a:noFill/>
                    </a:lnL>
                    <a:lnR w="0">
                      <a:noFill/>
                    </a:lnR>
                    <a:lnT w="9525" cap="flat" cmpd="sng" algn="ctr">
                      <a:solidFill>
                        <a:srgbClr val="D9DDE1"/>
                      </a:solidFill>
                      <a:prstDash val="solid"/>
                      <a:round/>
                      <a:headEnd type="none" w="med" len="med"/>
                      <a:tailEnd type="none" w="med" len="med"/>
                    </a:lnT>
                    <a:lnB w="9525">
                      <a:solidFill>
                        <a:srgbClr val="D9DDE1"/>
                      </a:solidFill>
                    </a:lnB>
                    <a:noFill/>
                  </a:tcPr>
                </a:tc>
                <a:tc>
                  <a:txBody>
                    <a:bodyPr/>
                    <a:lstStyle/>
                    <a:p>
                      <a:pPr marL="0" indent="0" algn="l">
                        <a:buNone/>
                      </a:pPr>
                      <a:r>
                        <a:rPr lang="ko-KR" altLang="en-US" sz="1400" b="1"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분해·공유공간</a:t>
                      </a:r>
                    </a:p>
                  </a:txBody>
                  <a:tcPr anchor="ctr">
                    <a:lnL w="0">
                      <a:noFill/>
                    </a:lnL>
                    <a:lnR w="0">
                      <a:noFill/>
                    </a:lnR>
                    <a:lnT w="9525" cap="flat" cmpd="sng" algn="ctr">
                      <a:solidFill>
                        <a:srgbClr val="D9DDE1"/>
                      </a:solidFill>
                      <a:prstDash val="solid"/>
                      <a:round/>
                      <a:headEnd type="none" w="med" len="med"/>
                      <a:tailEnd type="none" w="med" len="med"/>
                    </a:lnT>
                    <a:lnB w="9525">
                      <a:solidFill>
                        <a:srgbClr val="D9DDE1"/>
                      </a:solidFill>
                    </a:lnB>
                    <a:noFill/>
                  </a:tcPr>
                </a:tc>
                <a:tc>
                  <a:txBody>
                    <a:bodyPr/>
                    <a:lstStyle/>
                    <a:p>
                      <a:pPr marL="0" indent="0" algn="l">
                        <a:buNone/>
                      </a:pPr>
                      <a:r>
                        <a:rPr lang="ko-KR" alt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임베딩 수준까지 분리하고, 그래프 랜덤워크로 닮은 사용자/아이템 쌍을 찾아 정렬</a:t>
                      </a:r>
                    </a:p>
                  </a:txBody>
                  <a:tcPr anchor="ctr">
                    <a:lnL w="0">
                      <a:noFill/>
                    </a:lnL>
                    <a:lnR w="0">
                      <a:noFill/>
                    </a:lnR>
                    <a:lnT w="9525" cap="flat" cmpd="sng" algn="ctr">
                      <a:solidFill>
                        <a:srgbClr val="D9DDE1"/>
                      </a:solidFill>
                      <a:prstDash val="solid"/>
                      <a:round/>
                      <a:headEnd type="none" w="med" len="med"/>
                      <a:tailEnd type="none" w="med" len="med"/>
                    </a:lnT>
                    <a:lnB w="9525">
                      <a:solidFill>
                        <a:srgbClr val="D9DDE1"/>
                      </a:solidFill>
                    </a:lnB>
                    <a:noFill/>
                  </a:tcPr>
                </a:tc>
                <a:tc>
                  <a:txBody>
                    <a:bodyPr/>
                    <a:lstStyle/>
                    <a:p>
                      <a:pPr marL="0" indent="0" algn="l">
                        <a:buNone/>
                      </a:pPr>
                      <a:r>
                        <a:rPr lang="ko-KR" alt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“싼 걸 좋아함”을 어디서나 통하는 일반 지식으로 취급</a:t>
                      </a:r>
                    </a:p>
                  </a:txBody>
                  <a:tcPr anchor="ctr">
                    <a:lnL w="0">
                      <a:noFill/>
                    </a:lnL>
                    <a:lnR w="0">
                      <a:noFill/>
                    </a:lnR>
                    <a:lnT w="9525" cap="flat" cmpd="sng" algn="ctr">
                      <a:solidFill>
                        <a:srgbClr val="D9DDE1"/>
                      </a:solidFill>
                      <a:prstDash val="solid"/>
                      <a:round/>
                      <a:headEnd type="none" w="med" len="med"/>
                      <a:tailEnd type="none" w="med" len="med"/>
                    </a:lnT>
                    <a:lnB w="9525">
                      <a:solidFill>
                        <a:srgbClr val="D9DDE1"/>
                      </a:solidFill>
                    </a:lnB>
                    <a:noFill/>
                  </a:tcPr>
                </a:tc>
                <a:extLst>
                  <a:ext uri="{0D108BD9-81ED-4DB2-BD59-A6C34878D82A}">
                    <a16:rowId xmlns:a16="http://schemas.microsoft.com/office/drawing/2014/main" val="10004"/>
                  </a:ext>
                </a:extLst>
              </a:tr>
            </a:tbl>
          </a:graphicData>
        </a:graphic>
      </p:graphicFrame>
      <p:sp>
        <p:nvSpPr>
          <p:cNvPr id="14" name="TextBox 13"/>
          <p:cNvSpPr/>
          <p:nvPr/>
        </p:nvSpPr>
        <p:spPr>
          <a:xfrm>
            <a:off x="640080" y="5257800"/>
            <a:ext cx="10972800" cy="711200"/>
          </a:xfrm>
          <a:prstGeom prst="rect">
            <a:avLst/>
          </a:prstGeom>
          <a:solidFill>
            <a:srgbClr val="E9F7F6">
              <a:alpha val="50000"/>
            </a:srgbClr>
          </a:solidFill>
          <a:ln w="12700">
            <a:solidFill>
              <a:srgbClr val="E9F7F6"/>
            </a:solidFill>
          </a:ln>
        </p:spPr>
        <p:txBody>
          <a:bodyPr wrap="square" lIns="228600" tIns="0" rIns="228600" bIns="0" rtlCol="0" anchor="ctr"/>
          <a:lstStyle/>
          <a:p>
            <a:pPr marL="0" indent="0">
              <a:spcBef>
                <a:spcPts val="0"/>
              </a:spcBef>
              <a:spcAft>
                <a:spcPts val="0"/>
              </a:spcAft>
              <a:buNone/>
            </a:pPr>
            <a:r>
              <a:rPr lang="ko-KR" altLang="en-US" sz="1400" b="1"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Multi-TAP 관점의 한계</a:t>
            </a:r>
            <a:endParaRPr lang="ko-KR" altLang="en-US" sz="1400" dirty="0"/>
          </a:p>
          <a:p>
            <a:pPr marL="0" indent="0">
              <a:spcBef>
                <a:spcPts val="300"/>
              </a:spcBef>
              <a:spcAft>
                <a:spcPts val="0"/>
              </a:spcAft>
              <a:buNone/>
            </a:pPr>
            <a:r>
              <a:rPr lang="ko-KR" alt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네 방법 모두 사용자를 도메인 단위로 표현해, 도메인 안의 카테고리별 선호 차이(IDH)를 다루지 못합니다.</a:t>
            </a:r>
            <a:endParaRPr lang="ko-KR" altLang="en-US" sz="1400" dirty="0"/>
          </a:p>
        </p:txBody>
      </p:sp>
      <p:cxnSp>
        <p:nvCxnSpPr>
          <p:cNvPr id="41" name="Divider 41"/>
          <p:cNvCxnSpPr/>
          <p:nvPr/>
        </p:nvCxnSpPr>
        <p:spPr>
          <a:xfrm>
            <a:off x="640080" y="1219200"/>
            <a:ext cx="10972800" cy="0"/>
          </a:xfrm>
          <a:prstGeom prst="line">
            <a:avLst/>
          </a:prstGeom>
          <a:ln w="9525">
            <a:solidFill>
              <a:srgbClr val="D9DDE1"/>
            </a:solidFill>
          </a:ln>
        </p:spPr>
      </p:cxnSp>
    </p:spTree>
    <p:extLst>
      <p:ext uri="{BB962C8B-B14F-4D97-AF65-F5344CB8AC3E}">
        <p14:creationId xmlns:p14="http://schemas.microsoft.com/office/powerpoint/2010/main" val="1057870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FB23F8B-06BB-CD21-10F4-C592368C4EE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7A94EB1-E25A-037E-B5D0-C522BF210EE7}"/>
              </a:ext>
            </a:extLst>
          </p:cNvPr>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1. Introduction — Motivation</a:t>
            </a:r>
            <a:endParaRPr lang="en-US" sz="2800" dirty="0"/>
          </a:p>
        </p:txBody>
      </p:sp>
      <p:graphicFrame>
        <p:nvGraphicFramePr>
          <p:cNvPr id="5" name="Table 0">
            <a:extLst>
              <a:ext uri="{FF2B5EF4-FFF2-40B4-BE49-F238E27FC236}">
                <a16:creationId xmlns:a16="http://schemas.microsoft.com/office/drawing/2014/main" id="{ADD6AFB7-17B6-06B1-7381-80136B8F6747}"/>
              </a:ext>
            </a:extLst>
          </p:cNvPr>
          <p:cNvGraphicFramePr>
            <a:graphicFrameLocks noGrp="1"/>
          </p:cNvGraphicFramePr>
          <p:nvPr>
            <p:extLst>
              <p:ext uri="{D42A27DB-BD31-4B8C-83A1-F6EECF244321}">
                <p14:modId xmlns:p14="http://schemas.microsoft.com/office/powerpoint/2010/main" val="3462159350"/>
              </p:ext>
            </p:extLst>
          </p:nvPr>
        </p:nvGraphicFramePr>
        <p:xfrm>
          <a:off x="640080" y="3454400"/>
          <a:ext cx="5842000" cy="1042416"/>
        </p:xfrm>
        <a:graphic>
          <a:graphicData uri="http://schemas.openxmlformats.org/drawingml/2006/table">
            <a:tbl>
              <a:tblPr/>
              <a:tblGrid>
                <a:gridCol w="1905000">
                  <a:extLst>
                    <a:ext uri="{9D8B030D-6E8A-4147-A177-3AD203B41FA5}">
                      <a16:colId xmlns:a16="http://schemas.microsoft.com/office/drawing/2014/main" val="20000"/>
                    </a:ext>
                  </a:extLst>
                </a:gridCol>
                <a:gridCol w="1968500">
                  <a:extLst>
                    <a:ext uri="{9D8B030D-6E8A-4147-A177-3AD203B41FA5}">
                      <a16:colId xmlns:a16="http://schemas.microsoft.com/office/drawing/2014/main" val="20001"/>
                    </a:ext>
                  </a:extLst>
                </a:gridCol>
                <a:gridCol w="1968500">
                  <a:extLst>
                    <a:ext uri="{9D8B030D-6E8A-4147-A177-3AD203B41FA5}">
                      <a16:colId xmlns:a16="http://schemas.microsoft.com/office/drawing/2014/main" val="20002"/>
                    </a:ext>
                  </a:extLst>
                </a:gridCol>
              </a:tblGrid>
              <a:tr h="347472">
                <a:tc>
                  <a:txBody>
                    <a:bodyPr/>
                    <a:lstStyle/>
                    <a:p>
                      <a:pPr marL="0" indent="0" algn="ctr">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기준 카테고리</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lgn="ctr">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고가 선호 사용자</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lgn="ctr">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저가 선호 사용자</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extLst>
                  <a:ext uri="{0D108BD9-81ED-4DB2-BD59-A6C34878D82A}">
                    <a16:rowId xmlns:a16="http://schemas.microsoft.com/office/drawing/2014/main" val="10000"/>
                  </a:ext>
                </a:extLst>
              </a:tr>
              <a:tr h="347472">
                <a:tc>
                  <a:txBody>
                    <a:bodyPr/>
                    <a:lstStyle/>
                    <a:p>
                      <a:pPr marL="0" indent="0" algn="ctr">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Computer</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60% shift</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65% shift</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lgn="ctr">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Home Audio</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54% shift</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66% shift</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Shape 3">
            <a:extLst>
              <a:ext uri="{FF2B5EF4-FFF2-40B4-BE49-F238E27FC236}">
                <a16:creationId xmlns:a16="http://schemas.microsoft.com/office/drawing/2014/main" id="{4C283AF7-4457-5EDC-73AD-35AD51A0C39E}"/>
              </a:ext>
            </a:extLst>
          </p:cNvPr>
          <p:cNvSpPr/>
          <p:nvPr/>
        </p:nvSpPr>
        <p:spPr>
          <a:xfrm>
            <a:off x="640080" y="4902200"/>
            <a:ext cx="10972800" cy="812800"/>
          </a:xfrm>
          <a:prstGeom prst="rect">
            <a:avLst/>
          </a:prstGeom>
          <a:solidFill>
            <a:srgbClr val="E9F7F6">
              <a:alpha val="50000"/>
            </a:srgbClr>
          </a:solidFill>
          <a:ln w="12700">
            <a:solidFill>
              <a:srgbClr val="E9F7F6"/>
            </a:solidFill>
            <a:prstDash val="solid"/>
          </a:ln>
        </p:spPr>
        <p:txBody>
          <a:bodyPr/>
          <a:lstStyle/>
          <a:p>
            <a:endParaRPr lang="ko-KR" altLang="en-US"/>
          </a:p>
        </p:txBody>
      </p:sp>
      <p:sp>
        <p:nvSpPr>
          <p:cNvPr id="8" name="Text 4">
            <a:extLst>
              <a:ext uri="{FF2B5EF4-FFF2-40B4-BE49-F238E27FC236}">
                <a16:creationId xmlns:a16="http://schemas.microsoft.com/office/drawing/2014/main" id="{7D4E5EE2-6338-2DFC-99B1-CF9E8B5945F2}"/>
              </a:ext>
            </a:extLst>
          </p:cNvPr>
          <p:cNvSpPr txBox="1"/>
          <p:nvPr/>
        </p:nvSpPr>
        <p:spPr>
          <a:xfrm>
            <a:off x="640080" y="4902200"/>
            <a:ext cx="4826000" cy="812800"/>
          </a:xfrm>
          <a:prstGeom prst="rect">
            <a:avLst/>
          </a:prstGeom>
          <a:noFill/>
          <a:ln/>
        </p:spPr>
        <p:txBody>
          <a:bodyPr wrap="square" lIns="0" tIns="0" rIns="0" bIns="0" rtlCol="0" anchor="ctr"/>
          <a:lstStyle/>
          <a:p>
            <a:pPr marL="0" indent="0" algn="ctr">
              <a:spcAft>
                <a:spcPts val="200"/>
              </a:spcAft>
              <a:buNone/>
            </a:pPr>
            <a:r>
              <a:rPr lang="en-US" sz="2000" dirty="0">
                <a:solidFill>
                  <a:srgbClr val="1A1A1A"/>
                </a:solidFill>
              </a:rPr>
              <a:t>How to transfer?</a:t>
            </a:r>
            <a:endParaRPr lang="en-US" sz="2000" dirty="0"/>
          </a:p>
          <a:p>
            <a:pPr marL="0" indent="0" algn="ctr">
              <a:spcAft>
                <a:spcPts val="0"/>
              </a:spcAft>
              <a:buNone/>
            </a:pPr>
            <a:r>
              <a:rPr lang="ko-KR" altLang="en-US" sz="1400" dirty="0">
                <a:solidFill>
                  <a:srgbClr val="6E7781"/>
                </a:solidFill>
              </a:rPr>
              <a:t>기존: 선호를 어떻게 옮길까</a:t>
            </a:r>
            <a:endParaRPr lang="ko-KR" altLang="en-US" sz="1400" dirty="0"/>
          </a:p>
        </p:txBody>
      </p:sp>
      <p:sp>
        <p:nvSpPr>
          <p:cNvPr id="21" name="What to transfer"/>
          <p:cNvSpPr txBox="1"/>
          <p:nvPr/>
        </p:nvSpPr>
        <p:spPr>
          <a:xfrm>
            <a:off x="6786880" y="4902200"/>
            <a:ext cx="4826000" cy="812800"/>
          </a:xfrm>
          <a:prstGeom prst="rect">
            <a:avLst/>
          </a:prstGeom>
          <a:noFill/>
        </p:spPr>
        <p:txBody>
          <a:bodyPr wrap="square" lIns="0" tIns="0" rIns="0" bIns="0" rtlCol="0" anchor="ctr"/>
          <a:lstStyle/>
          <a:p>
            <a:pPr marL="0" indent="0" algn="ctr">
              <a:spcAft>
                <a:spcPts val="200"/>
              </a:spcAft>
              <a:buNone/>
            </a:pPr>
            <a:r>
              <a:rPr lang="en-US" sz="2000" dirty="0">
                <a:solidFill>
                  <a:srgbClr val="002856"/>
                </a:solidFill>
              </a:rPr>
              <a:t>What to transfer?</a:t>
            </a:r>
            <a:endParaRPr lang="en-US" sz="2000" dirty="0"/>
          </a:p>
          <a:p>
            <a:pPr marL="0" indent="0" algn="ctr">
              <a:spcAft>
                <a:spcPts val="0"/>
              </a:spcAft>
              <a:buNone/>
            </a:pPr>
            <a:r>
              <a:rPr lang="ko-KR" altLang="en-US" sz="1400" dirty="0">
                <a:solidFill>
                  <a:srgbClr val="6E7781"/>
                </a:solidFill>
              </a:rPr>
              <a:t>논문: 어떤 선호를 옮길까</a:t>
            </a:r>
            <a:endParaRPr lang="ko-KR" altLang="en-US" sz="1400" dirty="0"/>
          </a:p>
        </p:txBody>
      </p:sp>
      <p:sp>
        <p:nvSpPr>
          <p:cNvPr id="22" name="Arrow"/>
          <p:cNvSpPr txBox="1"/>
          <p:nvPr/>
        </p:nvSpPr>
        <p:spPr>
          <a:xfrm>
            <a:off x="5466080" y="4902200"/>
            <a:ext cx="1320800" cy="812800"/>
          </a:xfrm>
          <a:prstGeom prst="rect">
            <a:avLst/>
          </a:prstGeom>
          <a:noFill/>
        </p:spPr>
        <p:txBody>
          <a:bodyPr wrap="square" lIns="0" tIns="0" rIns="0" bIns="0" rtlCol="0" anchor="ctr"/>
          <a:lstStyle/>
          <a:p>
            <a:pPr marL="0" indent="0" algn="ctr">
              <a:spcAft>
                <a:spcPts val="200"/>
              </a:spcAft>
              <a:buNone/>
            </a:pPr>
            <a:r>
              <a:rPr lang="en-US" sz="3200" dirty="0">
                <a:solidFill>
                  <a:srgbClr val="002856"/>
                </a:solidFill>
              </a:rPr>
              <a:t>→</a:t>
            </a:r>
            <a:endParaRPr lang="en-US" sz="2000" dirty="0"/>
          </a:p>
        </p:txBody>
      </p:sp>
      <p:pic>
        <p:nvPicPr>
          <p:cNvPr id="11" name="그림 10">
            <a:extLst>
              <a:ext uri="{FF2B5EF4-FFF2-40B4-BE49-F238E27FC236}">
                <a16:creationId xmlns:a16="http://schemas.microsoft.com/office/drawing/2014/main" id="{905452D9-6B84-7C1C-1D1B-864ABE60530D}"/>
              </a:ext>
            </a:extLst>
          </p:cNvPr>
          <p:cNvPicPr>
            <a:picLocks noChangeAspect="1"/>
          </p:cNvPicPr>
          <p:nvPr/>
        </p:nvPicPr>
        <p:blipFill>
          <a:blip r:embed="rId4"/>
          <a:stretch>
            <a:fillRect/>
          </a:stretch>
        </p:blipFill>
        <p:spPr>
          <a:xfrm>
            <a:off x="640080" y="1524000"/>
            <a:ext cx="5839095" cy="1765970"/>
          </a:xfrm>
          <a:prstGeom prst="rect">
            <a:avLst/>
          </a:prstGeom>
        </p:spPr>
      </p:pic>
      <p:sp>
        <p:nvSpPr>
          <p:cNvPr id="13" name="TextBox 12">
            <a:extLst>
              <a:ext uri="{FF2B5EF4-FFF2-40B4-BE49-F238E27FC236}">
                <a16:creationId xmlns:a16="http://schemas.microsoft.com/office/drawing/2014/main" id="{23190E87-19F7-F0B0-56D9-DB7F672B515A}"/>
              </a:ext>
            </a:extLst>
          </p:cNvPr>
          <p:cNvSpPr txBox="1"/>
          <p:nvPr/>
        </p:nvSpPr>
        <p:spPr>
          <a:xfrm>
            <a:off x="6921500" y="1549400"/>
            <a:ext cx="4686300" cy="2292935"/>
          </a:xfrm>
          <a:prstGeom prst="rect">
            <a:avLst/>
          </a:prstGeom>
          <a:noFill/>
        </p:spPr>
        <p:txBody>
          <a:bodyPr wrap="square" rtlCol="0">
            <a:spAutoFit/>
          </a:bodyPr>
          <a:lstStyle/>
          <a:p>
            <a:pPr marL="190500" indent="-190500">
              <a:spcAft>
                <a:spcPts val="600"/>
              </a:spcAft>
              <a:buSzPct val="100000"/>
              <a:buChar char="•"/>
            </a:pP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기존</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CDR의</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가정</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한</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도메인</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안에서</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취향은</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균일하다</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본 논문에서는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가정</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자체가</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틀렸다고</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주장</a:t>
            </a:r>
            <a:endParaRPr lang="en-US" altLang="ko-KR" dirty="0"/>
          </a:p>
          <a:p>
            <a:pPr marL="190500" indent="-190500">
              <a:spcAft>
                <a:spcPts val="600"/>
              </a:spcAft>
              <a:buSzPct val="100000"/>
              <a:buChar char="•"/>
            </a:pP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IDH (Intra-Domain Heterogeneity,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도메인</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내</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이질성</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같은</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도메인</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안에서도</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카테고리마다</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선호가</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달라지는</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현상</a:t>
            </a:r>
            <a:endParaRPr lang="en-US" altLang="ko-KR" dirty="0"/>
          </a:p>
          <a:p>
            <a:pPr marL="190500" indent="-190500">
              <a:spcAft>
                <a:spcPts val="600"/>
              </a:spcAft>
              <a:buSzPct val="100000"/>
              <a:buChar char="•"/>
            </a:pP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IDH를</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무시하면</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전이</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전에</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이미</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정보</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손실</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압축된</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벡터를</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옮기며</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손실이</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더</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커짐</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(indiscriminate transfer,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무차별</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전이</a:t>
            </a:r>
            <a:r>
              <a:rPr lang="en-US" altLang="ko-KR"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t>
            </a:r>
            <a:endParaRPr lang="en-US" altLang="ko-KR" dirty="0"/>
          </a:p>
          <a:p>
            <a:endParaRPr kumimoji="1" lang="ko-KR" altLang="en-US" dirty="0"/>
          </a:p>
        </p:txBody>
      </p:sp>
      <p:sp>
        <p:nvSpPr>
          <p:cNvPr id="4" name="Text 1">
            <a:extLst>
              <a:ext uri="{FF2B5EF4-FFF2-40B4-BE49-F238E27FC236}">
                <a16:creationId xmlns:a16="http://schemas.microsoft.com/office/drawing/2014/main" id="{1DA1162E-ED01-2441-377D-AF6B21D09151}"/>
              </a:ext>
            </a:extLst>
          </p:cNvPr>
          <p:cNvSpPr txBox="1"/>
          <p:nvPr/>
        </p:nvSpPr>
        <p:spPr>
          <a:xfrm>
            <a:off x="640080" y="1270000"/>
            <a:ext cx="8890000" cy="169277"/>
          </a:xfrm>
          <a:prstGeom prst="rect">
            <a:avLst/>
          </a:prstGeom>
          <a:noFill/>
          <a:ln/>
        </p:spPr>
        <p:txBody>
          <a:bodyPr wrap="square" lIns="0" tIns="0" rIns="0" bIns="0" rtlCol="0" anchor="t">
            <a:spAutoFit/>
          </a:bodyPr>
          <a:lstStyle/>
          <a:p>
            <a:pPr marL="0" indent="0">
              <a:spcAft>
                <a:spcPts val="600"/>
              </a:spcAft>
              <a:buNone/>
            </a:pPr>
            <a:r>
              <a:rPr lang="en-US" sz="12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다른 카테고리로 이동할 때 상대적 가격 선호가 바뀐 사용자 비율 (Electronics 도메인, target </a:t>
            </a:r>
            <a:r>
              <a:rPr lang="en-US" sz="1200" dirty="0" err="1">
                <a:solidFill>
                  <a:srgbClr val="6E7781"/>
                </a:solidFill>
                <a:latin typeface="Pretendard" panose="02000503000000020004" pitchFamily="2" charset="-127"/>
                <a:ea typeface="Pretendard" panose="02000503000000020004" pitchFamily="2" charset="-127"/>
                <a:cs typeface="Pretendard" panose="02000503000000020004" pitchFamily="2" charset="-127"/>
              </a:rPr>
              <a:t>카테고리</a:t>
            </a:r>
            <a:r>
              <a:rPr lang="en-US" sz="12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 </a:t>
            </a:r>
            <a:r>
              <a:rPr lang="en-US" sz="1200" dirty="0" err="1">
                <a:solidFill>
                  <a:srgbClr val="6E7781"/>
                </a:solidFill>
                <a:latin typeface="Pretendard" panose="02000503000000020004" pitchFamily="2" charset="-127"/>
                <a:ea typeface="Pretendard" panose="02000503000000020004" pitchFamily="2" charset="-127"/>
                <a:cs typeface="Pretendard" panose="02000503000000020004" pitchFamily="2" charset="-127"/>
              </a:rPr>
              <a:t>평균</a:t>
            </a:r>
            <a:r>
              <a:rPr lang="en-US" sz="12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a:t>
            </a:r>
            <a:endParaRPr lang="en-US" sz="1200" dirty="0"/>
          </a:p>
        </p:txBody>
      </p:sp>
    </p:spTree>
    <p:extLst>
      <p:ext uri="{BB962C8B-B14F-4D97-AF65-F5344CB8AC3E}">
        <p14:creationId xmlns:p14="http://schemas.microsoft.com/office/powerpoint/2010/main" val="2636137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1. Introduction — Contributions</a:t>
            </a:r>
            <a:endParaRPr lang="en-US" sz="2800" dirty="0"/>
          </a:p>
        </p:txBody>
      </p:sp>
      <p:sp>
        <p:nvSpPr>
          <p:cNvPr id="3" name="Text 1"/>
          <p:cNvSpPr txBox="1"/>
          <p:nvPr/>
        </p:nvSpPr>
        <p:spPr>
          <a:xfrm>
            <a:off x="640080" y="1554480"/>
            <a:ext cx="640080" cy="914400"/>
          </a:xfrm>
          <a:prstGeom prst="rect">
            <a:avLst/>
          </a:prstGeom>
          <a:noFill/>
          <a:ln/>
        </p:spPr>
        <p:txBody>
          <a:bodyPr wrap="square" lIns="0" tIns="0" rIns="0" bIns="0" rtlCol="0" anchor="ctr"/>
          <a:lstStyle/>
          <a:p>
            <a:pPr marL="0" indent="0">
              <a:spcAft>
                <a:spcPts val="600"/>
              </a:spcAft>
              <a:buNone/>
            </a:pPr>
            <a:r>
              <a:rPr lang="en-US" sz="40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1</a:t>
            </a:r>
            <a:endParaRPr lang="en-US" sz="4000" dirty="0"/>
          </a:p>
        </p:txBody>
      </p:sp>
      <p:sp>
        <p:nvSpPr>
          <p:cNvPr id="4" name="Text 2"/>
          <p:cNvSpPr txBox="1"/>
          <p:nvPr/>
        </p:nvSpPr>
        <p:spPr>
          <a:xfrm>
            <a:off x="1371600" y="1600200"/>
            <a:ext cx="10241280" cy="914400"/>
          </a:xfrm>
          <a:prstGeom prst="rect">
            <a:avLst/>
          </a:prstGeom>
          <a:noFill/>
          <a:ln/>
        </p:spPr>
        <p:txBody>
          <a:bodyPr wrap="square" lIns="0" tIns="0" rIns="0" bIns="0" rtlCol="0" anchor="t"/>
          <a:lstStyle/>
          <a:p>
            <a:pPr marL="0" indent="0">
              <a:spcAft>
                <a:spcPts val="600"/>
              </a:spcAft>
              <a:buNone/>
            </a:pPr>
            <a:r>
              <a:rPr lang="en-US" sz="18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Key Empirical Observation</a:t>
            </a:r>
            <a:endParaRPr lang="en-US" sz="1500" dirty="0"/>
          </a:p>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CDR에서 도메인 내 이질성(IDH) 문제를 처음으로 정의하고 실데이터로 정량 분석</a:t>
            </a:r>
            <a:endParaRPr lang="en-US" sz="1500" dirty="0"/>
          </a:p>
        </p:txBody>
      </p:sp>
      <p:sp>
        <p:nvSpPr>
          <p:cNvPr id="5" name="Shape 3"/>
          <p:cNvSpPr/>
          <p:nvPr/>
        </p:nvSpPr>
        <p:spPr>
          <a:xfrm>
            <a:off x="640080" y="2697480"/>
            <a:ext cx="10972800" cy="0"/>
          </a:xfrm>
          <a:prstGeom prst="line">
            <a:avLst/>
          </a:prstGeom>
          <a:noFill/>
          <a:ln w="9525">
            <a:solidFill>
              <a:srgbClr val="D9DDE1"/>
            </a:solidFill>
            <a:prstDash val="solid"/>
          </a:ln>
        </p:spPr>
        <p:txBody>
          <a:bodyPr/>
          <a:lstStyle/>
          <a:p>
            <a:endParaRPr lang="ko-KR" altLang="en-US"/>
          </a:p>
        </p:txBody>
      </p:sp>
      <p:sp>
        <p:nvSpPr>
          <p:cNvPr id="6" name="Text 4"/>
          <p:cNvSpPr txBox="1"/>
          <p:nvPr/>
        </p:nvSpPr>
        <p:spPr>
          <a:xfrm>
            <a:off x="640080" y="2880360"/>
            <a:ext cx="640080" cy="914400"/>
          </a:xfrm>
          <a:prstGeom prst="rect">
            <a:avLst/>
          </a:prstGeom>
          <a:noFill/>
          <a:ln/>
        </p:spPr>
        <p:txBody>
          <a:bodyPr wrap="square" lIns="0" tIns="0" rIns="0" bIns="0" rtlCol="0" anchor="ctr"/>
          <a:lstStyle/>
          <a:p>
            <a:pPr marL="0" indent="0">
              <a:spcAft>
                <a:spcPts val="600"/>
              </a:spcAft>
              <a:buNone/>
            </a:pPr>
            <a:r>
              <a:rPr lang="en-US" sz="40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2</a:t>
            </a:r>
            <a:endParaRPr lang="en-US" sz="4000" dirty="0"/>
          </a:p>
        </p:txBody>
      </p:sp>
      <p:sp>
        <p:nvSpPr>
          <p:cNvPr id="7" name="Text 5"/>
          <p:cNvSpPr txBox="1"/>
          <p:nvPr/>
        </p:nvSpPr>
        <p:spPr>
          <a:xfrm>
            <a:off x="1371600" y="2926080"/>
            <a:ext cx="10241280" cy="914400"/>
          </a:xfrm>
          <a:prstGeom prst="rect">
            <a:avLst/>
          </a:prstGeom>
          <a:noFill/>
          <a:ln/>
        </p:spPr>
        <p:txBody>
          <a:bodyPr wrap="square" lIns="0" tIns="0" rIns="0" bIns="0" rtlCol="0" anchor="t"/>
          <a:lstStyle/>
          <a:p>
            <a:pPr marL="0" indent="0">
              <a:spcAft>
                <a:spcPts val="600"/>
              </a:spcAft>
              <a:buNone/>
            </a:pPr>
            <a:r>
              <a:rPr lang="en-US" sz="18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Novel CDR Framework</a:t>
            </a:r>
            <a:endParaRPr lang="en-US" sz="1500" dirty="0"/>
          </a:p>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Multi-criteria 페르소나 모델링으로 IDH를 포착하고, target-adaptive 도플갱어로 선택적 전이를 수행하는 Multi-TAP 제안</a:t>
            </a:r>
            <a:endParaRPr lang="en-US" sz="1500" dirty="0"/>
          </a:p>
        </p:txBody>
      </p:sp>
      <p:sp>
        <p:nvSpPr>
          <p:cNvPr id="8" name="Shape 6"/>
          <p:cNvSpPr/>
          <p:nvPr/>
        </p:nvSpPr>
        <p:spPr>
          <a:xfrm>
            <a:off x="640080" y="4023360"/>
            <a:ext cx="10972800" cy="0"/>
          </a:xfrm>
          <a:prstGeom prst="line">
            <a:avLst/>
          </a:prstGeom>
          <a:noFill/>
          <a:ln w="9525">
            <a:solidFill>
              <a:srgbClr val="D9DDE1"/>
            </a:solidFill>
            <a:prstDash val="solid"/>
          </a:ln>
        </p:spPr>
        <p:txBody>
          <a:bodyPr/>
          <a:lstStyle/>
          <a:p>
            <a:endParaRPr lang="ko-KR" altLang="en-US"/>
          </a:p>
        </p:txBody>
      </p:sp>
      <p:sp>
        <p:nvSpPr>
          <p:cNvPr id="9" name="Text 7"/>
          <p:cNvSpPr txBox="1"/>
          <p:nvPr/>
        </p:nvSpPr>
        <p:spPr>
          <a:xfrm>
            <a:off x="640080" y="4206240"/>
            <a:ext cx="640080" cy="914400"/>
          </a:xfrm>
          <a:prstGeom prst="rect">
            <a:avLst/>
          </a:prstGeom>
          <a:noFill/>
          <a:ln/>
        </p:spPr>
        <p:txBody>
          <a:bodyPr wrap="square" lIns="0" tIns="0" rIns="0" bIns="0" rtlCol="0" anchor="ctr"/>
          <a:lstStyle/>
          <a:p>
            <a:pPr marL="0" indent="0">
              <a:spcAft>
                <a:spcPts val="600"/>
              </a:spcAft>
              <a:buNone/>
            </a:pPr>
            <a:r>
              <a:rPr lang="en-US" sz="40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3</a:t>
            </a:r>
            <a:endParaRPr lang="en-US" sz="4000" dirty="0"/>
          </a:p>
        </p:txBody>
      </p:sp>
      <p:sp>
        <p:nvSpPr>
          <p:cNvPr id="10" name="Text 8"/>
          <p:cNvSpPr txBox="1"/>
          <p:nvPr/>
        </p:nvSpPr>
        <p:spPr>
          <a:xfrm>
            <a:off x="1371600" y="4251960"/>
            <a:ext cx="10241280" cy="914400"/>
          </a:xfrm>
          <a:prstGeom prst="rect">
            <a:avLst/>
          </a:prstGeom>
          <a:noFill/>
          <a:ln/>
        </p:spPr>
        <p:txBody>
          <a:bodyPr wrap="square" lIns="0" tIns="0" rIns="0" bIns="0" rtlCol="0" anchor="t"/>
          <a:lstStyle/>
          <a:p>
            <a:pPr marL="0" indent="0">
              <a:spcAft>
                <a:spcPts val="600"/>
              </a:spcAft>
              <a:buNone/>
            </a:pPr>
            <a:r>
              <a:rPr lang="en-US" sz="18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Extensive Experiments</a:t>
            </a:r>
            <a:endParaRPr lang="en-US" sz="1500" dirty="0"/>
          </a:p>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Amazon 실데이터에서 5개 SOTA CDR 방법 대비 HR@5 최대 36.3% 향상</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2. Motivation — IDH의 정의와 측정 (1)</a:t>
            </a:r>
            <a:endParaRPr lang="en-US" sz="2800" dirty="0"/>
          </a:p>
        </p:txBody>
      </p:sp>
      <p:sp>
        <p:nvSpPr>
          <p:cNvPr id="3" name="Text 1"/>
          <p:cNvSpPr txBox="1"/>
          <p:nvPr/>
        </p:nvSpPr>
        <p:spPr>
          <a:xfrm>
            <a:off x="640080" y="1325880"/>
            <a:ext cx="10972800" cy="777240"/>
          </a:xfrm>
          <a:prstGeom prst="rect">
            <a:avLst/>
          </a:prstGeom>
          <a:noFill/>
          <a:ln/>
        </p:spPr>
        <p:txBody>
          <a:bodyPr wrap="square" lIns="0" tIns="0" rIns="0" bIns="0" rtlCol="0" anchor="t"/>
          <a:lstStyle/>
          <a:p>
            <a:pPr marL="0" indent="0">
              <a:spcAft>
                <a:spcPts val="600"/>
              </a:spcAft>
              <a:buNone/>
            </a:pPr>
            <a:r>
              <a:rPr lang="en-US" sz="150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정의  </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Ajzen의 계획행동이론: </a:t>
            </a:r>
            <a:r>
              <a:rPr lang="ko-KR" alt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사람의 행동은 하나의 고정된 선호에서 나오는 게 아닌</a:t>
            </a:r>
            <a:r>
              <a:rPr lang="en-US" altLang="ko-KR"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맥락에 따라 달라지는 여러 잠재 의도에서 나옴 </a:t>
            </a:r>
            <a:br>
              <a:rPr lang="en-US" altLang="ko-KR"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br>
            <a:r>
              <a:rPr lang="en-US" altLang="ko-KR"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ex) </a:t>
            </a:r>
            <a:r>
              <a:rPr lang="ko-KR" alt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평소 알뜰한 사람이지만 여자친구 선물은 비싼 걸 삼 </a:t>
            </a:r>
            <a:r>
              <a:rPr lang="en-US" altLang="ko-KR"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사용자를 벡터로 요약해서 일반화하면 안 됨</a:t>
            </a:r>
            <a:r>
              <a:rPr lang="en-US" altLang="ko-KR"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endPar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endParaRPr>
          </a:p>
          <a:p>
            <a:pPr marL="0" indent="0">
              <a:spcAft>
                <a:spcPts val="600"/>
              </a:spcAft>
              <a:buNone/>
            </a:pPr>
            <a:r>
              <a:rPr lang="en-US" sz="1500" dirty="0" err="1">
                <a:solidFill>
                  <a:srgbClr val="002856"/>
                </a:solidFill>
                <a:latin typeface="Pretendard" panose="02000503000000020004" pitchFamily="2" charset="-127"/>
                <a:ea typeface="Pretendard" panose="02000503000000020004" pitchFamily="2" charset="-127"/>
                <a:cs typeface="Pretendard" panose="02000503000000020004" pitchFamily="2" charset="-127"/>
              </a:rPr>
              <a:t>기준</a:t>
            </a:r>
            <a:r>
              <a:rPr lang="en-US" sz="150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 3가지  </a:t>
            </a: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가격</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(price) · </a:t>
            </a: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품질</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t>
            </a: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평균</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평점</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 </a:t>
            </a: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인기</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t>
            </a: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상호작용</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수</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t>
            </a:r>
            <a:endParaRPr lang="en-US" sz="1500" dirty="0"/>
          </a:p>
        </p:txBody>
      </p:sp>
      <p:sp>
        <p:nvSpPr>
          <p:cNvPr id="4" name="Shape 2"/>
          <p:cNvSpPr/>
          <p:nvPr/>
        </p:nvSpPr>
        <p:spPr>
          <a:xfrm>
            <a:off x="731520" y="2506472"/>
            <a:ext cx="10972800" cy="0"/>
          </a:xfrm>
          <a:prstGeom prst="line">
            <a:avLst/>
          </a:prstGeom>
          <a:noFill/>
          <a:ln w="9525">
            <a:solidFill>
              <a:srgbClr val="D9DDE1"/>
            </a:solidFill>
            <a:prstDash val="solid"/>
          </a:ln>
        </p:spPr>
        <p:txBody>
          <a:bodyPr/>
          <a:lstStyle/>
          <a:p>
            <a:endParaRPr lang="ko-KR" altLang="en-US"/>
          </a:p>
        </p:txBody>
      </p:sp>
      <p:sp>
        <p:nvSpPr>
          <p:cNvPr id="5" name="Text 3"/>
          <p:cNvSpPr txBox="1"/>
          <p:nvPr/>
        </p:nvSpPr>
        <p:spPr>
          <a:xfrm>
            <a:off x="731520" y="2689352"/>
            <a:ext cx="5669280" cy="731520"/>
          </a:xfrm>
          <a:prstGeom prst="rect">
            <a:avLst/>
          </a:prstGeom>
          <a:noFill/>
          <a:ln/>
        </p:spPr>
        <p:txBody>
          <a:bodyPr wrap="square" lIns="0" tIns="0" rIns="0" bIns="0" rtlCol="0" anchor="t"/>
          <a:lstStyle/>
          <a:p>
            <a:pPr marL="0" indent="0">
              <a:spcAft>
                <a:spcPts val="600"/>
              </a:spcAft>
              <a:buNone/>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① 아이템 등급 매기기 (Eq.1)</a:t>
            </a:r>
            <a:endParaRPr lang="en-US" sz="1500" dirty="0"/>
          </a:p>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카테고리마다 줄 세운 뒤 3등분(tertile) → 1(저) · 2(중) · 3(고)</a:t>
            </a:r>
            <a:endParaRPr lang="en-US" sz="1500" dirty="0"/>
          </a:p>
        </p:txBody>
      </p:sp>
      <mc:AlternateContent xmlns:mc="http://schemas.openxmlformats.org/markup-compatibility/2006" xmlns:a14="http://schemas.microsoft.com/office/drawing/2010/main">
        <mc:Choice Requires="a14">
          <p:sp>
            <p:nvSpPr>
              <p:cNvPr id="30" name="Equation bin"/>
              <p:cNvSpPr txBox="1"/>
              <p:nvPr/>
            </p:nvSpPr>
            <p:spPr>
              <a:xfrm>
                <a:off x="726440" y="3491992"/>
                <a:ext cx="5664200" cy="1092200"/>
              </a:xfrm>
              <a:prstGeom prst="rect">
                <a:avLst/>
              </a:prstGeom>
              <a:noFill/>
            </p:spPr>
            <p:txBody>
              <a:bodyPr wrap="square" rtlCol="0" anchor="ctr"/>
              <a:lstStyle/>
              <a:p>
                <a:pPr/>
                <a14:m>
                  <m:oMathPara xmlns:m="http://schemas.openxmlformats.org/officeDocument/2006/math">
                    <m:oMathParaPr>
                      <m:jc m:val="left"/>
                    </m:oMathParaPr>
                    <m:oMath>
                      <m:sSubSup>
                        <m:sSubSupPr>
                          <m:ctrlPr>
                            <a:rPr lang="en-US" sz="1600" i="1">
                              <a:latin typeface="Cambria Math" panose="02040503050406030204" pitchFamily="18" charset="0"/>
                              <a:ea typeface="Cambria Math" panose="02040503050406030204" pitchFamily="18" charset="0"/>
                            </a:rPr>
                          </m:ctrlPr>
                        </m:sSubSupPr>
                        <m:e>
                          <m:r>
                            <m:rPr>
                              <m:sty m:val="p"/>
                            </m:rPr>
                            <a:rPr lang="en-US" sz="1600" i="1">
                              <a:latin typeface="Cambria Math" panose="02040503050406030204" pitchFamily="18" charset="0"/>
                              <a:ea typeface="Cambria Math" panose="02040503050406030204" pitchFamily="18" charset="0"/>
                            </a:rPr>
                            <m:t>bin</m:t>
                          </m:r>
                        </m:e>
                        <m:sub>
                          <m:r>
                            <a:rPr lang="en-US" sz="1600" i="1">
                              <a:latin typeface="Cambria Math" panose="02040503050406030204" pitchFamily="18" charset="0"/>
                              <a:ea typeface="Cambria Math" panose="02040503050406030204" pitchFamily="18" charset="0"/>
                            </a:rPr>
                            <m:t>𝑖</m:t>
                          </m:r>
                        </m:sub>
                        <m:sup>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m:t>
                          </m:r>
                        </m:sup>
                      </m:sSubSup>
                      <m:r>
                        <a:rPr lang="en-US" sz="1600" i="1">
                          <a:latin typeface="Cambria Math" panose="02040503050406030204" pitchFamily="18" charset="0"/>
                          <a:ea typeface="Cambria Math" panose="02040503050406030204" pitchFamily="18" charset="0"/>
                        </a:rPr>
                        <m:t>=</m:t>
                      </m:r>
                      <m:d>
                        <m:dPr>
                          <m:begChr m:val="{"/>
                          <m:endChr m:val=""/>
                          <m:ctrlPr>
                            <a:rPr lang="en-US" sz="1600" i="1">
                              <a:latin typeface="Cambria Math" panose="02040503050406030204" pitchFamily="18" charset="0"/>
                              <a:ea typeface="Cambria Math" panose="02040503050406030204" pitchFamily="18" charset="0"/>
                            </a:rPr>
                          </m:ctrlPr>
                        </m:dPr>
                        <m:e>
                          <m:eqArr>
                            <m:eqArrPr>
                              <m:ctrlPr>
                                <a:rPr lang="en-US" sz="1600" i="1">
                                  <a:latin typeface="Cambria Math" panose="02040503050406030204" pitchFamily="18" charset="0"/>
                                  <a:ea typeface="Cambria Math" panose="02040503050406030204" pitchFamily="18" charset="0"/>
                                </a:rPr>
                              </m:ctrlPr>
                            </m:eqArrPr>
                            <m:e>
                              <m:r>
                                <m:rPr>
                                  <m:aln/>
                                </m:rPr>
                                <a:rPr lang="en-US" sz="1600" i="1">
                                  <a:latin typeface="Cambria Math" panose="02040503050406030204" pitchFamily="18" charset="0"/>
                                  <a:ea typeface="Cambria Math" panose="02040503050406030204" pitchFamily="18" charset="0"/>
                                </a:rPr>
                                <m:t>1</m:t>
                              </m:r>
                              <m:r>
                                <a:rPr lang="en-US" sz="1600" i="1">
                                  <a:latin typeface="Cambria Math" panose="02040503050406030204" pitchFamily="18" charset="0"/>
                                  <a:ea typeface="Cambria Math" panose="02040503050406030204" pitchFamily="18" charset="0"/>
                                </a:rPr>
                                <m:t>, </m:t>
                              </m:r>
                              <m:sSubSup>
                                <m:sSubSupPr>
                                  <m:ctrlPr>
                                    <a:rPr lang="en-US"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𝑥</m:t>
                                  </m:r>
                                </m:e>
                                <m:sub>
                                  <m:r>
                                    <a:rPr lang="en-US" sz="1600" i="1">
                                      <a:latin typeface="Cambria Math" panose="02040503050406030204" pitchFamily="18" charset="0"/>
                                      <a:ea typeface="Cambria Math" panose="02040503050406030204" pitchFamily="18" charset="0"/>
                                    </a:rPr>
                                    <m:t>𝑖</m:t>
                                  </m:r>
                                </m:sub>
                                <m:sup>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m:t>
                                  </m:r>
                                </m:sup>
                              </m:sSubSup>
                              <m:r>
                                <a:rPr lang="en-US" sz="1600" i="1">
                                  <a:latin typeface="Cambria Math" panose="02040503050406030204" pitchFamily="18" charset="0"/>
                                  <a:ea typeface="Cambria Math" panose="02040503050406030204" pitchFamily="18" charset="0"/>
                                </a:rPr>
                                <m:t>&lt;</m:t>
                              </m:r>
                              <m:sSubSup>
                                <m:sSubSupPr>
                                  <m:ctrlPr>
                                    <a:rPr lang="en-US"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𝑄</m:t>
                                  </m:r>
                                </m:e>
                                <m:sub>
                                  <m:r>
                                    <a:rPr lang="en-US" sz="1600" i="1">
                                      <a:latin typeface="Cambria Math" panose="02040503050406030204" pitchFamily="18" charset="0"/>
                                      <a:ea typeface="Cambria Math" panose="02040503050406030204" pitchFamily="18" charset="0"/>
                                    </a:rPr>
                                    <m:t>𝑐</m:t>
                                  </m:r>
                                </m:sub>
                                <m:sup>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m:t>
                                  </m:r>
                                </m:sup>
                              </m:sSubSup>
                              <m:r>
                                <a:rPr lang="en-US" sz="1600" i="1">
                                  <a:latin typeface="Cambria Math" panose="02040503050406030204" pitchFamily="18" charset="0"/>
                                  <a:ea typeface="Cambria Math" panose="02040503050406030204" pitchFamily="18" charset="0"/>
                                </a:rPr>
                                <m:t>(1/3)</m:t>
                              </m:r>
                            </m:e>
                            <m:e>
                              <m:r>
                                <m:rPr>
                                  <m:aln/>
                                </m:rPr>
                                <a:rPr lang="en-US" sz="1600" i="1">
                                  <a:latin typeface="Cambria Math" panose="02040503050406030204" pitchFamily="18" charset="0"/>
                                  <a:ea typeface="Cambria Math" panose="02040503050406030204" pitchFamily="18" charset="0"/>
                                </a:rPr>
                                <m:t>2</m:t>
                              </m:r>
                              <m:r>
                                <a:rPr lang="en-US" sz="1600" i="1">
                                  <a:latin typeface="Cambria Math" panose="02040503050406030204" pitchFamily="18" charset="0"/>
                                  <a:ea typeface="Cambria Math" panose="02040503050406030204" pitchFamily="18" charset="0"/>
                                </a:rPr>
                                <m:t>, </m:t>
                              </m:r>
                              <m:sSubSup>
                                <m:sSubSupPr>
                                  <m:ctrlPr>
                                    <a:rPr lang="en-US"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𝑄</m:t>
                                  </m:r>
                                </m:e>
                                <m:sub>
                                  <m:r>
                                    <a:rPr lang="en-US" sz="1600" i="1">
                                      <a:latin typeface="Cambria Math" panose="02040503050406030204" pitchFamily="18" charset="0"/>
                                      <a:ea typeface="Cambria Math" panose="02040503050406030204" pitchFamily="18" charset="0"/>
                                    </a:rPr>
                                    <m:t>𝑐</m:t>
                                  </m:r>
                                </m:sub>
                                <m:sup>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m:t>
                                  </m:r>
                                </m:sup>
                              </m:sSubSup>
                              <m:r>
                                <a:rPr lang="en-US" sz="1600" i="1">
                                  <a:latin typeface="Cambria Math" panose="02040503050406030204" pitchFamily="18" charset="0"/>
                                  <a:ea typeface="Cambria Math" panose="02040503050406030204" pitchFamily="18" charset="0"/>
                                </a:rPr>
                                <m:t>(1/3)≤</m:t>
                              </m:r>
                              <m:sSubSup>
                                <m:sSubSupPr>
                                  <m:ctrlPr>
                                    <a:rPr lang="en-US"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𝑥</m:t>
                                  </m:r>
                                </m:e>
                                <m:sub>
                                  <m:r>
                                    <a:rPr lang="en-US" sz="1600" i="1">
                                      <a:latin typeface="Cambria Math" panose="02040503050406030204" pitchFamily="18" charset="0"/>
                                      <a:ea typeface="Cambria Math" panose="02040503050406030204" pitchFamily="18" charset="0"/>
                                    </a:rPr>
                                    <m:t>𝑖</m:t>
                                  </m:r>
                                </m:sub>
                                <m:sup>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m:t>
                                  </m:r>
                                </m:sup>
                              </m:sSubSup>
                              <m:r>
                                <a:rPr lang="en-US" sz="1600" i="1">
                                  <a:latin typeface="Cambria Math" panose="02040503050406030204" pitchFamily="18" charset="0"/>
                                  <a:ea typeface="Cambria Math" panose="02040503050406030204" pitchFamily="18" charset="0"/>
                                </a:rPr>
                                <m:t>&lt;</m:t>
                              </m:r>
                              <m:sSubSup>
                                <m:sSubSupPr>
                                  <m:ctrlPr>
                                    <a:rPr lang="en-US"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𝑄</m:t>
                                  </m:r>
                                </m:e>
                                <m:sub>
                                  <m:r>
                                    <a:rPr lang="en-US" sz="1600" i="1">
                                      <a:latin typeface="Cambria Math" panose="02040503050406030204" pitchFamily="18" charset="0"/>
                                      <a:ea typeface="Cambria Math" panose="02040503050406030204" pitchFamily="18" charset="0"/>
                                    </a:rPr>
                                    <m:t>𝑐</m:t>
                                  </m:r>
                                </m:sub>
                                <m:sup>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m:t>
                                  </m:r>
                                </m:sup>
                              </m:sSubSup>
                              <m:r>
                                <a:rPr lang="en-US" sz="1600" i="1">
                                  <a:latin typeface="Cambria Math" panose="02040503050406030204" pitchFamily="18" charset="0"/>
                                  <a:ea typeface="Cambria Math" panose="02040503050406030204" pitchFamily="18" charset="0"/>
                                </a:rPr>
                                <m:t>(2/3)</m:t>
                              </m:r>
                            </m:e>
                            <m:e>
                              <m:r>
                                <m:rPr>
                                  <m:aln/>
                                </m:rPr>
                                <a:rPr lang="en-US" sz="1600" i="1">
                                  <a:latin typeface="Cambria Math" panose="02040503050406030204" pitchFamily="18" charset="0"/>
                                  <a:ea typeface="Cambria Math" panose="02040503050406030204" pitchFamily="18" charset="0"/>
                                </a:rPr>
                                <m:t>3</m:t>
                              </m:r>
                              <m:r>
                                <a:rPr lang="en-US" sz="1600" i="1">
                                  <a:latin typeface="Cambria Math" panose="02040503050406030204" pitchFamily="18" charset="0"/>
                                  <a:ea typeface="Cambria Math" panose="02040503050406030204" pitchFamily="18" charset="0"/>
                                </a:rPr>
                                <m:t>, </m:t>
                              </m:r>
                              <m:sSubSup>
                                <m:sSubSupPr>
                                  <m:ctrlPr>
                                    <a:rPr lang="en-US"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𝑥</m:t>
                                  </m:r>
                                </m:e>
                                <m:sub>
                                  <m:r>
                                    <a:rPr lang="en-US" sz="1600" i="1">
                                      <a:latin typeface="Cambria Math" panose="02040503050406030204" pitchFamily="18" charset="0"/>
                                      <a:ea typeface="Cambria Math" panose="02040503050406030204" pitchFamily="18" charset="0"/>
                                    </a:rPr>
                                    <m:t>𝑖</m:t>
                                  </m:r>
                                </m:sub>
                                <m:sup>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m:t>
                                  </m:r>
                                </m:sup>
                              </m:sSubSup>
                              <m:r>
                                <a:rPr lang="en-US" sz="1600" i="1">
                                  <a:latin typeface="Cambria Math" panose="02040503050406030204" pitchFamily="18" charset="0"/>
                                  <a:ea typeface="Cambria Math" panose="02040503050406030204" pitchFamily="18" charset="0"/>
                                </a:rPr>
                                <m:t>≥</m:t>
                              </m:r>
                              <m:sSubSup>
                                <m:sSubSupPr>
                                  <m:ctrlPr>
                                    <a:rPr lang="en-US"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𝑄</m:t>
                                  </m:r>
                                </m:e>
                                <m:sub>
                                  <m:r>
                                    <a:rPr lang="en-US" sz="1600" i="1">
                                      <a:latin typeface="Cambria Math" panose="02040503050406030204" pitchFamily="18" charset="0"/>
                                      <a:ea typeface="Cambria Math" panose="02040503050406030204" pitchFamily="18" charset="0"/>
                                    </a:rPr>
                                    <m:t>𝑐</m:t>
                                  </m:r>
                                </m:sub>
                                <m:sup>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m:t>
                                  </m:r>
                                </m:sup>
                              </m:sSubSup>
                              <m:r>
                                <a:rPr lang="en-US" sz="1600" i="1">
                                  <a:latin typeface="Cambria Math" panose="02040503050406030204" pitchFamily="18" charset="0"/>
                                  <a:ea typeface="Cambria Math" panose="02040503050406030204" pitchFamily="18" charset="0"/>
                                </a:rPr>
                                <m:t>(2/3)</m:t>
                              </m:r>
                            </m:e>
                          </m:eqArr>
                        </m:e>
                      </m:d>
                    </m:oMath>
                  </m:oMathPara>
                </a14:m>
                <a:endParaRPr lang="en-US" sz="1600" dirty="0"/>
              </a:p>
            </p:txBody>
          </p:sp>
        </mc:Choice>
        <mc:Fallback xmlns="">
          <p:sp>
            <p:nvSpPr>
              <p:cNvPr id="30" name="Equation bin"/>
              <p:cNvSpPr txBox="1">
                <a:spLocks noRot="1" noChangeAspect="1" noMove="1" noResize="1" noEditPoints="1" noAdjustHandles="1" noChangeArrowheads="1" noChangeShapeType="1" noTextEdit="1"/>
              </p:cNvSpPr>
              <p:nvPr/>
            </p:nvSpPr>
            <p:spPr>
              <a:xfrm>
                <a:off x="726440" y="3491992"/>
                <a:ext cx="5664200" cy="1092200"/>
              </a:xfrm>
              <a:prstGeom prst="rect">
                <a:avLst/>
              </a:prstGeom>
              <a:blipFill>
                <a:blip r:embed="rId4"/>
                <a:stretch>
                  <a:fillRect b="-5814"/>
                </a:stretch>
              </a:blipFill>
            </p:spPr>
            <p:txBody>
              <a:bodyPr/>
              <a:lstStyle/>
              <a:p>
                <a:r>
                  <a:rPr lang="ko-KR" altLang="en-US">
                    <a:noFill/>
                  </a:rPr>
                  <a:t> </a:t>
                </a:r>
              </a:p>
            </p:txBody>
          </p:sp>
        </mc:Fallback>
      </mc:AlternateContent>
      <p:sp>
        <p:nvSpPr>
          <p:cNvPr id="7" name="Text 4"/>
          <p:cNvSpPr txBox="1"/>
          <p:nvPr/>
        </p:nvSpPr>
        <p:spPr>
          <a:xfrm>
            <a:off x="731520" y="4655312"/>
            <a:ext cx="5486400" cy="507703"/>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x: 아이템의 원래 값(가격 등), Q: 카테고리 내 분위수(1/3, 2/3 지점)</a:t>
            </a:r>
            <a:endParaRPr lang="en-US" sz="15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왜 카테고리별로? 노트북 50만원은 저가, 이어폰 50만원은 고가 → 스케일 정규화</a:t>
            </a:r>
            <a:endParaRPr lang="en-US" sz="1500" dirty="0"/>
          </a:p>
        </p:txBody>
      </p:sp>
      <p:sp>
        <p:nvSpPr>
          <p:cNvPr id="8" name="Text 5"/>
          <p:cNvSpPr txBox="1"/>
          <p:nvPr/>
        </p:nvSpPr>
        <p:spPr>
          <a:xfrm>
            <a:off x="6583680" y="2689352"/>
            <a:ext cx="5120640" cy="731520"/>
          </a:xfrm>
          <a:prstGeom prst="rect">
            <a:avLst/>
          </a:prstGeom>
          <a:noFill/>
          <a:ln/>
        </p:spPr>
        <p:txBody>
          <a:bodyPr wrap="square" lIns="0" tIns="0" rIns="0" bIns="0" rtlCol="0" anchor="t"/>
          <a:lstStyle/>
          <a:p>
            <a:pPr marL="0" indent="0">
              <a:spcAft>
                <a:spcPts val="600"/>
              </a:spcAft>
              <a:buNone/>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② 사용자 점수 (Eq.2)</a:t>
            </a:r>
            <a:endParaRPr lang="en-US" sz="1500" dirty="0"/>
          </a:p>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그 카테고리에서 이용한 아이템 등급의 평균</a:t>
            </a:r>
            <a:endParaRPr lang="en-US" sz="1500" dirty="0"/>
          </a:p>
        </p:txBody>
      </p:sp>
      <mc:AlternateContent xmlns:mc="http://schemas.openxmlformats.org/markup-compatibility/2006" xmlns:a14="http://schemas.microsoft.com/office/drawing/2010/main">
        <mc:Choice Requires="a14">
          <p:sp>
            <p:nvSpPr>
              <p:cNvPr id="9" name="Equation 9"/>
              <p:cNvSpPr txBox="1"/>
              <p:nvPr/>
            </p:nvSpPr>
            <p:spPr>
              <a:xfrm>
                <a:off x="6682740" y="3441192"/>
                <a:ext cx="2921000" cy="889000"/>
              </a:xfrm>
              <a:prstGeom prst="rect">
                <a:avLst/>
              </a:prstGeom>
              <a:noFill/>
            </p:spPr>
            <p:txBody>
              <a:bodyPr wrap="none" lIns="91440" rtlCol="0" anchor="ctr"/>
              <a:lstStyle/>
              <a:p>
                <a:pPr/>
                <a14:m>
                  <m:oMathPara xmlns:m="http://schemas.openxmlformats.org/officeDocument/2006/math">
                    <m:oMathParaPr>
                      <m:jc m:val="left"/>
                    </m:oMathParaPr>
                    <m:oMath>
                      <m:sSubSup>
                        <m:sSubSupPr>
                          <m:ctrlPr>
                            <a:rPr lang="en-US"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𝑠</m:t>
                          </m:r>
                        </m:e>
                        <m:sub>
                          <m:r>
                            <a:rPr lang="en-US" sz="1600" i="1">
                              <a:latin typeface="Cambria Math" panose="02040503050406030204" pitchFamily="18" charset="0"/>
                              <a:ea typeface="Cambria Math" panose="02040503050406030204" pitchFamily="18" charset="0"/>
                            </a:rPr>
                            <m:t>𝑢</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𝑐</m:t>
                          </m:r>
                        </m:sub>
                        <m:sup>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m:t>
                          </m:r>
                        </m:sup>
                      </m:sSubSup>
                      <m:r>
                        <a:rPr lang="en-US" sz="1600" i="1">
                          <a:latin typeface="Cambria Math" panose="02040503050406030204" pitchFamily="18" charset="0"/>
                          <a:ea typeface="Cambria Math" panose="02040503050406030204" pitchFamily="18" charset="0"/>
                        </a:rPr>
                        <m:t>=</m:t>
                      </m:r>
                      <m:f>
                        <m:fPr>
                          <m:ctrlPr>
                            <a:rPr lang="en-US"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1</m:t>
                          </m:r>
                        </m:num>
                        <m:den>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ℐ</m:t>
                              </m:r>
                            </m:e>
                            <m:sub>
                              <m:r>
                                <a:rPr lang="en-US" sz="1600" i="1">
                                  <a:latin typeface="Cambria Math" panose="02040503050406030204" pitchFamily="18" charset="0"/>
                                  <a:ea typeface="Cambria Math" panose="02040503050406030204" pitchFamily="18" charset="0"/>
                                </a:rPr>
                                <m:t>𝑢</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𝑐</m:t>
                              </m:r>
                            </m:sub>
                          </m:sSub>
                          <m:r>
                            <a:rPr lang="en-US" sz="1600" i="1">
                              <a:latin typeface="Cambria Math" panose="02040503050406030204" pitchFamily="18" charset="0"/>
                              <a:ea typeface="Cambria Math" panose="02040503050406030204" pitchFamily="18" charset="0"/>
                            </a:rPr>
                            <m:t>|</m:t>
                          </m:r>
                        </m:den>
                      </m:f>
                      <m:nary>
                        <m:naryPr>
                          <m:chr m:val="∑"/>
                          <m:limLoc m:val="undOvr"/>
                          <m:supHide m:val="on"/>
                          <m:ctrlPr>
                            <a:rPr lang="en-US" sz="1600" i="1">
                              <a:latin typeface="Cambria Math" panose="02040503050406030204" pitchFamily="18" charset="0"/>
                              <a:ea typeface="Cambria Math" panose="02040503050406030204" pitchFamily="18" charset="0"/>
                            </a:rPr>
                          </m:ctrlPr>
                        </m:naryPr>
                        <m:sub>
                          <m:r>
                            <a:rPr lang="en-US" sz="1600" i="1">
                              <a:latin typeface="Cambria Math" panose="02040503050406030204" pitchFamily="18" charset="0"/>
                              <a:ea typeface="Cambria Math" panose="02040503050406030204" pitchFamily="18" charset="0"/>
                            </a:rPr>
                            <m:t>𝑖</m:t>
                          </m:r>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ℐ</m:t>
                              </m:r>
                            </m:e>
                            <m:sub>
                              <m:r>
                                <a:rPr lang="en-US" sz="1600" i="1">
                                  <a:latin typeface="Cambria Math" panose="02040503050406030204" pitchFamily="18" charset="0"/>
                                  <a:ea typeface="Cambria Math" panose="02040503050406030204" pitchFamily="18" charset="0"/>
                                </a:rPr>
                                <m:t>𝑢</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𝑐</m:t>
                              </m:r>
                            </m:sub>
                          </m:sSub>
                        </m:sub>
                        <m:sup/>
                        <m:e>
                          <m:sSubSup>
                            <m:sSubSupPr>
                              <m:ctrlPr>
                                <a:rPr lang="en-US" sz="1600" i="1">
                                  <a:latin typeface="Cambria Math" panose="02040503050406030204" pitchFamily="18" charset="0"/>
                                  <a:ea typeface="Cambria Math" panose="02040503050406030204" pitchFamily="18" charset="0"/>
                                </a:rPr>
                              </m:ctrlPr>
                            </m:sSubSupPr>
                            <m:e>
                              <m:r>
                                <m:rPr>
                                  <m:sty m:val="p"/>
                                </m:rPr>
                                <a:rPr lang="en-US" sz="1600" i="1">
                                  <a:latin typeface="Cambria Math" panose="02040503050406030204" pitchFamily="18" charset="0"/>
                                  <a:ea typeface="Cambria Math" panose="02040503050406030204" pitchFamily="18" charset="0"/>
                                </a:rPr>
                                <m:t>bin</m:t>
                              </m:r>
                            </m:e>
                            <m:sub>
                              <m:r>
                                <a:rPr lang="en-US" sz="1600" i="1">
                                  <a:latin typeface="Cambria Math" panose="02040503050406030204" pitchFamily="18" charset="0"/>
                                  <a:ea typeface="Cambria Math" panose="02040503050406030204" pitchFamily="18" charset="0"/>
                                </a:rPr>
                                <m:t>𝑖</m:t>
                              </m:r>
                            </m:sub>
                            <m:sup>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m:t>
                              </m:r>
                            </m:sup>
                          </m:sSubSup>
                        </m:e>
                      </m:nary>
                    </m:oMath>
                  </m:oMathPara>
                </a14:m>
                <a:endParaRPr lang="en-US" sz="1600" dirty="0"/>
              </a:p>
            </p:txBody>
          </p:sp>
        </mc:Choice>
        <mc:Fallback xmlns="">
          <p:sp>
            <p:nvSpPr>
              <p:cNvPr id="9" name="Equation 9"/>
              <p:cNvSpPr txBox="1">
                <a:spLocks noRot="1" noChangeAspect="1" noMove="1" noResize="1" noEditPoints="1" noAdjustHandles="1" noChangeArrowheads="1" noChangeShapeType="1" noTextEdit="1"/>
              </p:cNvSpPr>
              <p:nvPr/>
            </p:nvSpPr>
            <p:spPr>
              <a:xfrm>
                <a:off x="6682740" y="3441192"/>
                <a:ext cx="2921000" cy="889000"/>
              </a:xfrm>
              <a:prstGeom prst="rect">
                <a:avLst/>
              </a:prstGeom>
              <a:blipFill>
                <a:blip r:embed="rId5"/>
                <a:stretch>
                  <a:fillRect t="-88571" b="-124286"/>
                </a:stretch>
              </a:blipFill>
            </p:spPr>
            <p:txBody>
              <a:bodyPr/>
              <a:lstStyle/>
              <a:p>
                <a:r>
                  <a:rPr lang="ko-KR" altLang="en-US">
                    <a:noFill/>
                  </a:rPr>
                  <a:t> </a:t>
                </a:r>
              </a:p>
            </p:txBody>
          </p:sp>
        </mc:Fallback>
      </mc:AlternateContent>
      <p:sp>
        <p:nvSpPr>
          <p:cNvPr id="10" name="Text 6"/>
          <p:cNvSpPr txBox="1"/>
          <p:nvPr/>
        </p:nvSpPr>
        <p:spPr>
          <a:xfrm>
            <a:off x="6583680" y="4655312"/>
            <a:ext cx="5120640" cy="22860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값이 크면 "이 카테고리에서는 비싼 걸 사는 사람"</a:t>
            </a:r>
            <a:endParaRPr lang="en-US" sz="1500" dirty="0"/>
          </a:p>
        </p:txBody>
      </p:sp>
      <p:sp>
        <p:nvSpPr>
          <p:cNvPr id="11" name="Text 7"/>
          <p:cNvSpPr txBox="1"/>
          <p:nvPr/>
        </p:nvSpPr>
        <p:spPr>
          <a:xfrm>
            <a:off x="640080" y="5361940"/>
            <a:ext cx="10972800" cy="228600"/>
          </a:xfrm>
          <a:prstGeom prst="rect">
            <a:avLst/>
          </a:prstGeom>
          <a:noFill/>
          <a:ln/>
        </p:spPr>
        <p:txBody>
          <a:bodyPr wrap="square" lIns="0" tIns="0" rIns="0" bIns="0" rtlCol="0" anchor="ctr"/>
          <a:lstStyle/>
          <a:p>
            <a:pPr marL="0" indent="0">
              <a:buNone/>
            </a:pPr>
            <a:r>
              <a:rPr lang="en-US" sz="95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Eq.(1)–(2), Kang &amp; Lee, KDD 2026, Section 2</a:t>
            </a:r>
            <a:endParaRPr lang="en-US" sz="950" dirty="0"/>
          </a:p>
        </p:txBody>
      </p:sp>
    </p:spTree>
    <p:extLst>
      <p:ext uri="{BB962C8B-B14F-4D97-AF65-F5344CB8AC3E}">
        <p14:creationId xmlns:p14="http://schemas.microsoft.com/office/powerpoint/2010/main" val="1798151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2. Motivation — IDH의 정의와 측정 (2)</a:t>
            </a:r>
            <a:endParaRPr lang="en-US" sz="2800" dirty="0"/>
          </a:p>
        </p:txBody>
      </p:sp>
      <p:sp>
        <p:nvSpPr>
          <p:cNvPr id="3" name="Text 1"/>
          <p:cNvSpPr txBox="1"/>
          <p:nvPr/>
        </p:nvSpPr>
        <p:spPr>
          <a:xfrm>
            <a:off x="640080" y="1371600"/>
            <a:ext cx="10972800" cy="731520"/>
          </a:xfrm>
          <a:prstGeom prst="rect">
            <a:avLst/>
          </a:prstGeom>
          <a:noFill/>
          <a:ln/>
        </p:spPr>
        <p:txBody>
          <a:bodyPr wrap="square" lIns="0" tIns="0" rIns="0" bIns="0" rtlCol="0" anchor="t"/>
          <a:lstStyle/>
          <a:p>
            <a:pPr marL="0" indent="0">
              <a:spcAft>
                <a:spcPts val="600"/>
              </a:spcAft>
              <a:buNone/>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③ 사용자 라벨</a:t>
            </a:r>
            <a:endParaRPr lang="en-US" sz="1500" dirty="0"/>
          </a:p>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사용자 점수를 다시 3등분해 Low / Medium / High 라벨 부여 → 뒤에서 페르소나 DB에 그대로 재사용</a:t>
            </a:r>
            <a:endParaRPr lang="en-US" sz="1500" dirty="0"/>
          </a:p>
        </p:txBody>
      </p:sp>
      <p:sp>
        <p:nvSpPr>
          <p:cNvPr id="4" name="Shape 2"/>
          <p:cNvSpPr/>
          <p:nvPr/>
        </p:nvSpPr>
        <p:spPr>
          <a:xfrm>
            <a:off x="640080" y="2286000"/>
            <a:ext cx="10972800" cy="0"/>
          </a:xfrm>
          <a:prstGeom prst="line">
            <a:avLst/>
          </a:prstGeom>
          <a:noFill/>
          <a:ln w="9525">
            <a:solidFill>
              <a:srgbClr val="D9DDE1"/>
            </a:solidFill>
            <a:prstDash val="solid"/>
          </a:ln>
        </p:spPr>
        <p:txBody>
          <a:bodyPr/>
          <a:lstStyle/>
          <a:p>
            <a:endParaRPr lang="ko-KR" altLang="en-US"/>
          </a:p>
        </p:txBody>
      </p:sp>
      <mc:AlternateContent xmlns:mc="http://schemas.openxmlformats.org/markup-compatibility/2006" xmlns:a14="http://schemas.microsoft.com/office/drawing/2010/main">
        <mc:Choice Requires="a14">
          <p:sp>
            <p:nvSpPr>
              <p:cNvPr id="5" name="Text 3"/>
              <p:cNvSpPr txBox="1"/>
              <p:nvPr/>
            </p:nvSpPr>
            <p:spPr>
              <a:xfrm>
                <a:off x="640080" y="2468880"/>
                <a:ext cx="10972800" cy="731520"/>
              </a:xfrm>
              <a:prstGeom prst="rect">
                <a:avLst/>
              </a:prstGeom>
              <a:noFill/>
              <a:ln/>
            </p:spPr>
            <p:txBody>
              <a:bodyPr wrap="square" lIns="0" tIns="0" rIns="0" bIns="0" rtlCol="0" anchor="t"/>
              <a:lstStyle/>
              <a:p>
                <a:pPr marL="0" indent="0">
                  <a:spcAft>
                    <a:spcPts val="600"/>
                  </a:spcAft>
                  <a:buNone/>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④ 선호 보존율 (Eq.3)</a:t>
                </a:r>
                <a:endParaRPr lang="en-US" sz="1500" dirty="0"/>
              </a:p>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카테고리 </a:t>
                </a:r>
                <a14:m>
                  <m:oMath xmlns:m="http://schemas.openxmlformats.org/officeDocument/2006/math">
                    <m:sSub>
                      <m:sSubPr>
                        <m:ctrlPr>
                          <a:rPr lang="en-US" sz="1500" b="0" i="1" smtClean="0">
                            <a:solidFill>
                              <a:srgbClr val="1A1A1A"/>
                            </a:solidFill>
                            <a:latin typeface="Cambria Math" panose="02040503050406030204" pitchFamily="18" charset="0"/>
                            <a:ea typeface="Pretendard" panose="02000503000000020004" pitchFamily="2" charset="-127"/>
                            <a:cs typeface="Pretendard" panose="02000503000000020004" pitchFamily="2" charset="-127"/>
                          </a:rPr>
                        </m:ctrlPr>
                      </m:sSubPr>
                      <m:e>
                        <m:r>
                          <a:rPr lang="en-US" sz="1500" b="0" i="1" smtClean="0">
                            <a:solidFill>
                              <a:srgbClr val="1A1A1A"/>
                            </a:solidFill>
                            <a:latin typeface="Cambria Math" panose="02040503050406030204" pitchFamily="18" charset="0"/>
                            <a:ea typeface="Pretendard" panose="02000503000000020004" pitchFamily="2" charset="-127"/>
                            <a:cs typeface="Pretendard" panose="02000503000000020004" pitchFamily="2" charset="-127"/>
                          </a:rPr>
                          <m:t>𝐶</m:t>
                        </m:r>
                      </m:e>
                      <m:sub>
                        <m:r>
                          <a:rPr lang="en-US" sz="1500" b="0" i="1" smtClean="0">
                            <a:solidFill>
                              <a:srgbClr val="1A1A1A"/>
                            </a:solidFill>
                            <a:latin typeface="Cambria Math" panose="02040503050406030204" pitchFamily="18" charset="0"/>
                            <a:ea typeface="Pretendard" panose="02000503000000020004" pitchFamily="2" charset="-127"/>
                            <a:cs typeface="Pretendard" panose="02000503000000020004" pitchFamily="2" charset="-127"/>
                          </a:rPr>
                          <m:t>𝑏</m:t>
                        </m:r>
                      </m:sub>
                    </m:sSub>
                  </m:oMath>
                </a14:m>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에서</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라벨</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14:m>
                  <m:oMath xmlns:m="http://schemas.openxmlformats.org/officeDocument/2006/math">
                    <m:r>
                      <a:rPr lang="en-US" sz="1500" b="0" i="1" smtClean="0">
                        <a:solidFill>
                          <a:srgbClr val="1A1A1A"/>
                        </a:solidFill>
                        <a:latin typeface="Cambria Math" panose="02040503050406030204" pitchFamily="18" charset="0"/>
                        <a:ea typeface="Pretendard" panose="02000503000000020004" pitchFamily="2" charset="-127"/>
                        <a:cs typeface="Pretendard" panose="02000503000000020004" pitchFamily="2" charset="-127"/>
                      </a:rPr>
                      <m:t>𝑔</m:t>
                    </m:r>
                  </m:oMath>
                </a14:m>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(예: High)였던 사람 중, </a:t>
                </a:r>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카테고리</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14:m>
                  <m:oMath xmlns:m="http://schemas.openxmlformats.org/officeDocument/2006/math">
                    <m:sSub>
                      <m:sSubPr>
                        <m:ctrlPr>
                          <a:rPr lang="en-US" sz="1500" b="0" i="1" smtClean="0">
                            <a:solidFill>
                              <a:srgbClr val="1A1A1A"/>
                            </a:solidFill>
                            <a:latin typeface="Cambria Math" panose="02040503050406030204" pitchFamily="18" charset="0"/>
                            <a:ea typeface="Pretendard" panose="02000503000000020004" pitchFamily="2" charset="-127"/>
                            <a:cs typeface="Pretendard" panose="02000503000000020004" pitchFamily="2" charset="-127"/>
                          </a:rPr>
                        </m:ctrlPr>
                      </m:sSubPr>
                      <m:e>
                        <m:r>
                          <a:rPr lang="en-US" sz="1500" b="0" i="1" smtClean="0">
                            <a:solidFill>
                              <a:srgbClr val="1A1A1A"/>
                            </a:solidFill>
                            <a:latin typeface="Cambria Math" panose="02040503050406030204" pitchFamily="18" charset="0"/>
                            <a:ea typeface="Pretendard" panose="02000503000000020004" pitchFamily="2" charset="-127"/>
                            <a:cs typeface="Pretendard" panose="02000503000000020004" pitchFamily="2" charset="-127"/>
                          </a:rPr>
                          <m:t>𝐶</m:t>
                        </m:r>
                      </m:e>
                      <m:sub>
                        <m:r>
                          <a:rPr lang="en-US" sz="1500" b="0" i="1" smtClean="0">
                            <a:solidFill>
                              <a:srgbClr val="1A1A1A"/>
                            </a:solidFill>
                            <a:latin typeface="Cambria Math" panose="02040503050406030204" pitchFamily="18" charset="0"/>
                            <a:ea typeface="Pretendard" panose="02000503000000020004" pitchFamily="2" charset="-127"/>
                            <a:cs typeface="Pretendard" panose="02000503000000020004" pitchFamily="2" charset="-127"/>
                          </a:rPr>
                          <m:t>𝑡</m:t>
                        </m:r>
                      </m:sub>
                    </m:sSub>
                  </m:oMath>
                </a14:m>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에서도</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14:m>
                  <m:oMath xmlns:m="http://schemas.openxmlformats.org/officeDocument/2006/math">
                    <m:r>
                      <a:rPr lang="en-US" sz="1500" b="0" i="1" smtClean="0">
                        <a:solidFill>
                          <a:srgbClr val="1A1A1A"/>
                        </a:solidFill>
                        <a:latin typeface="Cambria Math" panose="02040503050406030204" pitchFamily="18" charset="0"/>
                        <a:ea typeface="Pretendard" panose="02000503000000020004" pitchFamily="2" charset="-127"/>
                        <a:cs typeface="Pretendard" panose="02000503000000020004" pitchFamily="2" charset="-127"/>
                      </a:rPr>
                      <m:t>𝑔</m:t>
                    </m:r>
                  </m:oMath>
                </a14:m>
                <a:r>
                  <a:rPr lang="en-US" sz="15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인</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사람의 비율</a:t>
                </a:r>
                <a:endParaRPr lang="en-US" sz="1500" dirty="0"/>
              </a:p>
            </p:txBody>
          </p:sp>
        </mc:Choice>
        <mc:Fallback xmlns="">
          <p:sp>
            <p:nvSpPr>
              <p:cNvPr id="5" name="Text 3"/>
              <p:cNvSpPr txBox="1">
                <a:spLocks noRot="1" noChangeAspect="1" noMove="1" noResize="1" noEditPoints="1" noAdjustHandles="1" noChangeArrowheads="1" noChangeShapeType="1" noTextEdit="1"/>
              </p:cNvSpPr>
              <p:nvPr/>
            </p:nvSpPr>
            <p:spPr>
              <a:xfrm>
                <a:off x="640080" y="2468880"/>
                <a:ext cx="10972800" cy="731520"/>
              </a:xfrm>
              <a:prstGeom prst="rect">
                <a:avLst/>
              </a:prstGeom>
              <a:blipFill>
                <a:blip r:embed="rId4"/>
                <a:stretch>
                  <a:fillRect l="-1156" t="-8475"/>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 name="Equation 6"/>
              <p:cNvSpPr txBox="1"/>
              <p:nvPr/>
            </p:nvSpPr>
            <p:spPr>
              <a:xfrm>
                <a:off x="1003300" y="3175000"/>
                <a:ext cx="5334000" cy="1270000"/>
              </a:xfrm>
              <a:prstGeom prst="rect">
                <a:avLst/>
              </a:prstGeom>
              <a:noFill/>
            </p:spPr>
            <p:txBody>
              <a:bodyPr wrap="none" lIns="91440" rtlCol="0" anchor="ctr"/>
              <a:lstStyle/>
              <a:p>
                <a:pPr/>
                <a14:m>
                  <m:oMathPara xmlns:m="http://schemas.openxmlformats.org/officeDocument/2006/math">
                    <m:oMathParaPr>
                      <m:jc m:val="left"/>
                    </m:oMathParaPr>
                    <m:oMath>
                      <m:sSubSup>
                        <m:sSubSupPr>
                          <m:ctrlPr>
                            <a:rPr lang="en-US" sz="1800" i="1">
                              <a:latin typeface="Cambria Math" panose="02040503050406030204" pitchFamily="18" charset="0"/>
                              <a:ea typeface="Cambria Math" panose="02040503050406030204" pitchFamily="18" charset="0"/>
                            </a:rPr>
                          </m:ctrlPr>
                        </m:sSubSupPr>
                        <m:e>
                          <m:r>
                            <a:rPr lang="en-US" sz="1800" i="1">
                              <a:latin typeface="Cambria Math" panose="02040503050406030204" pitchFamily="18" charset="0"/>
                              <a:ea typeface="Cambria Math" panose="02040503050406030204" pitchFamily="18" charset="0"/>
                            </a:rPr>
                            <m:t>𝑅</m:t>
                          </m:r>
                        </m:e>
                        <m:sub>
                          <m:r>
                            <a:rPr lang="en-US" sz="1800" i="1">
                              <a:latin typeface="Cambria Math" panose="02040503050406030204" pitchFamily="18" charset="0"/>
                              <a:ea typeface="Cambria Math" panose="02040503050406030204" pitchFamily="18" charset="0"/>
                            </a:rPr>
                            <m:t>𝑔</m:t>
                          </m:r>
                        </m:sub>
                        <m:sup>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𝑘</m:t>
                          </m:r>
                          <m:r>
                            <a:rPr lang="en-US" sz="1800" i="1">
                              <a:latin typeface="Cambria Math" panose="02040503050406030204" pitchFamily="18" charset="0"/>
                              <a:ea typeface="Cambria Math" panose="02040503050406030204" pitchFamily="18" charset="0"/>
                            </a:rPr>
                            <m:t>)</m:t>
                          </m:r>
                        </m:sup>
                      </m:sSubSup>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𝑐</m:t>
                          </m:r>
                        </m:e>
                        <m:sub>
                          <m:r>
                            <a:rPr lang="en-US" sz="1800" i="1">
                              <a:latin typeface="Cambria Math" panose="02040503050406030204" pitchFamily="18" charset="0"/>
                              <a:ea typeface="Cambria Math" panose="02040503050406030204" pitchFamily="18" charset="0"/>
                            </a:rPr>
                            <m:t>𝑏</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𝑐</m:t>
                          </m:r>
                        </m:e>
                        <m:sub>
                          <m:r>
                            <a:rPr lang="en-US" sz="1800" i="1">
                              <a:latin typeface="Cambria Math" panose="02040503050406030204" pitchFamily="18" charset="0"/>
                              <a:ea typeface="Cambria Math" panose="02040503050406030204" pitchFamily="18" charset="0"/>
                            </a:rPr>
                            <m:t>𝑡</m:t>
                          </m:r>
                        </m:sub>
                      </m:sSub>
                      <m:r>
                        <a:rPr lang="en-US" sz="1800" i="1">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nary>
                            <m:naryPr>
                              <m:chr m:val="∑"/>
                              <m:limLoc m:val="undOvr"/>
                              <m:supHide m:val="on"/>
                              <m:ctrlPr>
                                <a:rPr lang="en-US" sz="1800" i="1">
                                  <a:latin typeface="Cambria Math" panose="02040503050406030204" pitchFamily="18" charset="0"/>
                                  <a:ea typeface="Cambria Math" panose="02040503050406030204" pitchFamily="18" charset="0"/>
                                </a:rPr>
                              </m:ctrlPr>
                            </m:naryPr>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𝒰</m:t>
                                  </m:r>
                                </m:e>
                                <m:sub>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𝑐</m:t>
                                      </m:r>
                                    </m:e>
                                    <m:sub>
                                      <m:r>
                                        <a:rPr lang="en-US" sz="1800" i="1">
                                          <a:latin typeface="Cambria Math" panose="02040503050406030204" pitchFamily="18" charset="0"/>
                                          <a:ea typeface="Cambria Math" panose="02040503050406030204" pitchFamily="18" charset="0"/>
                                        </a:rPr>
                                        <m:t>𝑏</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𝑐</m:t>
                                      </m:r>
                                    </m:e>
                                    <m:sub>
                                      <m:r>
                                        <a:rPr lang="en-US" sz="1800" i="1">
                                          <a:latin typeface="Cambria Math" panose="02040503050406030204" pitchFamily="18" charset="0"/>
                                          <a:ea typeface="Cambria Math" panose="02040503050406030204" pitchFamily="18" charset="0"/>
                                        </a:rPr>
                                        <m:t>𝑡</m:t>
                                      </m:r>
                                    </m:sub>
                                  </m:sSub>
                                </m:sub>
                              </m:sSub>
                            </m:sub>
                            <m:sup/>
                            <m:e>
                              <m:r>
                                <a:rPr lang="en-US" sz="1800" i="1">
                                  <a:latin typeface="Cambria Math" panose="02040503050406030204" pitchFamily="18" charset="0"/>
                                  <a:ea typeface="Cambria Math" panose="02040503050406030204" pitchFamily="18" charset="0"/>
                                </a:rPr>
                                <m:t>𝟏</m:t>
                              </m:r>
                              <m:d>
                                <m:dPr>
                                  <m:begChr m:val="["/>
                                  <m:endChr m:val="]"/>
                                  <m:ctrlPr>
                                    <a:rPr lang="en-US" sz="1800" i="1">
                                      <a:latin typeface="Cambria Math" panose="02040503050406030204" pitchFamily="18" charset="0"/>
                                      <a:ea typeface="Cambria Math" panose="02040503050406030204" pitchFamily="18" charset="0"/>
                                    </a:rPr>
                                  </m:ctrlPr>
                                </m:dPr>
                                <m:e>
                                  <m:sSubSup>
                                    <m:sSubSupPr>
                                      <m:ctrlPr>
                                        <a:rPr lang="en-US" sz="1800" i="1">
                                          <a:latin typeface="Cambria Math" panose="02040503050406030204" pitchFamily="18" charset="0"/>
                                          <a:ea typeface="Cambria Math" panose="02040503050406030204" pitchFamily="18" charset="0"/>
                                        </a:rPr>
                                      </m:ctrlPr>
                                    </m:sSubSupPr>
                                    <m:e>
                                      <m:r>
                                        <m:rPr>
                                          <m:sty m:val="p"/>
                                        </m:rPr>
                                        <a:rPr lang="en-US" sz="1800" i="1">
                                          <a:latin typeface="Cambria Math" panose="02040503050406030204" pitchFamily="18" charset="0"/>
                                          <a:ea typeface="Cambria Math" panose="02040503050406030204" pitchFamily="18" charset="0"/>
                                        </a:rPr>
                                        <m:t>ℓ</m:t>
                                      </m:r>
                                    </m:e>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𝑐</m:t>
                                          </m:r>
                                        </m:e>
                                        <m:sub>
                                          <m:r>
                                            <a:rPr lang="en-US" sz="1800" i="1">
                                              <a:latin typeface="Cambria Math" panose="02040503050406030204" pitchFamily="18" charset="0"/>
                                              <a:ea typeface="Cambria Math" panose="02040503050406030204" pitchFamily="18" charset="0"/>
                                            </a:rPr>
                                            <m:t>𝑏</m:t>
                                          </m:r>
                                        </m:sub>
                                      </m:sSub>
                                    </m:sub>
                                    <m:sup>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𝑘</m:t>
                                      </m:r>
                                      <m:r>
                                        <a:rPr lang="en-US" sz="1800" i="1">
                                          <a:latin typeface="Cambria Math" panose="02040503050406030204" pitchFamily="18" charset="0"/>
                                          <a:ea typeface="Cambria Math" panose="02040503050406030204" pitchFamily="18" charset="0"/>
                                        </a:rPr>
                                        <m:t>)</m:t>
                                      </m:r>
                                    </m:sup>
                                  </m:sSubSup>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𝑔</m:t>
                                  </m:r>
                                  <m:r>
                                    <a:rPr lang="en-US" sz="1800" i="1">
                                      <a:latin typeface="Cambria Math" panose="02040503050406030204" pitchFamily="18" charset="0"/>
                                      <a:ea typeface="Cambria Math" panose="02040503050406030204" pitchFamily="18" charset="0"/>
                                    </a:rPr>
                                    <m:t>∧</m:t>
                                  </m:r>
                                  <m:sSubSup>
                                    <m:sSubSupPr>
                                      <m:ctrlPr>
                                        <a:rPr lang="en-US" sz="1800" i="1">
                                          <a:latin typeface="Cambria Math" panose="02040503050406030204" pitchFamily="18" charset="0"/>
                                          <a:ea typeface="Cambria Math" panose="02040503050406030204" pitchFamily="18" charset="0"/>
                                        </a:rPr>
                                      </m:ctrlPr>
                                    </m:sSubSupPr>
                                    <m:e>
                                      <m:r>
                                        <m:rPr>
                                          <m:sty m:val="p"/>
                                        </m:rPr>
                                        <a:rPr lang="en-US" sz="1800" i="1">
                                          <a:latin typeface="Cambria Math" panose="02040503050406030204" pitchFamily="18" charset="0"/>
                                          <a:ea typeface="Cambria Math" panose="02040503050406030204" pitchFamily="18" charset="0"/>
                                        </a:rPr>
                                        <m:t>ℓ</m:t>
                                      </m:r>
                                    </m:e>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𝑐</m:t>
                                          </m:r>
                                        </m:e>
                                        <m:sub>
                                          <m:r>
                                            <a:rPr lang="en-US" sz="1800" i="1">
                                              <a:latin typeface="Cambria Math" panose="02040503050406030204" pitchFamily="18" charset="0"/>
                                              <a:ea typeface="Cambria Math" panose="02040503050406030204" pitchFamily="18" charset="0"/>
                                            </a:rPr>
                                            <m:t>𝑡</m:t>
                                          </m:r>
                                        </m:sub>
                                      </m:sSub>
                                    </m:sub>
                                    <m:sup>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𝑘</m:t>
                                      </m:r>
                                      <m:r>
                                        <a:rPr lang="en-US" sz="1800" i="1">
                                          <a:latin typeface="Cambria Math" panose="02040503050406030204" pitchFamily="18" charset="0"/>
                                          <a:ea typeface="Cambria Math" panose="02040503050406030204" pitchFamily="18" charset="0"/>
                                        </a:rPr>
                                        <m:t>)</m:t>
                                      </m:r>
                                    </m:sup>
                                  </m:sSubSup>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𝑔</m:t>
                                  </m:r>
                                </m:e>
                              </m:d>
                            </m:e>
                          </m:nary>
                        </m:num>
                        <m:den>
                          <m:nary>
                            <m:naryPr>
                              <m:chr m:val="∑"/>
                              <m:limLoc m:val="undOvr"/>
                              <m:supHide m:val="on"/>
                              <m:ctrlPr>
                                <a:rPr lang="en-US" sz="1800" i="1">
                                  <a:latin typeface="Cambria Math" panose="02040503050406030204" pitchFamily="18" charset="0"/>
                                  <a:ea typeface="Cambria Math" panose="02040503050406030204" pitchFamily="18" charset="0"/>
                                </a:rPr>
                              </m:ctrlPr>
                            </m:naryPr>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𝒰</m:t>
                                  </m:r>
                                </m:e>
                                <m:sub>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𝑐</m:t>
                                      </m:r>
                                    </m:e>
                                    <m:sub>
                                      <m:r>
                                        <a:rPr lang="en-US" sz="1800" i="1">
                                          <a:latin typeface="Cambria Math" panose="02040503050406030204" pitchFamily="18" charset="0"/>
                                          <a:ea typeface="Cambria Math" panose="02040503050406030204" pitchFamily="18" charset="0"/>
                                        </a:rPr>
                                        <m:t>𝑏</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𝑐</m:t>
                                      </m:r>
                                    </m:e>
                                    <m:sub>
                                      <m:r>
                                        <a:rPr lang="en-US" sz="1800" i="1">
                                          <a:latin typeface="Cambria Math" panose="02040503050406030204" pitchFamily="18" charset="0"/>
                                          <a:ea typeface="Cambria Math" panose="02040503050406030204" pitchFamily="18" charset="0"/>
                                        </a:rPr>
                                        <m:t>𝑡</m:t>
                                      </m:r>
                                    </m:sub>
                                  </m:sSub>
                                </m:sub>
                              </m:sSub>
                            </m:sub>
                            <m:sup/>
                            <m:e>
                              <m:r>
                                <a:rPr lang="en-US" sz="1800" i="1">
                                  <a:latin typeface="Cambria Math" panose="02040503050406030204" pitchFamily="18" charset="0"/>
                                  <a:ea typeface="Cambria Math" panose="02040503050406030204" pitchFamily="18" charset="0"/>
                                </a:rPr>
                                <m:t>𝟏</m:t>
                              </m:r>
                              <m:d>
                                <m:dPr>
                                  <m:begChr m:val="["/>
                                  <m:endChr m:val="]"/>
                                  <m:ctrlPr>
                                    <a:rPr lang="en-US" sz="1800" i="1">
                                      <a:latin typeface="Cambria Math" panose="02040503050406030204" pitchFamily="18" charset="0"/>
                                      <a:ea typeface="Cambria Math" panose="02040503050406030204" pitchFamily="18" charset="0"/>
                                    </a:rPr>
                                  </m:ctrlPr>
                                </m:dPr>
                                <m:e>
                                  <m:sSubSup>
                                    <m:sSubSupPr>
                                      <m:ctrlPr>
                                        <a:rPr lang="en-US" sz="1800" i="1">
                                          <a:latin typeface="Cambria Math" panose="02040503050406030204" pitchFamily="18" charset="0"/>
                                          <a:ea typeface="Cambria Math" panose="02040503050406030204" pitchFamily="18" charset="0"/>
                                        </a:rPr>
                                      </m:ctrlPr>
                                    </m:sSubSupPr>
                                    <m:e>
                                      <m:r>
                                        <m:rPr>
                                          <m:sty m:val="p"/>
                                        </m:rPr>
                                        <a:rPr lang="en-US" sz="1800" i="1">
                                          <a:latin typeface="Cambria Math" panose="02040503050406030204" pitchFamily="18" charset="0"/>
                                          <a:ea typeface="Cambria Math" panose="02040503050406030204" pitchFamily="18" charset="0"/>
                                        </a:rPr>
                                        <m:t>ℓ</m:t>
                                      </m:r>
                                    </m:e>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𝑐</m:t>
                                          </m:r>
                                        </m:e>
                                        <m:sub>
                                          <m:r>
                                            <a:rPr lang="en-US" sz="1800" i="1">
                                              <a:latin typeface="Cambria Math" panose="02040503050406030204" pitchFamily="18" charset="0"/>
                                              <a:ea typeface="Cambria Math" panose="02040503050406030204" pitchFamily="18" charset="0"/>
                                            </a:rPr>
                                            <m:t>𝑏</m:t>
                                          </m:r>
                                        </m:sub>
                                      </m:sSub>
                                    </m:sub>
                                    <m:sup>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𝑘</m:t>
                                      </m:r>
                                      <m:r>
                                        <a:rPr lang="en-US" sz="1800" i="1">
                                          <a:latin typeface="Cambria Math" panose="02040503050406030204" pitchFamily="18" charset="0"/>
                                          <a:ea typeface="Cambria Math" panose="02040503050406030204" pitchFamily="18" charset="0"/>
                                        </a:rPr>
                                        <m:t>)</m:t>
                                      </m:r>
                                    </m:sup>
                                  </m:sSubSup>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𝑔</m:t>
                                  </m:r>
                                </m:e>
                              </m:d>
                            </m:e>
                          </m:nary>
                        </m:den>
                      </m:f>
                    </m:oMath>
                  </m:oMathPara>
                </a14:m>
                <a:endParaRPr lang="en-US" sz="1800" dirty="0"/>
              </a:p>
            </p:txBody>
          </p:sp>
        </mc:Choice>
        <mc:Fallback xmlns="">
          <p:sp>
            <p:nvSpPr>
              <p:cNvPr id="6" name="Equation 6"/>
              <p:cNvSpPr txBox="1">
                <a:spLocks noRot="1" noChangeAspect="1" noMove="1" noResize="1" noEditPoints="1" noAdjustHandles="1" noChangeArrowheads="1" noChangeShapeType="1" noTextEdit="1"/>
              </p:cNvSpPr>
              <p:nvPr/>
            </p:nvSpPr>
            <p:spPr>
              <a:xfrm>
                <a:off x="1003300" y="3175000"/>
                <a:ext cx="5334000" cy="1270000"/>
              </a:xfrm>
              <a:prstGeom prst="rect">
                <a:avLst/>
              </a:prstGeom>
              <a:blipFill>
                <a:blip r:embed="rId5"/>
                <a:stretch>
                  <a:fillRect t="-17000" b="-33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 name="Text 4"/>
              <p:cNvSpPr txBox="1"/>
              <p:nvPr/>
            </p:nvSpPr>
            <p:spPr>
              <a:xfrm>
                <a:off x="6400800" y="3429000"/>
                <a:ext cx="5212080" cy="1179575"/>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분모: 두 카테고리를 모두 이용한 </a:t>
                </a:r>
                <a:r>
                  <a:rPr lang="en-US" sz="14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사용자</a:t>
                </a: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sz="14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중</a:t>
                </a: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14:m>
                  <m:oMath xmlns:m="http://schemas.openxmlformats.org/officeDocument/2006/math">
                    <m:sSub>
                      <m:sSubPr>
                        <m:ctrlPr>
                          <a:rPr lang="en-US" altLang="ko-KR" sz="1400" i="1">
                            <a:solidFill>
                              <a:srgbClr val="1A1A1A"/>
                            </a:solidFill>
                            <a:latin typeface="Cambria Math" panose="02040503050406030204" pitchFamily="18" charset="0"/>
                            <a:ea typeface="Pretendard" panose="02000503000000020004" pitchFamily="2" charset="-127"/>
                            <a:cs typeface="Pretendard" panose="02000503000000020004" pitchFamily="2" charset="-127"/>
                          </a:rPr>
                        </m:ctrlPr>
                      </m:sSubPr>
                      <m:e>
                        <m:r>
                          <a:rPr lang="en-US" altLang="ko-KR" sz="1400" i="1">
                            <a:solidFill>
                              <a:srgbClr val="1A1A1A"/>
                            </a:solidFill>
                            <a:latin typeface="Cambria Math" panose="02040503050406030204" pitchFamily="18" charset="0"/>
                            <a:ea typeface="Pretendard" panose="02000503000000020004" pitchFamily="2" charset="-127"/>
                            <a:cs typeface="Pretendard" panose="02000503000000020004" pitchFamily="2" charset="-127"/>
                          </a:rPr>
                          <m:t>𝐶</m:t>
                        </m:r>
                      </m:e>
                      <m:sub>
                        <m:r>
                          <a:rPr lang="en-US" altLang="ko-KR" sz="1400" i="1">
                            <a:solidFill>
                              <a:srgbClr val="1A1A1A"/>
                            </a:solidFill>
                            <a:latin typeface="Cambria Math" panose="02040503050406030204" pitchFamily="18" charset="0"/>
                            <a:ea typeface="Pretendard" panose="02000503000000020004" pitchFamily="2" charset="-127"/>
                            <a:cs typeface="Pretendard" panose="02000503000000020004" pitchFamily="2" charset="-127"/>
                          </a:rPr>
                          <m:t>𝑏</m:t>
                        </m:r>
                      </m:sub>
                    </m:sSub>
                    <m:r>
                      <a:rPr lang="en-US" altLang="ko-KR" sz="1400" i="1">
                        <a:solidFill>
                          <a:srgbClr val="1A1A1A"/>
                        </a:solidFill>
                        <a:latin typeface="Cambria Math" panose="02040503050406030204" pitchFamily="18" charset="0"/>
                        <a:ea typeface="Pretendard" panose="02000503000000020004" pitchFamily="2" charset="-127"/>
                        <a:cs typeface="Pretendard" panose="02000503000000020004" pitchFamily="2" charset="-127"/>
                      </a:rPr>
                      <m:t> </m:t>
                    </m:r>
                  </m:oMath>
                </a14:m>
                <a:r>
                  <a:rPr lang="en-US" sz="14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에서</a:t>
                </a: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14:m>
                  <m:oMath xmlns:m="http://schemas.openxmlformats.org/officeDocument/2006/math">
                    <m:r>
                      <a:rPr lang="en-US" altLang="ko-KR" sz="1400" i="1">
                        <a:solidFill>
                          <a:srgbClr val="1A1A1A"/>
                        </a:solidFill>
                        <a:latin typeface="Cambria Math" panose="02040503050406030204" pitchFamily="18" charset="0"/>
                        <a:ea typeface="Pretendard" panose="02000503000000020004" pitchFamily="2" charset="-127"/>
                        <a:cs typeface="Pretendard" panose="02000503000000020004" pitchFamily="2" charset="-127"/>
                      </a:rPr>
                      <m:t>𝑔</m:t>
                    </m:r>
                  </m:oMath>
                </a14:m>
                <a:r>
                  <a:rPr lang="en-US" sz="14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인</a:t>
                </a: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사람</a:t>
                </a:r>
              </a:p>
              <a:p>
                <a:pPr marL="190500" indent="-190500">
                  <a:spcAft>
                    <a:spcPts val="600"/>
                  </a:spcAft>
                  <a:buSzPct val="100000"/>
                  <a:buFontTx/>
                  <a:buChar char="•"/>
                </a:pPr>
                <a:r>
                  <a:rPr lang="ko-KR" alt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분자 </a:t>
                </a:r>
                <a:r>
                  <a:rPr lang="en-US" altLang="ko-KR"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altLang="ko-KR"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Target </a:t>
                </a:r>
                <a:r>
                  <a:rPr lang="ko-KR" alt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카테고리 </a:t>
                </a:r>
                <a14:m>
                  <m:oMath xmlns:m="http://schemas.openxmlformats.org/officeDocument/2006/math">
                    <m:sSub>
                      <m:sSubPr>
                        <m:ctrlPr>
                          <a:rPr lang="en-US" altLang="ko-KR" sz="1600" i="1">
                            <a:solidFill>
                              <a:srgbClr val="1A1A1A"/>
                            </a:solidFill>
                            <a:latin typeface="Cambria Math" panose="02040503050406030204" pitchFamily="18" charset="0"/>
                            <a:ea typeface="Pretendard" panose="02000503000000020004" pitchFamily="2" charset="-127"/>
                            <a:cs typeface="Pretendard" panose="02000503000000020004" pitchFamily="2" charset="-127"/>
                          </a:rPr>
                        </m:ctrlPr>
                      </m:sSubPr>
                      <m:e>
                        <m:r>
                          <a:rPr lang="en-US" altLang="ko-KR" sz="1600" i="1">
                            <a:solidFill>
                              <a:srgbClr val="1A1A1A"/>
                            </a:solidFill>
                            <a:latin typeface="Cambria Math" panose="02040503050406030204" pitchFamily="18" charset="0"/>
                            <a:ea typeface="Pretendard" panose="02000503000000020004" pitchFamily="2" charset="-127"/>
                            <a:cs typeface="Pretendard" panose="02000503000000020004" pitchFamily="2" charset="-127"/>
                          </a:rPr>
                          <m:t>𝐶</m:t>
                        </m:r>
                      </m:e>
                      <m:sub>
                        <m:r>
                          <a:rPr lang="en-US" altLang="ko-KR" sz="1600" b="0" i="1" smtClean="0">
                            <a:solidFill>
                              <a:srgbClr val="1A1A1A"/>
                            </a:solidFill>
                            <a:latin typeface="Cambria Math" panose="02040503050406030204" pitchFamily="18" charset="0"/>
                            <a:ea typeface="Pretendard" panose="02000503000000020004" pitchFamily="2" charset="-127"/>
                            <a:cs typeface="Pretendard" panose="02000503000000020004" pitchFamily="2" charset="-127"/>
                          </a:rPr>
                          <m:t>𝑡</m:t>
                        </m:r>
                      </m:sub>
                    </m:sSub>
                  </m:oMath>
                </a14:m>
                <a:r>
                  <a:rPr lang="ko-KR" altLang="en-US" sz="1500" dirty="0"/>
                  <a:t>에서도 </a:t>
                </a:r>
                <a14:m>
                  <m:oMath xmlns:m="http://schemas.openxmlformats.org/officeDocument/2006/math">
                    <m:r>
                      <a:rPr lang="en-US" altLang="ko-KR" sz="1600" i="1">
                        <a:solidFill>
                          <a:srgbClr val="1A1A1A"/>
                        </a:solidFill>
                        <a:latin typeface="Cambria Math" panose="02040503050406030204" pitchFamily="18" charset="0"/>
                        <a:ea typeface="Pretendard" panose="02000503000000020004" pitchFamily="2" charset="-127"/>
                        <a:cs typeface="Pretendard" panose="02000503000000020004" pitchFamily="2" charset="-127"/>
                      </a:rPr>
                      <m:t>𝑔</m:t>
                    </m:r>
                  </m:oMath>
                </a14:m>
                <a:r>
                  <a:rPr lang="en-US" altLang="ko-KR" sz="16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인</a:t>
                </a:r>
                <a:r>
                  <a:rPr lang="en-US" altLang="ko-KR"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사람</a:t>
                </a:r>
                <a:endParaRPr lang="en-US" sz="1500" dirty="0"/>
              </a:p>
              <a:p>
                <a:pPr marL="190500" indent="-190500">
                  <a:spcAft>
                    <a:spcPts val="600"/>
                  </a:spcAft>
                  <a:buSzPct val="100000"/>
                  <a:buChar char="•"/>
                </a:pPr>
                <a:r>
                  <a:rPr lang="en-US" sz="14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비대칭</a:t>
                </a: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sz="14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A→B와</a:t>
                </a: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sz="14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B→A의</a:t>
                </a: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sz="14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값이</a:t>
                </a: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sz="14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다름</a:t>
                </a: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sz="14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분모가</a:t>
                </a: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sz="14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다르기</a:t>
                </a: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sz="14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때문</a:t>
                </a: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t>
                </a:r>
                <a:endParaRPr lang="en-US" sz="1500" dirty="0"/>
              </a:p>
              <a:p>
                <a:pPr marL="190500" indent="-190500">
                  <a:spcAft>
                    <a:spcPts val="600"/>
                  </a:spcAft>
                  <a:buSzPct val="100000"/>
                  <a:buChar char="•"/>
                </a:pPr>
                <a:r>
                  <a:rPr lang="en-US" sz="1400" dirty="0" err="1">
                    <a:solidFill>
                      <a:srgbClr val="0E8F8A"/>
                    </a:solidFill>
                    <a:latin typeface="Pretendard" panose="02000503000000020004" pitchFamily="2" charset="-127"/>
                    <a:ea typeface="Pretendard" panose="02000503000000020004" pitchFamily="2" charset="-127"/>
                    <a:cs typeface="Pretendard" panose="02000503000000020004" pitchFamily="2" charset="-127"/>
                  </a:rPr>
                  <a:t>값이</a:t>
                </a:r>
                <a:r>
                  <a:rPr lang="en-US" sz="14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 낮을수록 IDH가 강함</a:t>
                </a:r>
                <a:endParaRPr lang="en-US" sz="1500" dirty="0"/>
              </a:p>
            </p:txBody>
          </p:sp>
        </mc:Choice>
        <mc:Fallback xmlns="">
          <p:sp>
            <p:nvSpPr>
              <p:cNvPr id="7" name="Text 4"/>
              <p:cNvSpPr txBox="1">
                <a:spLocks noRot="1" noChangeAspect="1" noMove="1" noResize="1" noEditPoints="1" noAdjustHandles="1" noChangeArrowheads="1" noChangeShapeType="1" noTextEdit="1"/>
              </p:cNvSpPr>
              <p:nvPr/>
            </p:nvSpPr>
            <p:spPr>
              <a:xfrm>
                <a:off x="6400800" y="3429000"/>
                <a:ext cx="5212080" cy="1179575"/>
              </a:xfrm>
              <a:prstGeom prst="rect">
                <a:avLst/>
              </a:prstGeom>
              <a:blipFill>
                <a:blip r:embed="rId6"/>
                <a:stretch>
                  <a:fillRect l="-2190" t="-5376" b="-3226"/>
                </a:stretch>
              </a:blipFill>
              <a:ln/>
            </p:spPr>
            <p:txBody>
              <a:bodyPr/>
              <a:lstStyle/>
              <a:p>
                <a:r>
                  <a:rPr lang="ko-KR" altLang="en-US">
                    <a:noFill/>
                  </a:rPr>
                  <a:t> </a:t>
                </a:r>
              </a:p>
            </p:txBody>
          </p:sp>
        </mc:Fallback>
      </mc:AlternateContent>
      <p:sp>
        <p:nvSpPr>
          <p:cNvPr id="8" name="Text 5"/>
          <p:cNvSpPr txBox="1"/>
          <p:nvPr/>
        </p:nvSpPr>
        <p:spPr>
          <a:xfrm>
            <a:off x="640080" y="5870448"/>
            <a:ext cx="10972800" cy="228600"/>
          </a:xfrm>
          <a:prstGeom prst="rect">
            <a:avLst/>
          </a:prstGeom>
          <a:noFill/>
          <a:ln/>
        </p:spPr>
        <p:txBody>
          <a:bodyPr wrap="square" lIns="0" tIns="0" rIns="0" bIns="0" rtlCol="0" anchor="ctr"/>
          <a:lstStyle/>
          <a:p>
            <a:pPr marL="0" indent="0">
              <a:buNone/>
            </a:pPr>
            <a:r>
              <a:rPr lang="en-US" sz="95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Eq.(3), Kang &amp; Lee, KDD 2026, Section 2</a:t>
            </a:r>
            <a:endParaRPr lang="en-US" sz="950" dirty="0"/>
          </a:p>
        </p:txBody>
      </p:sp>
      <p:sp>
        <p:nvSpPr>
          <p:cNvPr id="9" name="TextBox 8">
            <a:extLst>
              <a:ext uri="{FF2B5EF4-FFF2-40B4-BE49-F238E27FC236}">
                <a16:creationId xmlns:a16="http://schemas.microsoft.com/office/drawing/2014/main" id="{9CF2683E-0155-DB21-3942-B75D2BBFE156}"/>
              </a:ext>
            </a:extLst>
          </p:cNvPr>
          <p:cNvSpPr txBox="1"/>
          <p:nvPr/>
        </p:nvSpPr>
        <p:spPr>
          <a:xfrm>
            <a:off x="640080" y="4625848"/>
            <a:ext cx="5194051" cy="369332"/>
          </a:xfrm>
          <a:prstGeom prst="rect">
            <a:avLst/>
          </a:prstGeom>
          <a:noFill/>
        </p:spPr>
        <p:txBody>
          <a:bodyPr wrap="none" rtlCol="0">
            <a:spAutoFit/>
          </a:bodyPr>
          <a:lstStyle/>
          <a:p>
            <a:r>
              <a:rPr lang="ko-KR" altLang="ko-KR" dirty="0"/>
              <a:t>정의: </a:t>
            </a:r>
            <a:r>
              <a:rPr lang="ko-KR" altLang="ko-KR" dirty="0" err="1"/>
              <a:t>A에서</a:t>
            </a:r>
            <a:r>
              <a:rPr lang="ko-KR" altLang="ko-KR" dirty="0"/>
              <a:t> </a:t>
            </a:r>
            <a:r>
              <a:rPr lang="ko-KR" altLang="ko-KR" dirty="0" err="1"/>
              <a:t>High였던</a:t>
            </a:r>
            <a:r>
              <a:rPr lang="ko-KR" altLang="ko-KR" dirty="0"/>
              <a:t> 사람 중 </a:t>
            </a:r>
            <a:r>
              <a:rPr lang="ko-KR" altLang="ko-KR" dirty="0" err="1"/>
              <a:t>B에서도</a:t>
            </a:r>
            <a:r>
              <a:rPr lang="ko-KR" altLang="ko-KR" dirty="0"/>
              <a:t> </a:t>
            </a:r>
            <a:r>
              <a:rPr lang="ko-KR" altLang="ko-KR" dirty="0" err="1"/>
              <a:t>High인</a:t>
            </a:r>
            <a:r>
              <a:rPr lang="ko-KR" altLang="ko-KR" dirty="0"/>
              <a:t> 비율</a:t>
            </a:r>
          </a:p>
        </p:txBody>
      </p:sp>
    </p:spTree>
    <p:extLst>
      <p:ext uri="{BB962C8B-B14F-4D97-AF65-F5344CB8AC3E}">
        <p14:creationId xmlns:p14="http://schemas.microsoft.com/office/powerpoint/2010/main" val="2975877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2. Motivation — Observations</a:t>
            </a:r>
            <a:endParaRPr lang="en-US" sz="2800" dirty="0"/>
          </a:p>
        </p:txBody>
      </p:sp>
      <p:sp>
        <p:nvSpPr>
          <p:cNvPr id="4" name="Text 1"/>
          <p:cNvSpPr txBox="1"/>
          <p:nvPr/>
        </p:nvSpPr>
        <p:spPr>
          <a:xfrm>
            <a:off x="640080" y="4937760"/>
            <a:ext cx="5023066" cy="274320"/>
          </a:xfrm>
          <a:prstGeom prst="rect">
            <a:avLst/>
          </a:prstGeom>
          <a:noFill/>
          <a:ln/>
        </p:spPr>
        <p:txBody>
          <a:bodyPr wrap="square" lIns="0" tIns="0" rIns="0" bIns="0" rtlCol="0" anchor="t"/>
          <a:lstStyle/>
          <a:p>
            <a:pPr marL="0" indent="0">
              <a:spcAft>
                <a:spcPts val="600"/>
              </a:spcAft>
              <a:buNone/>
            </a:pPr>
            <a:r>
              <a:rPr lang="en-US" sz="11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(a) Electronics · 가격 </a:t>
            </a:r>
            <a:r>
              <a:rPr lang="en-US" sz="1100" dirty="0" err="1">
                <a:solidFill>
                  <a:srgbClr val="6E7781"/>
                </a:solidFill>
                <a:latin typeface="Pretendard" panose="02000503000000020004" pitchFamily="2" charset="-127"/>
                <a:ea typeface="Pretendard" panose="02000503000000020004" pitchFamily="2" charset="-127"/>
                <a:cs typeface="Pretendard" panose="02000503000000020004" pitchFamily="2" charset="-127"/>
              </a:rPr>
              <a:t>기준</a:t>
            </a:r>
            <a:r>
              <a:rPr lang="en-US" sz="11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   (b) Sports · 인기 기준   위: High 유지 / </a:t>
            </a:r>
            <a:r>
              <a:rPr lang="en-US" sz="1100" dirty="0" err="1">
                <a:solidFill>
                  <a:srgbClr val="6E7781"/>
                </a:solidFill>
                <a:latin typeface="Pretendard" panose="02000503000000020004" pitchFamily="2" charset="-127"/>
                <a:ea typeface="Pretendard" panose="02000503000000020004" pitchFamily="2" charset="-127"/>
                <a:cs typeface="Pretendard" panose="02000503000000020004" pitchFamily="2" charset="-127"/>
              </a:rPr>
              <a:t>아래</a:t>
            </a:r>
            <a:r>
              <a:rPr lang="en-US" sz="11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1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 </a:t>
            </a:r>
            <a:r>
              <a:rPr lang="en-US" sz="11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 Low 유지</a:t>
            </a:r>
            <a:endParaRPr lang="en-US" sz="1100" dirty="0"/>
          </a:p>
        </p:txBody>
      </p:sp>
      <p:sp>
        <p:nvSpPr>
          <p:cNvPr id="5" name="Text 2"/>
          <p:cNvSpPr txBox="1"/>
          <p:nvPr/>
        </p:nvSpPr>
        <p:spPr>
          <a:xfrm>
            <a:off x="8128000" y="1371600"/>
            <a:ext cx="3479800" cy="1538868"/>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전반적으로 보존율이 낮음</a:t>
            </a:r>
            <a:endParaRPr lang="en-US" sz="1500" dirty="0"/>
          </a:p>
          <a:p>
            <a:pPr marL="190500" indent="-190500">
              <a:spcAft>
                <a:spcPts val="600"/>
              </a:spcAft>
              <a:buSzPct val="100000"/>
              <a:buChar char="•"/>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Electronics의 Car → GPS는 약 31%</a:t>
            </a:r>
            <a:endParaRPr lang="en-US" sz="1500" dirty="0"/>
          </a:p>
          <a:p>
            <a:pPr marL="190500" indent="-190500">
              <a:spcAft>
                <a:spcPts val="600"/>
              </a:spcAft>
              <a:buSzPct val="100000"/>
              <a:buChar char="•"/>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저가 선호 사용자가 고가 선호 사용자보다 보존율이 더 낮음</a:t>
            </a:r>
            <a:endParaRPr lang="en-US" sz="1500" dirty="0"/>
          </a:p>
          <a:p>
            <a:pPr marL="190500" indent="-190500">
              <a:spcAft>
                <a:spcPts val="600"/>
              </a:spcAft>
              <a:buSzPct val="100000"/>
              <a:buChar char="•"/>
            </a:pPr>
            <a:r>
              <a:rPr lang="en-US" sz="140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결론: 도메인 단위 벡터는 필연적으로 정보를 압축 → 전이 전에 기준별로 세밀하게 모델링해야 함</a:t>
            </a:r>
            <a:endParaRPr lang="en-US" sz="1500" dirty="0"/>
          </a:p>
        </p:txBody>
      </p:sp>
      <p:sp>
        <p:nvSpPr>
          <p:cNvPr id="7" name="Text 4"/>
          <p:cNvSpPr txBox="1"/>
          <p:nvPr/>
        </p:nvSpPr>
        <p:spPr>
          <a:xfrm>
            <a:off x="640080" y="5246607"/>
            <a:ext cx="10698480" cy="386836"/>
          </a:xfrm>
          <a:prstGeom prst="rect">
            <a:avLst/>
          </a:prstGeom>
          <a:noFill/>
          <a:ln/>
        </p:spPr>
        <p:txBody>
          <a:bodyPr wrap="square" lIns="0" tIns="0" rIns="0" bIns="0" rtlCol="0" anchor="ctr"/>
          <a:lstStyle/>
          <a:p>
            <a:pPr marL="0" indent="0">
              <a:spcAft>
                <a:spcPts val="600"/>
              </a:spcAft>
              <a:buNone/>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참고 (발표자 해석)  라벨이 3등분 기반이므로 선호가 카테고리와 무관하다면 보존율은 약 1/3(33%) 수준 → 31%는 </a:t>
            </a:r>
            <a:r>
              <a:rPr lang="en-US" sz="13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거의</a:t>
            </a: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en-US" sz="1300" dirty="0" err="1">
                <a:solidFill>
                  <a:srgbClr val="1A1A1A"/>
                </a:solidFill>
                <a:latin typeface="Pretendard" panose="02000503000000020004" pitchFamily="2" charset="-127"/>
                <a:ea typeface="Pretendard" panose="02000503000000020004" pitchFamily="2" charset="-127"/>
                <a:cs typeface="Pretendard" panose="02000503000000020004" pitchFamily="2" charset="-127"/>
              </a:rPr>
              <a:t>무작위</a:t>
            </a: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기준선</a:t>
            </a:r>
            <a:r>
              <a:rPr lang="en-US" altLang="ko-KR"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약 </a:t>
            </a:r>
            <a:r>
              <a:rPr lang="en-US" altLang="ko-KR"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1/3)</a:t>
            </a:r>
            <a:r>
              <a:rPr lang="ko-KR" alt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과 비교해 낮은 편</a:t>
            </a:r>
            <a:endParaRPr lang="en-US" sz="1300" dirty="0"/>
          </a:p>
        </p:txBody>
      </p:sp>
      <p:sp>
        <p:nvSpPr>
          <p:cNvPr id="8" name="Text 5"/>
          <p:cNvSpPr txBox="1"/>
          <p:nvPr/>
        </p:nvSpPr>
        <p:spPr>
          <a:xfrm>
            <a:off x="640080" y="5870448"/>
            <a:ext cx="10972800" cy="228600"/>
          </a:xfrm>
          <a:prstGeom prst="rect">
            <a:avLst/>
          </a:prstGeom>
          <a:noFill/>
          <a:ln/>
        </p:spPr>
        <p:txBody>
          <a:bodyPr wrap="square" lIns="0" tIns="0" rIns="0" bIns="0" rtlCol="0" anchor="ctr"/>
          <a:lstStyle/>
          <a:p>
            <a:pPr marL="0" indent="0">
              <a:buNone/>
            </a:pPr>
            <a:r>
              <a:rPr lang="en-US" sz="95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Figure 2, Kang &amp; Lee, KDD 2026 (p.3) · 다른 도메인 결과는 Figure 6 (Appendix B)</a:t>
            </a:r>
            <a:endParaRPr lang="en-US" sz="950" dirty="0"/>
          </a:p>
        </p:txBody>
      </p:sp>
      <p:pic>
        <p:nvPicPr>
          <p:cNvPr id="10" name="그림 9">
            <a:extLst>
              <a:ext uri="{FF2B5EF4-FFF2-40B4-BE49-F238E27FC236}">
                <a16:creationId xmlns:a16="http://schemas.microsoft.com/office/drawing/2014/main" id="{BE47BABF-6842-BFB5-302C-2937923FD195}"/>
              </a:ext>
            </a:extLst>
          </p:cNvPr>
          <p:cNvPicPr>
            <a:picLocks noChangeAspect="1"/>
          </p:cNvPicPr>
          <p:nvPr/>
        </p:nvPicPr>
        <p:blipFill>
          <a:blip r:embed="rId4"/>
          <a:stretch>
            <a:fillRect/>
          </a:stretch>
        </p:blipFill>
        <p:spPr>
          <a:xfrm>
            <a:off x="640080" y="1078769"/>
            <a:ext cx="7239000" cy="34487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3.1 Overview</a:t>
            </a:r>
            <a:endParaRPr lang="en-US" sz="2800" dirty="0"/>
          </a:p>
        </p:txBody>
      </p:sp>
      <p:sp>
        <p:nvSpPr>
          <p:cNvPr id="4" name="Text 1"/>
          <p:cNvSpPr txBox="1"/>
          <p:nvPr/>
        </p:nvSpPr>
        <p:spPr>
          <a:xfrm>
            <a:off x="8412480" y="1325880"/>
            <a:ext cx="3246120" cy="2377440"/>
          </a:xfrm>
          <a:prstGeom prst="rect">
            <a:avLst/>
          </a:prstGeom>
          <a:noFill/>
          <a:ln/>
        </p:spPr>
        <p:txBody>
          <a:bodyPr wrap="square" lIns="0" tIns="0" rIns="0" bIns="0" rtlCol="0" anchor="t"/>
          <a:lstStyle/>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설정</a:t>
            </a:r>
            <a:endParaRPr lang="en-US" sz="15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source 도메인, target 도메인, 두 도메인을 모두 이용한 overlapping users</a:t>
            </a:r>
            <a:endParaRPr lang="en-US" sz="15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목표: target 도메인 추천 정확도 향상 (특히 overlapping users)</a:t>
            </a:r>
            <a:endParaRPr lang="en-US" sz="15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아이템 메타데이터: 카테고리, 가격, 스토어 등</a:t>
            </a:r>
            <a:endParaRPr lang="en-US" sz="1500" dirty="0"/>
          </a:p>
        </p:txBody>
      </p:sp>
      <p:sp>
        <p:nvSpPr>
          <p:cNvPr id="5" name="Shape 2"/>
          <p:cNvSpPr/>
          <p:nvPr/>
        </p:nvSpPr>
        <p:spPr>
          <a:xfrm>
            <a:off x="8412480" y="3794760"/>
            <a:ext cx="3246120" cy="0"/>
          </a:xfrm>
          <a:prstGeom prst="line">
            <a:avLst/>
          </a:prstGeom>
          <a:noFill/>
          <a:ln w="9525">
            <a:solidFill>
              <a:srgbClr val="D9DDE1"/>
            </a:solidFill>
            <a:prstDash val="solid"/>
          </a:ln>
        </p:spPr>
        <p:txBody>
          <a:bodyPr/>
          <a:lstStyle/>
          <a:p>
            <a:endParaRPr lang="ko-KR" altLang="en-US"/>
          </a:p>
        </p:txBody>
      </p:sp>
      <p:sp>
        <p:nvSpPr>
          <p:cNvPr id="6" name="Text 3"/>
          <p:cNvSpPr txBox="1"/>
          <p:nvPr/>
        </p:nvSpPr>
        <p:spPr>
          <a:xfrm>
            <a:off x="8412480" y="3931920"/>
            <a:ext cx="3246120" cy="1737360"/>
          </a:xfrm>
          <a:prstGeom prst="rect">
            <a:avLst/>
          </a:prstGeom>
          <a:noFill/>
          <a:ln/>
        </p:spPr>
        <p:txBody>
          <a:bodyPr wrap="square" lIns="0" tIns="0" rIns="0" bIns="0" rtlCol="0" anchor="t"/>
          <a:lstStyle/>
          <a:p>
            <a:pPr marL="0" indent="0">
              <a:spcAft>
                <a:spcPts val="600"/>
              </a:spcAft>
              <a:buNone/>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전체 흐름</a:t>
            </a:r>
            <a:endParaRPr lang="en-US" sz="1300" dirty="0"/>
          </a:p>
          <a:p>
            <a:pPr marL="0" indent="0">
              <a:spcAft>
                <a:spcPts val="600"/>
              </a:spcAft>
              <a:buNone/>
            </a:pPr>
            <a:r>
              <a:rPr lang="en-US" sz="13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(P1) </a:t>
            </a: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source · target 각각에서 페르소나 벡터 생성</a:t>
            </a:r>
            <a:endParaRPr lang="en-US" sz="1300" dirty="0"/>
          </a:p>
          <a:p>
            <a:pPr marL="0" indent="0">
              <a:spcAft>
                <a:spcPts val="600"/>
              </a:spcAft>
              <a:buNone/>
            </a:pPr>
            <a:r>
              <a:rPr lang="en-US" sz="13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(P2) </a:t>
            </a: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도플갱어로 source 정보를 선별 전이</a:t>
            </a:r>
            <a:endParaRPr lang="en-US" sz="1300" dirty="0"/>
          </a:p>
          <a:p>
            <a:pPr marL="0" indent="0">
              <a:spcAft>
                <a:spcPts val="600"/>
              </a:spcAft>
              <a:buNone/>
            </a:pPr>
            <a:r>
              <a:rPr lang="en-US" sz="13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추천 </a:t>
            </a: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target 아이템과 매칭</a:t>
            </a:r>
            <a:endParaRPr lang="en-US" sz="1300" dirty="0"/>
          </a:p>
        </p:txBody>
      </p:sp>
      <p:sp>
        <p:nvSpPr>
          <p:cNvPr id="7" name="Text 4"/>
          <p:cNvSpPr txBox="1"/>
          <p:nvPr/>
        </p:nvSpPr>
        <p:spPr>
          <a:xfrm>
            <a:off x="640080" y="5870448"/>
            <a:ext cx="10972800" cy="228600"/>
          </a:xfrm>
          <a:prstGeom prst="rect">
            <a:avLst/>
          </a:prstGeom>
          <a:noFill/>
          <a:ln/>
        </p:spPr>
        <p:txBody>
          <a:bodyPr wrap="square" lIns="0" tIns="0" rIns="0" bIns="0" rtlCol="0" anchor="ctr"/>
          <a:lstStyle/>
          <a:p>
            <a:pPr marL="0" indent="0">
              <a:buNone/>
            </a:pPr>
            <a:r>
              <a:rPr lang="en-US" sz="95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Figure 3, Kang &amp; Lee, KDD 2026 (p.4)</a:t>
            </a:r>
            <a:endParaRPr lang="en-US" sz="950" dirty="0"/>
          </a:p>
        </p:txBody>
      </p:sp>
      <p:pic>
        <p:nvPicPr>
          <p:cNvPr id="9" name="그림 8">
            <a:extLst>
              <a:ext uri="{FF2B5EF4-FFF2-40B4-BE49-F238E27FC236}">
                <a16:creationId xmlns:a16="http://schemas.microsoft.com/office/drawing/2014/main" id="{8208232D-1036-50B3-1E60-EB57124F2F82}"/>
              </a:ext>
            </a:extLst>
          </p:cNvPr>
          <p:cNvPicPr>
            <a:picLocks noChangeAspect="1"/>
          </p:cNvPicPr>
          <p:nvPr/>
        </p:nvPicPr>
        <p:blipFill>
          <a:blip r:embed="rId4"/>
          <a:stretch>
            <a:fillRect/>
          </a:stretch>
        </p:blipFill>
        <p:spPr>
          <a:xfrm>
            <a:off x="216407" y="1694062"/>
            <a:ext cx="8055999" cy="350645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3.2 (P1) Step 1: User Persona Database</a:t>
            </a:r>
            <a:endParaRPr lang="en-US" sz="2800" dirty="0"/>
          </a:p>
        </p:txBody>
      </p:sp>
      <p:sp>
        <p:nvSpPr>
          <p:cNvPr id="3" name="Text 1"/>
          <p:cNvSpPr txBox="1"/>
          <p:nvPr/>
        </p:nvSpPr>
        <p:spPr>
          <a:xfrm>
            <a:off x="640080" y="1325880"/>
            <a:ext cx="10972800" cy="365760"/>
          </a:xfrm>
          <a:prstGeom prst="rect">
            <a:avLst/>
          </a:prstGeom>
          <a:noFill/>
          <a:ln/>
        </p:spPr>
        <p:txBody>
          <a:bodyPr wrap="square" lIns="0" tIns="0" rIns="0" bIns="0" rtlCol="0" anchor="t"/>
          <a:lstStyle/>
          <a:p>
            <a:pPr marL="0" indent="0">
              <a:spcAft>
                <a:spcPts val="600"/>
              </a:spcAft>
              <a:buNone/>
            </a:pPr>
            <a:r>
              <a:rPr lang="en-US" sz="15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P1은 source와 target에서 각각 독립적으로 수행 · 사용자 선호를 5개 기준으로 분해</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72800" cy="2743200"/>
        </p:xfrm>
        <a:graphic>
          <a:graphicData uri="http://schemas.openxmlformats.org/drawingml/2006/table">
            <a:tbl>
              <a:tblPr/>
              <a:tblGrid>
                <a:gridCol w="26517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457200">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기준</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의미</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측정 대상</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출처</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extLst>
                  <a:ext uri="{0D108BD9-81ED-4DB2-BD59-A6C34878D82A}">
                    <a16:rowId xmlns:a16="http://schemas.microsoft.com/office/drawing/2014/main" val="10000"/>
                  </a:ext>
                </a:extLst>
              </a:tr>
              <a:tr h="457200">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PS  가격 민감도</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비싼 걸 사는가</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아이템 가격</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Section 2의 라벨 재사용</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QP  품질 선호</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평점 높은 걸 사는가</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평균 평점</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Section 2의 라벨 재사용</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PB  인기 편향</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인기 있는 걸 사는가</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상호작용 수</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Section 2의 라벨 재사용</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b="0" i="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CD  카테고리 다양성</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얼마나 넓게 사는가</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이용한 카테고리 수</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새로 정의</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400" b="0" i="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CF  카테고리 친숙도</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한 카테고리를 얼마나 깊게 사는가</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카테고리 내 상호작용 수</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400" b="0" i="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새로 정의</a:t>
                      </a:r>
                      <a:endParaRPr lang="en-US" sz="14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640080" y="4846320"/>
            <a:ext cx="10972800" cy="777240"/>
          </a:xfrm>
          <a:prstGeom prst="rect">
            <a:avLst/>
          </a:prstGeom>
          <a:solidFill>
            <a:srgbClr val="E9F7F6">
              <a:alpha val="50000"/>
            </a:srgbClr>
          </a:solidFill>
          <a:ln w="12700">
            <a:solidFill>
              <a:srgbClr val="E9F7F6"/>
            </a:solidFill>
            <a:prstDash val="solid"/>
          </a:ln>
        </p:spPr>
        <p:txBody>
          <a:bodyPr/>
          <a:lstStyle/>
          <a:p>
            <a:endParaRPr lang="ko-KR" altLang="en-US"/>
          </a:p>
        </p:txBody>
      </p:sp>
      <p:sp>
        <p:nvSpPr>
          <p:cNvPr id="6" name="Text 3"/>
          <p:cNvSpPr txBox="1"/>
          <p:nvPr/>
        </p:nvSpPr>
        <p:spPr>
          <a:xfrm>
            <a:off x="868680" y="4846320"/>
            <a:ext cx="10607040" cy="777240"/>
          </a:xfrm>
          <a:prstGeom prst="rect">
            <a:avLst/>
          </a:prstGeom>
          <a:noFill/>
          <a:ln/>
        </p:spPr>
        <p:txBody>
          <a:bodyPr wrap="square" lIns="0" tIns="0" rIns="0" bIns="0" rtlCol="0" anchor="ctr"/>
          <a:lstStyle/>
          <a:p>
            <a:pPr marL="0" indent="0">
              <a:spcAft>
                <a:spcPts val="600"/>
              </a:spcAft>
              <a:buNone/>
            </a:pPr>
            <a:r>
              <a:rPr lang="en-US" sz="150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왜 이 5개인가?  </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가격 · 평점 · 카테고리는 어느 이커머스에나 있는 메타데이터 → 추가 피처나 수작업 없이 다른 도메인으로 일반화 가능</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3.2 (P1) Step 1: Category Diversity · Familiarity · Persona DB</a:t>
            </a:r>
            <a:endParaRPr lang="en-US" sz="2800" dirty="0"/>
          </a:p>
        </p:txBody>
      </p:sp>
      <p:sp>
        <p:nvSpPr>
          <p:cNvPr id="3" name="Text 1"/>
          <p:cNvSpPr txBox="1"/>
          <p:nvPr/>
        </p:nvSpPr>
        <p:spPr>
          <a:xfrm>
            <a:off x="640080" y="1325880"/>
            <a:ext cx="5486400" cy="685800"/>
          </a:xfrm>
          <a:prstGeom prst="rect">
            <a:avLst/>
          </a:prstGeom>
          <a:noFill/>
          <a:ln/>
        </p:spPr>
        <p:txBody>
          <a:bodyPr wrap="square" lIns="0" tIns="0" rIns="0" bIns="0" rtlCol="0" anchor="t"/>
          <a:lstStyle/>
          <a:p>
            <a:pPr marL="0" indent="0">
              <a:spcAft>
                <a:spcPts val="600"/>
              </a:spcAft>
              <a:buNone/>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CD 카테고리 다양성 (Eq.4–5)</a:t>
            </a:r>
            <a:endParaRPr lang="en-US" sz="1500" dirty="0"/>
          </a:p>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한 도메인에서 이용한 서로 다른 카테고리의 수</a:t>
            </a:r>
            <a:endParaRPr lang="en-US" sz="1500" dirty="0"/>
          </a:p>
        </p:txBody>
      </p:sp>
      <mc:AlternateContent xmlns:mc="http://schemas.openxmlformats.org/markup-compatibility/2006" xmlns:a14="http://schemas.microsoft.com/office/drawing/2010/main">
        <mc:Choice Requires="a14">
          <p:sp>
            <p:nvSpPr>
              <p:cNvPr id="4" name="Equation 4"/>
              <p:cNvSpPr txBox="1"/>
              <p:nvPr/>
            </p:nvSpPr>
            <p:spPr>
              <a:xfrm>
                <a:off x="736600" y="1930400"/>
                <a:ext cx="3810000" cy="635000"/>
              </a:xfrm>
              <a:prstGeom prst="rect">
                <a:avLst/>
              </a:prstGeom>
              <a:noFill/>
            </p:spPr>
            <p:txBody>
              <a:bodyPr wrap="none" lIns="91440" rtlCol="0" anchor="ctr"/>
              <a:lstStyle/>
              <a:p>
                <a:pPr/>
                <a14:m>
                  <m:oMathPara xmlns:m="http://schemas.openxmlformats.org/officeDocument/2006/math">
                    <m:oMathParaPr>
                      <m:jc m:val="left"/>
                    </m:oMathParaPr>
                    <m:oMath>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𝑥</m:t>
                          </m:r>
                        </m:e>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𝑑</m:t>
                          </m:r>
                        </m:sub>
                      </m:sSub>
                      <m:r>
                        <a:rPr lang="en-US" sz="1800" i="1">
                          <a:latin typeface="Cambria Math" panose="02040503050406030204" pitchFamily="18" charset="0"/>
                          <a:ea typeface="Cambria Math" panose="02040503050406030204" pitchFamily="18" charset="0"/>
                        </a:rPr>
                        <m:t>=</m:t>
                      </m:r>
                      <m:d>
                        <m:dPr>
                          <m:begChr m:val="|"/>
                          <m:endChr m:val="|"/>
                          <m:ctrlPr>
                            <a:rPr lang="en-US" sz="1800" i="1">
                              <a:latin typeface="Cambria Math" panose="02040503050406030204" pitchFamily="18" charset="0"/>
                              <a:ea typeface="Cambria Math" panose="02040503050406030204" pitchFamily="18" charset="0"/>
                            </a:rPr>
                          </m:ctrlPr>
                        </m:dPr>
                        <m:e>
                          <m:d>
                            <m:dPr>
                              <m:begChr m:val="{"/>
                              <m:endChr m:val="}"/>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𝑐</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𝑖</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𝑖</m:t>
                              </m:r>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ℐ</m:t>
                                  </m:r>
                                </m:e>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𝑑</m:t>
                                  </m:r>
                                </m:sub>
                              </m:sSub>
                            </m:e>
                          </m:d>
                        </m:e>
                      </m:d>
                    </m:oMath>
                  </m:oMathPara>
                </a14:m>
                <a:endParaRPr lang="en-US" sz="1800" dirty="0"/>
              </a:p>
            </p:txBody>
          </p:sp>
        </mc:Choice>
        <mc:Fallback xmlns="">
          <p:sp>
            <p:nvSpPr>
              <p:cNvPr id="4" name="Equation 4"/>
              <p:cNvSpPr txBox="1">
                <a:spLocks noRot="1" noChangeAspect="1" noMove="1" noResize="1" noEditPoints="1" noAdjustHandles="1" noChangeArrowheads="1" noChangeShapeType="1" noTextEdit="1"/>
              </p:cNvSpPr>
              <p:nvPr/>
            </p:nvSpPr>
            <p:spPr>
              <a:xfrm>
                <a:off x="736600" y="1930400"/>
                <a:ext cx="3810000" cy="635000"/>
              </a:xfrm>
              <a:prstGeom prst="rect">
                <a:avLst/>
              </a:prstGeom>
              <a:blipFill>
                <a:blip r:embed="rId4"/>
                <a:stretch>
                  <a:fillRect/>
                </a:stretch>
              </a:blipFill>
            </p:spPr>
            <p:txBody>
              <a:bodyPr/>
              <a:lstStyle/>
              <a:p>
                <a:r>
                  <a:rPr lang="ko-KR" altLang="en-US">
                    <a:noFill/>
                  </a:rPr>
                  <a:t> </a:t>
                </a:r>
              </a:p>
            </p:txBody>
          </p:sp>
        </mc:Fallback>
      </mc:AlternateContent>
      <p:sp>
        <p:nvSpPr>
          <p:cNvPr id="5" name="Text 2"/>
          <p:cNvSpPr txBox="1"/>
          <p:nvPr/>
        </p:nvSpPr>
        <p:spPr>
          <a:xfrm>
            <a:off x="640080" y="2560320"/>
            <a:ext cx="5486400" cy="73152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전체 사용자 대비 3등분 → Low / Medium / High</a:t>
            </a:r>
            <a:endParaRPr lang="en-US" sz="15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도메인당 값이 1개 (카테고리별로 따로 없음)</a:t>
            </a:r>
            <a:endParaRPr lang="en-US" sz="1500" dirty="0"/>
          </a:p>
        </p:txBody>
      </p:sp>
      <p:sp>
        <p:nvSpPr>
          <p:cNvPr id="6" name="Shape 3"/>
          <p:cNvSpPr/>
          <p:nvPr/>
        </p:nvSpPr>
        <p:spPr>
          <a:xfrm>
            <a:off x="640080" y="3429000"/>
            <a:ext cx="5486400" cy="0"/>
          </a:xfrm>
          <a:prstGeom prst="line">
            <a:avLst/>
          </a:prstGeom>
          <a:noFill/>
          <a:ln w="9525">
            <a:solidFill>
              <a:srgbClr val="D9DDE1"/>
            </a:solidFill>
            <a:prstDash val="solid"/>
          </a:ln>
        </p:spPr>
        <p:txBody>
          <a:bodyPr/>
          <a:lstStyle/>
          <a:p>
            <a:endParaRPr lang="ko-KR" altLang="en-US"/>
          </a:p>
        </p:txBody>
      </p:sp>
      <p:sp>
        <p:nvSpPr>
          <p:cNvPr id="7" name="Text 4"/>
          <p:cNvSpPr txBox="1"/>
          <p:nvPr/>
        </p:nvSpPr>
        <p:spPr>
          <a:xfrm>
            <a:off x="640080" y="3566160"/>
            <a:ext cx="5486400" cy="685800"/>
          </a:xfrm>
          <a:prstGeom prst="rect">
            <a:avLst/>
          </a:prstGeom>
          <a:noFill/>
          <a:ln/>
        </p:spPr>
        <p:txBody>
          <a:bodyPr wrap="square" lIns="0" tIns="0" rIns="0" bIns="0" rtlCol="0" anchor="t"/>
          <a:lstStyle/>
          <a:p>
            <a:pPr marL="0" indent="0">
              <a:spcAft>
                <a:spcPts val="600"/>
              </a:spcAft>
              <a:buNone/>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CF 카테고리 친숙도 (Eq.6–7)</a:t>
            </a:r>
            <a:endParaRPr lang="en-US" sz="1500" dirty="0"/>
          </a:p>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카테고리 내 상호작용 수를 같은 카테고리 이용자들과 비교해 3등분</a:t>
            </a:r>
            <a:endParaRPr lang="en-US" sz="1500" dirty="0"/>
          </a:p>
        </p:txBody>
      </p:sp>
      <mc:AlternateContent xmlns:mc="http://schemas.openxmlformats.org/markup-compatibility/2006" xmlns:a14="http://schemas.microsoft.com/office/drawing/2010/main">
        <mc:Choice Requires="a14">
          <p:sp>
            <p:nvSpPr>
              <p:cNvPr id="8" name="Equation 8"/>
              <p:cNvSpPr txBox="1"/>
              <p:nvPr/>
            </p:nvSpPr>
            <p:spPr>
              <a:xfrm>
                <a:off x="736600" y="4191000"/>
                <a:ext cx="5588000" cy="609600"/>
              </a:xfrm>
              <a:prstGeom prst="rect">
                <a:avLst/>
              </a:prstGeom>
              <a:noFill/>
            </p:spPr>
            <p:txBody>
              <a:bodyPr wrap="none" lIns="91440" rtlCol="0" anchor="ctr"/>
              <a:lstStyle/>
              <a:p>
                <a:pPr/>
                <a14:m>
                  <m:oMathPara xmlns:m="http://schemas.openxmlformats.org/officeDocument/2006/math">
                    <m:oMathParaPr>
                      <m:jc m:val="left"/>
                    </m:oMathParaPr>
                    <m:oMath>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𝑄</m:t>
                          </m:r>
                        </m:e>
                        <m:sub>
                          <m:r>
                            <a:rPr lang="en-US" sz="1800" i="1">
                              <a:latin typeface="Cambria Math" panose="02040503050406030204" pitchFamily="18" charset="0"/>
                              <a:ea typeface="Cambria Math" panose="02040503050406030204" pitchFamily="18" charset="0"/>
                            </a:rPr>
                            <m:t>𝑐</m:t>
                          </m:r>
                        </m:sub>
                      </m:sSub>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𝑞</m:t>
                      </m:r>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m:rPr>
                              <m:sty m:val="p"/>
                            </m:rPr>
                            <a:rPr lang="en-US" sz="1800" i="1">
                              <a:latin typeface="Cambria Math" panose="02040503050406030204" pitchFamily="18" charset="0"/>
                              <a:ea typeface="Cambria Math" panose="02040503050406030204" pitchFamily="18" charset="0"/>
                            </a:rPr>
                            <m:t>Quantile</m:t>
                          </m:r>
                        </m:e>
                        <m:sub>
                          <m:r>
                            <a:rPr lang="en-US" sz="1800" i="1">
                              <a:latin typeface="Cambria Math" panose="02040503050406030204" pitchFamily="18" charset="0"/>
                              <a:ea typeface="Cambria Math" panose="02040503050406030204" pitchFamily="18" charset="0"/>
                            </a:rPr>
                            <m:t>𝑞</m:t>
                          </m:r>
                        </m:sub>
                      </m:sSub>
                      <m:d>
                        <m:dPr>
                          <m:ctrlPr>
                            <a:rPr lang="en-US" sz="1800" i="1">
                              <a:latin typeface="Cambria Math" panose="02040503050406030204" pitchFamily="18" charset="0"/>
                              <a:ea typeface="Cambria Math" panose="02040503050406030204" pitchFamily="18" charset="0"/>
                            </a:rPr>
                          </m:ctrlPr>
                        </m:dPr>
                        <m:e>
                          <m:d>
                            <m:dPr>
                              <m:begChr m:val="{"/>
                              <m:endChr m:val="}"/>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ℰ</m:t>
                                  </m:r>
                                </m:e>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𝑐</m:t>
                                  </m:r>
                                </m:sub>
                              </m:sSub>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𝒰</m:t>
                                  </m:r>
                                </m:e>
                                <m:sub>
                                  <m:r>
                                    <a:rPr lang="en-US" sz="1800" i="1">
                                      <a:latin typeface="Cambria Math" panose="02040503050406030204" pitchFamily="18" charset="0"/>
                                      <a:ea typeface="Cambria Math" panose="02040503050406030204" pitchFamily="18" charset="0"/>
                                    </a:rPr>
                                    <m:t>𝑐</m:t>
                                  </m:r>
                                </m:sub>
                              </m:sSub>
                            </m:e>
                          </m:d>
                        </m:e>
                      </m:d>
                      <m:r>
                        <a:rPr lang="en-US" sz="1800" i="1">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𝑞</m:t>
                      </m:r>
                      <m:r>
                        <a:rPr lang="en-US" sz="1800" i="1">
                          <a:latin typeface="Cambria Math" panose="02040503050406030204" pitchFamily="18" charset="0"/>
                          <a:ea typeface="Cambria Math" panose="02040503050406030204" pitchFamily="18" charset="0"/>
                        </a:rPr>
                        <m:t>∈{1/3,2/3}</m:t>
                      </m:r>
                    </m:oMath>
                  </m:oMathPara>
                </a14:m>
                <a:endParaRPr lang="en-US" sz="1800" dirty="0"/>
              </a:p>
            </p:txBody>
          </p:sp>
        </mc:Choice>
        <mc:Fallback xmlns="">
          <p:sp>
            <p:nvSpPr>
              <p:cNvPr id="8" name="Equation 8"/>
              <p:cNvSpPr txBox="1">
                <a:spLocks noRot="1" noChangeAspect="1" noMove="1" noResize="1" noEditPoints="1" noAdjustHandles="1" noChangeArrowheads="1" noChangeShapeType="1" noTextEdit="1"/>
              </p:cNvSpPr>
              <p:nvPr/>
            </p:nvSpPr>
            <p:spPr>
              <a:xfrm>
                <a:off x="736600" y="4191000"/>
                <a:ext cx="5588000" cy="609600"/>
              </a:xfrm>
              <a:prstGeom prst="rect">
                <a:avLst/>
              </a:prstGeom>
              <a:blipFill>
                <a:blip r:embed="rId5"/>
                <a:stretch>
                  <a:fillRect l="-227"/>
                </a:stretch>
              </a:blipFill>
            </p:spPr>
            <p:txBody>
              <a:bodyPr/>
              <a:lstStyle/>
              <a:p>
                <a:r>
                  <a:rPr lang="ko-KR" altLang="en-US">
                    <a:noFill/>
                  </a:rPr>
                  <a:t> </a:t>
                </a:r>
              </a:p>
            </p:txBody>
          </p:sp>
        </mc:Fallback>
      </mc:AlternateContent>
      <p:sp>
        <p:nvSpPr>
          <p:cNvPr id="9" name="Text 5"/>
          <p:cNvSpPr txBox="1"/>
          <p:nvPr/>
        </p:nvSpPr>
        <p:spPr>
          <a:xfrm>
            <a:off x="640080" y="4754880"/>
            <a:ext cx="5486400" cy="73152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카테고리별로 계산하는 이유: 카테고리마다 원래 구매 빈도가 다름 (소모품은 자주, 가구는 드물게)</a:t>
            </a:r>
            <a:endParaRPr lang="en-US" sz="1500" dirty="0"/>
          </a:p>
        </p:txBody>
      </p:sp>
      <p:sp>
        <p:nvSpPr>
          <p:cNvPr id="10" name="Text 6"/>
          <p:cNvSpPr txBox="1"/>
          <p:nvPr/>
        </p:nvSpPr>
        <p:spPr>
          <a:xfrm>
            <a:off x="6583680" y="1325880"/>
            <a:ext cx="5029200" cy="685800"/>
          </a:xfrm>
          <a:prstGeom prst="rect">
            <a:avLst/>
          </a:prstGeom>
          <a:noFill/>
          <a:ln/>
        </p:spPr>
        <p:txBody>
          <a:bodyPr wrap="square" lIns="0" tIns="0" rIns="0" bIns="0" rtlCol="0" anchor="t"/>
          <a:lstStyle/>
          <a:p>
            <a:pPr marL="0" indent="0">
              <a:spcAft>
                <a:spcPts val="600"/>
              </a:spcAft>
              <a:buNone/>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Persona DB (Eq.8)</a:t>
            </a:r>
            <a:endParaRPr lang="en-US" sz="1500" dirty="0"/>
          </a:p>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카테고리 × 기준 조합마다 라벨을 모아둔 표</a:t>
            </a:r>
            <a:endParaRPr lang="en-US" sz="1500" dirty="0"/>
          </a:p>
        </p:txBody>
      </p:sp>
      <mc:AlternateContent xmlns:mc="http://schemas.openxmlformats.org/markup-compatibility/2006" xmlns:a14="http://schemas.microsoft.com/office/drawing/2010/main">
        <mc:Choice Requires="a14">
          <p:sp>
            <p:nvSpPr>
              <p:cNvPr id="11" name="Equation 11"/>
              <p:cNvSpPr txBox="1"/>
              <p:nvPr/>
            </p:nvSpPr>
            <p:spPr>
              <a:xfrm>
                <a:off x="6680200" y="1905000"/>
                <a:ext cx="4826000" cy="711200"/>
              </a:xfrm>
              <a:prstGeom prst="rect">
                <a:avLst/>
              </a:prstGeom>
              <a:noFill/>
            </p:spPr>
            <p:txBody>
              <a:bodyPr wrap="none" lIns="91440" rtlCol="0" anchor="ctr"/>
              <a:lstStyle/>
              <a:p>
                <a:pPr/>
                <a14:m>
                  <m:oMathPara xmlns:m="http://schemas.openxmlformats.org/officeDocument/2006/math">
                    <m:oMathParaPr>
                      <m:jc m:val="left"/>
                    </m:oMathParaPr>
                    <m:oMath>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𝒟</m:t>
                          </m:r>
                        </m:e>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𝑑</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d>
                            <m:dPr>
                              <m:begChr m:val="{"/>
                              <m:endChr m:val="}"/>
                              <m:ctrlPr>
                                <a:rPr lang="en-US" sz="1800" i="1">
                                  <a:latin typeface="Cambria Math" panose="02040503050406030204" pitchFamily="18" charset="0"/>
                                  <a:ea typeface="Cambria Math" panose="02040503050406030204" pitchFamily="18" charset="0"/>
                                </a:rPr>
                              </m:ctrlPr>
                            </m:dPr>
                            <m:e>
                              <m:sSubSup>
                                <m:sSubSupPr>
                                  <m:ctrlPr>
                                    <a:rPr lang="en-US" sz="1800" i="1">
                                      <a:latin typeface="Cambria Math" panose="02040503050406030204" pitchFamily="18" charset="0"/>
                                      <a:ea typeface="Cambria Math" panose="02040503050406030204" pitchFamily="18" charset="0"/>
                                    </a:rPr>
                                  </m:ctrlPr>
                                </m:sSubSupPr>
                                <m:e>
                                  <m:r>
                                    <m:rPr>
                                      <m:sty m:val="p"/>
                                    </m:rPr>
                                    <a:rPr lang="en-US" sz="1800" i="1">
                                      <a:latin typeface="Cambria Math" panose="02040503050406030204" pitchFamily="18" charset="0"/>
                                      <a:ea typeface="Cambria Math" panose="02040503050406030204" pitchFamily="18" charset="0"/>
                                    </a:rPr>
                                    <m:t>ℓ</m:t>
                                  </m:r>
                                </m:e>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𝑐</m:t>
                                  </m:r>
                                </m:sub>
                                <m:sup>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𝑘</m:t>
                                  </m:r>
                                  <m:r>
                                    <a:rPr lang="en-US" sz="1800" i="1">
                                      <a:latin typeface="Cambria Math" panose="02040503050406030204" pitchFamily="18" charset="0"/>
                                      <a:ea typeface="Cambria Math" panose="02040503050406030204" pitchFamily="18" charset="0"/>
                                    </a:rPr>
                                    <m:t>)</m:t>
                                  </m:r>
                                </m:sup>
                              </m:sSubSup>
                            </m:e>
                          </m:d>
                        </m:e>
                        <m:sub>
                          <m:r>
                            <a:rPr lang="en-US" sz="1800" i="1">
                              <a:latin typeface="Cambria Math" panose="02040503050406030204" pitchFamily="18" charset="0"/>
                              <a:ea typeface="Cambria Math" panose="02040503050406030204" pitchFamily="18" charset="0"/>
                            </a:rPr>
                            <m:t>𝑘</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𝒦</m:t>
                          </m:r>
                          <m:r>
                            <a:rPr lang="en-US" sz="1800" i="1">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𝑐</m:t>
                          </m:r>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𝒞</m:t>
                              </m:r>
                            </m:e>
                            <m:sub>
                              <m:r>
                                <a:rPr lang="en-US" sz="1800" i="1">
                                  <a:latin typeface="Cambria Math" panose="02040503050406030204" pitchFamily="18" charset="0"/>
                                  <a:ea typeface="Cambria Math" panose="02040503050406030204" pitchFamily="18" charset="0"/>
                                </a:rPr>
                                <m:t>𝑑</m:t>
                              </m:r>
                            </m:sub>
                          </m:sSub>
                        </m:sub>
                      </m:sSub>
                    </m:oMath>
                  </m:oMathPara>
                </a14:m>
                <a:endParaRPr lang="en-US" sz="1800"/>
              </a:p>
            </p:txBody>
          </p:sp>
        </mc:Choice>
        <mc:Fallback xmlns="">
          <p:sp>
            <p:nvSpPr>
              <p:cNvPr id="11" name="Equation 11"/>
              <p:cNvSpPr txBox="1">
                <a:spLocks noRot="1" noChangeAspect="1" noMove="1" noResize="1" noEditPoints="1" noAdjustHandles="1" noChangeArrowheads="1" noChangeShapeType="1" noTextEdit="1"/>
              </p:cNvSpPr>
              <p:nvPr/>
            </p:nvSpPr>
            <p:spPr>
              <a:xfrm>
                <a:off x="6680200" y="1905000"/>
                <a:ext cx="4826000" cy="711200"/>
              </a:xfrm>
              <a:prstGeom prst="rect">
                <a:avLst/>
              </a:prstGeom>
              <a:blipFill>
                <a:blip r:embed="rId6"/>
                <a:stretch>
                  <a:fillRect/>
                </a:stretch>
              </a:blipFill>
            </p:spPr>
            <p:txBody>
              <a:bodyPr/>
              <a:lstStyle/>
              <a:p>
                <a:r>
                  <a:rPr lang="ko-KR" altLang="en-US">
                    <a:noFill/>
                  </a:rPr>
                  <a:t> </a:t>
                </a:r>
              </a:p>
            </p:txBody>
          </p:sp>
        </mc:Fallback>
      </mc:AlternateContent>
      <p:sp>
        <p:nvSpPr>
          <p:cNvPr id="14" name="Text 8"/>
          <p:cNvSpPr txBox="1"/>
          <p:nvPr/>
        </p:nvSpPr>
        <p:spPr>
          <a:xfrm>
            <a:off x="640080" y="5870448"/>
            <a:ext cx="10972800" cy="228600"/>
          </a:xfrm>
          <a:prstGeom prst="rect">
            <a:avLst/>
          </a:prstGeom>
          <a:noFill/>
          <a:ln/>
        </p:spPr>
        <p:txBody>
          <a:bodyPr wrap="square" lIns="0" tIns="0" rIns="0" bIns="0" rtlCol="0" anchor="ctr"/>
          <a:lstStyle/>
          <a:p>
            <a:pPr marL="0" indent="0">
              <a:buNone/>
            </a:pPr>
            <a:r>
              <a:rPr lang="en-US" sz="95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Eq.(4)–(8), Table 8 (Appendix A.1, p.11), Kang &amp; Lee, KDD 2026</a:t>
            </a:r>
            <a:endParaRPr lang="en-US" sz="950" dirty="0"/>
          </a:p>
        </p:txBody>
      </p:sp>
      <p:pic>
        <p:nvPicPr>
          <p:cNvPr id="15" name="그림 14">
            <a:extLst>
              <a:ext uri="{FF2B5EF4-FFF2-40B4-BE49-F238E27FC236}">
                <a16:creationId xmlns:a16="http://schemas.microsoft.com/office/drawing/2014/main" id="{E22F7093-5951-21E5-46AD-8298A055CDAD}"/>
              </a:ext>
            </a:extLst>
          </p:cNvPr>
          <p:cNvPicPr>
            <a:picLocks noChangeAspect="1"/>
          </p:cNvPicPr>
          <p:nvPr/>
        </p:nvPicPr>
        <p:blipFill>
          <a:blip r:embed="rId7"/>
          <a:stretch>
            <a:fillRect/>
          </a:stretch>
        </p:blipFill>
        <p:spPr>
          <a:xfrm>
            <a:off x="6800088" y="2641474"/>
            <a:ext cx="4114800" cy="3457574"/>
          </a:xfrm>
          <a:prstGeom prst="rect">
            <a:avLst/>
          </a:prstGeom>
        </p:spPr>
      </p:pic>
    </p:spTree>
    <p:extLst>
      <p:ext uri="{BB962C8B-B14F-4D97-AF65-F5344CB8AC3E}">
        <p14:creationId xmlns:p14="http://schemas.microsoft.com/office/powerpoint/2010/main" val="2374665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alphaModFix amt="50000"/>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3.2 (P1) Step 2: Persona Construction with LLM</a:t>
            </a:r>
            <a:endParaRPr lang="en-US" sz="2800" dirty="0"/>
          </a:p>
        </p:txBody>
      </p:sp>
      <p:sp>
        <p:nvSpPr>
          <p:cNvPr id="3" name="Shape 1"/>
          <p:cNvSpPr/>
          <p:nvPr/>
        </p:nvSpPr>
        <p:spPr>
          <a:xfrm>
            <a:off x="640080" y="1325880"/>
            <a:ext cx="6675120" cy="731520"/>
          </a:xfrm>
          <a:prstGeom prst="rect">
            <a:avLst/>
          </a:prstGeom>
          <a:solidFill>
            <a:srgbClr val="E9F7F6">
              <a:alpha val="50000"/>
            </a:srgbClr>
          </a:solidFill>
          <a:ln w="12700">
            <a:solidFill>
              <a:srgbClr val="E9F7F6"/>
            </a:solidFill>
            <a:prstDash val="solid"/>
          </a:ln>
        </p:spPr>
        <p:txBody>
          <a:bodyPr/>
          <a:lstStyle/>
          <a:p>
            <a:endParaRPr lang="ko-KR" altLang="en-US"/>
          </a:p>
        </p:txBody>
      </p:sp>
      <p:sp>
        <p:nvSpPr>
          <p:cNvPr id="4" name="Text 2"/>
          <p:cNvSpPr txBox="1"/>
          <p:nvPr/>
        </p:nvSpPr>
        <p:spPr>
          <a:xfrm>
            <a:off x="868680" y="1325880"/>
            <a:ext cx="6309360" cy="731520"/>
          </a:xfrm>
          <a:prstGeom prst="rect">
            <a:avLst/>
          </a:prstGeom>
          <a:noFill/>
          <a:ln/>
        </p:spPr>
        <p:txBody>
          <a:bodyPr wrap="square" lIns="0" tIns="0" rIns="0" bIns="0" rtlCol="0" anchor="ctr"/>
          <a:lstStyle/>
          <a:p>
            <a:pPr marL="0" indent="0">
              <a:spcAft>
                <a:spcPts val="600"/>
              </a:spcAft>
              <a:buNone/>
            </a:pPr>
            <a:r>
              <a:rPr lang="en-US" sz="140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핵심  </a:t>
            </a: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LLM은 "추론기"가 아니라 "번역기" — 숨은 취향을 추측하지 않고, 계산된 통계를 문장으로만 옮김</a:t>
            </a:r>
            <a:endParaRPr lang="en-US" sz="1400" dirty="0"/>
          </a:p>
        </p:txBody>
      </p:sp>
      <p:sp>
        <p:nvSpPr>
          <p:cNvPr id="5" name="Text 3"/>
          <p:cNvSpPr txBox="1"/>
          <p:nvPr/>
        </p:nvSpPr>
        <p:spPr>
          <a:xfrm>
            <a:off x="640080" y="2194560"/>
            <a:ext cx="6675120" cy="502920"/>
          </a:xfrm>
          <a:prstGeom prst="rect">
            <a:avLst/>
          </a:prstGeom>
          <a:noFill/>
          <a:ln/>
        </p:spPr>
        <p:txBody>
          <a:bodyPr wrap="square" lIns="0" tIns="0" rIns="0" bIns="0" rtlCol="0" anchor="t"/>
          <a:lstStyle/>
          <a:p>
            <a:pPr marL="0" indent="0">
              <a:spcAft>
                <a:spcPts val="600"/>
              </a:spcAft>
              <a:buNone/>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이유  길고 비정형적인 입력은 LLM의 추론 성능을 떨어뜨리고 환각(hallucination)을 늘림</a:t>
            </a:r>
            <a:endParaRPr lang="en-US" sz="1300" dirty="0"/>
          </a:p>
        </p:txBody>
      </p:sp>
      <p:sp>
        <p:nvSpPr>
          <p:cNvPr id="6" name="Text 4"/>
          <p:cNvSpPr txBox="1"/>
          <p:nvPr/>
        </p:nvSpPr>
        <p:spPr>
          <a:xfrm>
            <a:off x="640080" y="2743200"/>
            <a:ext cx="6675120" cy="1783080"/>
          </a:xfrm>
          <a:prstGeom prst="rect">
            <a:avLst/>
          </a:prstGeom>
          <a:noFill/>
          <a:ln/>
        </p:spPr>
        <p:txBody>
          <a:bodyPr wrap="square" lIns="0" tIns="0" rIns="0" bIns="0" rtlCol="0" anchor="t"/>
          <a:lstStyle/>
          <a:p>
            <a:pPr marL="0" indent="0">
              <a:spcAft>
                <a:spcPts val="600"/>
              </a:spcAft>
              <a:buNone/>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입력 3개 + 고정 프롬프트</a:t>
            </a:r>
            <a:endParaRPr lang="en-US" sz="14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도메인 설명: 인기 아이템 50개 + 고평점 아이템 50개의 메타데이터로 만든 요약 (Appendix A.2)</a:t>
            </a:r>
            <a:endParaRPr lang="en-US" sz="14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대표 메타데이터: 사용자가 이용한 아이템의 제목 · 카테고리</a:t>
            </a:r>
            <a:endParaRPr lang="en-US" sz="14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Step 1의 Persona DB</a:t>
            </a:r>
            <a:endParaRPr lang="en-US" sz="14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기준별 의미를 정해둔 고정 프롬프트 → 기준끼리 뜻이 섞이는 것(semantic drift) 방지</a:t>
            </a:r>
            <a:endParaRPr lang="en-US" sz="1400" dirty="0"/>
          </a:p>
        </p:txBody>
      </p:sp>
      <mc:AlternateContent xmlns:mc="http://schemas.openxmlformats.org/markup-compatibility/2006" xmlns:a14="http://schemas.microsoft.com/office/drawing/2010/main">
        <mc:Choice Requires="a14">
          <p:sp>
            <p:nvSpPr>
              <p:cNvPr id="7" name="Equation 7"/>
              <p:cNvSpPr txBox="1"/>
              <p:nvPr/>
            </p:nvSpPr>
            <p:spPr>
              <a:xfrm>
                <a:off x="736600" y="4394200"/>
                <a:ext cx="6223000" cy="762000"/>
              </a:xfrm>
              <a:prstGeom prst="rect">
                <a:avLst/>
              </a:prstGeom>
              <a:noFill/>
            </p:spPr>
            <p:txBody>
              <a:bodyPr wrap="none" lIns="91440" rtlCol="0" anchor="ctr"/>
              <a:lstStyle/>
              <a:p>
                <a:pPr/>
                <a14:m>
                  <m:oMathPara xmlns:m="http://schemas.openxmlformats.org/officeDocument/2006/math">
                    <m:oMathParaPr>
                      <m:jc m:val="left"/>
                    </m:oMathParaPr>
                    <m:oMath>
                      <m:sSubSup>
                        <m:sSubSupPr>
                          <m:ctrlPr>
                            <a:rPr lang="en-US" sz="1800" i="1">
                              <a:latin typeface="Cambria Math" panose="02040503050406030204" pitchFamily="18" charset="0"/>
                              <a:ea typeface="Cambria Math" panose="02040503050406030204" pitchFamily="18" charset="0"/>
                            </a:rPr>
                          </m:ctrlPr>
                        </m:sSubSupPr>
                        <m:e>
                          <m:r>
                            <a:rPr lang="en-US" sz="1800" i="1">
                              <a:latin typeface="Cambria Math" panose="02040503050406030204" pitchFamily="18" charset="0"/>
                              <a:ea typeface="Cambria Math" panose="02040503050406030204" pitchFamily="18" charset="0"/>
                            </a:rPr>
                            <m:t>𝑓</m:t>
                          </m:r>
                        </m:e>
                        <m:sub>
                          <m:r>
                            <a:rPr lang="en-US" sz="1800" i="1">
                              <a:latin typeface="Cambria Math" panose="02040503050406030204" pitchFamily="18" charset="0"/>
                              <a:ea typeface="Cambria Math" panose="02040503050406030204" pitchFamily="18" charset="0"/>
                            </a:rPr>
                            <m:t>𝑢</m:t>
                          </m:r>
                        </m:sub>
                        <m:sup>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𝑘</m:t>
                          </m:r>
                          <m:r>
                            <a:rPr lang="en-US" sz="1800" i="1">
                              <a:latin typeface="Cambria Math" panose="02040503050406030204" pitchFamily="18" charset="0"/>
                              <a:ea typeface="Cambria Math" panose="02040503050406030204" pitchFamily="18" charset="0"/>
                            </a:rPr>
                            <m:t>)</m:t>
                          </m:r>
                        </m:sup>
                      </m:sSubSup>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d>
                            <m:dPr>
                              <m:begChr m:val="["/>
                              <m:endChr m:val="]"/>
                              <m:ctrlPr>
                                <a:rPr lang="en-US" sz="1800" i="1">
                                  <a:latin typeface="Cambria Math" panose="02040503050406030204" pitchFamily="18" charset="0"/>
                                  <a:ea typeface="Cambria Math" panose="02040503050406030204" pitchFamily="18" charset="0"/>
                                </a:rPr>
                              </m:ctrlPr>
                            </m:dPr>
                            <m:e>
                              <m:r>
                                <m:rPr>
                                  <m:sty m:val="p"/>
                                </m:rPr>
                                <a:rPr lang="en-US" sz="1800" i="1">
                                  <a:latin typeface="Cambria Math" panose="02040503050406030204" pitchFamily="18" charset="0"/>
                                  <a:ea typeface="Cambria Math" panose="02040503050406030204" pitchFamily="18" charset="0"/>
                                </a:rPr>
                                <m:t>LLM</m:t>
                              </m:r>
                              <m:d>
                                <m:dPr>
                                  <m:ctrlPr>
                                    <a:rPr lang="en-US" sz="1800" i="1">
                                      <a:latin typeface="Cambria Math" panose="02040503050406030204" pitchFamily="18" charset="0"/>
                                      <a:ea typeface="Cambria Math" panose="02040503050406030204" pitchFamily="18" charset="0"/>
                                    </a:rPr>
                                  </m:ctrlPr>
                                </m:dPr>
                                <m:e>
                                  <m:sSubSup>
                                    <m:sSubSupPr>
                                      <m:ctrlPr>
                                        <a:rPr lang="en-US" sz="1800" i="1">
                                          <a:latin typeface="Cambria Math" panose="02040503050406030204" pitchFamily="18" charset="0"/>
                                          <a:ea typeface="Cambria Math" panose="02040503050406030204" pitchFamily="18" charset="0"/>
                                        </a:rPr>
                                      </m:ctrlPr>
                                    </m:sSubSupPr>
                                    <m:e>
                                      <m:r>
                                        <a:rPr lang="en-US" sz="1800" i="1">
                                          <a:latin typeface="Cambria Math" panose="02040503050406030204" pitchFamily="18" charset="0"/>
                                          <a:ea typeface="Cambria Math" panose="02040503050406030204" pitchFamily="18" charset="0"/>
                                        </a:rPr>
                                        <m:t>𝒯</m:t>
                                      </m:r>
                                    </m:e>
                                    <m:sub>
                                      <m:r>
                                        <a:rPr lang="en-US" sz="1800" i="1">
                                          <a:latin typeface="Cambria Math" panose="02040503050406030204" pitchFamily="18" charset="0"/>
                                          <a:ea typeface="Cambria Math" panose="02040503050406030204" pitchFamily="18" charset="0"/>
                                        </a:rPr>
                                        <m:t>𝑑</m:t>
                                      </m:r>
                                    </m:sub>
                                    <m:sup>
                                      <m:r>
                                        <m:rPr>
                                          <m:sty m:val="p"/>
                                        </m:rPr>
                                        <a:rPr lang="en-US" sz="1800" i="1">
                                          <a:latin typeface="Cambria Math" panose="02040503050406030204" pitchFamily="18" charset="0"/>
                                          <a:ea typeface="Cambria Math" panose="02040503050406030204" pitchFamily="18" charset="0"/>
                                        </a:rPr>
                                        <m:t>desc</m:t>
                                      </m:r>
                                    </m:sup>
                                  </m:sSubSup>
                                  <m:r>
                                    <a:rPr lang="en-US" sz="1800" i="1">
                                      <a:latin typeface="Cambria Math" panose="02040503050406030204" pitchFamily="18" charset="0"/>
                                      <a:ea typeface="Cambria Math" panose="02040503050406030204" pitchFamily="18" charset="0"/>
                                    </a:rPr>
                                    <m:t> ‖ </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𝑚</m:t>
                                      </m:r>
                                    </m:e>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𝑑</m:t>
                                      </m:r>
                                    </m:sub>
                                  </m:sSub>
                                  <m:r>
                                    <a:rPr lang="en-US" sz="1800" i="1">
                                      <a:latin typeface="Cambria Math" panose="02040503050406030204" pitchFamily="18" charset="0"/>
                                      <a:ea typeface="Cambria Math" panose="02040503050406030204" pitchFamily="18" charset="0"/>
                                    </a:rPr>
                                    <m:t> ‖ </m:t>
                                  </m:r>
                                  <m:d>
                                    <m:dPr>
                                      <m:begChr m:val="["/>
                                      <m:endChr m:val="]"/>
                                      <m:ctrlPr>
                                        <a:rPr lang="en-US" sz="1800" i="1">
                                          <a:latin typeface="Cambria Math" panose="02040503050406030204" pitchFamily="18" charset="0"/>
                                          <a:ea typeface="Cambria Math" panose="02040503050406030204" pitchFamily="18" charset="0"/>
                                        </a:rPr>
                                      </m:ctrlPr>
                                    </m:dPr>
                                    <m:e>
                                      <m:sSup>
                                        <m:sSupPr>
                                          <m:ctrlPr>
                                            <a:rPr lang="en-US" sz="1800" i="1">
                                              <a:latin typeface="Cambria Math" panose="02040503050406030204" pitchFamily="18" charset="0"/>
                                              <a:ea typeface="Cambria Math" panose="02040503050406030204" pitchFamily="18" charset="0"/>
                                            </a:rPr>
                                          </m:ctrlPr>
                                        </m:sSupPr>
                                        <m:e>
                                          <m:r>
                                            <a:rPr lang="en-US" sz="1800" i="1">
                                              <a:latin typeface="Cambria Math" panose="02040503050406030204" pitchFamily="18" charset="0"/>
                                              <a:ea typeface="Cambria Math" panose="02040503050406030204" pitchFamily="18" charset="0"/>
                                            </a:rPr>
                                            <m:t>𝑃</m:t>
                                          </m:r>
                                        </m:e>
                                        <m:sup>
                                          <m:r>
                                            <m:rPr>
                                              <m:sty m:val="p"/>
                                            </m:rPr>
                                            <a:rPr lang="en-US" sz="1800" i="1">
                                              <a:latin typeface="Cambria Math" panose="02040503050406030204" pitchFamily="18" charset="0"/>
                                              <a:ea typeface="Cambria Math" panose="02040503050406030204" pitchFamily="18" charset="0"/>
                                            </a:rPr>
                                            <m:t>sona</m:t>
                                          </m:r>
                                        </m:sup>
                                      </m:sSup>
                                      <m:r>
                                        <a:rPr lang="en-US" sz="1800" i="1">
                                          <a:latin typeface="Cambria Math" panose="02040503050406030204" pitchFamily="18" charset="0"/>
                                          <a:ea typeface="Cambria Math" panose="02040503050406030204" pitchFamily="18" charset="0"/>
                                        </a:rPr>
                                        <m:t> ‖ </m:t>
                                      </m:r>
                                      <m:sSubSup>
                                        <m:sSubSupPr>
                                          <m:ctrlPr>
                                            <a:rPr lang="en-US" sz="1800" i="1">
                                              <a:latin typeface="Cambria Math" panose="02040503050406030204" pitchFamily="18" charset="0"/>
                                              <a:ea typeface="Cambria Math" panose="02040503050406030204" pitchFamily="18" charset="0"/>
                                            </a:rPr>
                                          </m:ctrlPr>
                                        </m:sSubSupPr>
                                        <m:e>
                                          <m:r>
                                            <a:rPr lang="en-US" sz="1800" i="1">
                                              <a:latin typeface="Cambria Math" panose="02040503050406030204" pitchFamily="18" charset="0"/>
                                              <a:ea typeface="Cambria Math" panose="02040503050406030204" pitchFamily="18" charset="0"/>
                                            </a:rPr>
                                            <m:t>𝒟</m:t>
                                          </m:r>
                                        </m:e>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𝑑</m:t>
                                          </m:r>
                                        </m:sub>
                                        <m:sup>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𝑘</m:t>
                                          </m:r>
                                          <m:r>
                                            <a:rPr lang="en-US" sz="1800" i="1">
                                              <a:latin typeface="Cambria Math" panose="02040503050406030204" pitchFamily="18" charset="0"/>
                                              <a:ea typeface="Cambria Math" panose="02040503050406030204" pitchFamily="18" charset="0"/>
                                            </a:rPr>
                                            <m:t>)</m:t>
                                          </m:r>
                                        </m:sup>
                                      </m:sSubSup>
                                    </m:e>
                                  </m:d>
                                </m:e>
                              </m:d>
                            </m:e>
                          </m:d>
                        </m:e>
                        <m:sub>
                          <m:r>
                            <a:rPr lang="en-US" sz="1800" i="1">
                              <a:latin typeface="Cambria Math" panose="02040503050406030204" pitchFamily="18" charset="0"/>
                              <a:ea typeface="Cambria Math" panose="02040503050406030204" pitchFamily="18" charset="0"/>
                            </a:rPr>
                            <m:t>𝑘</m:t>
                          </m:r>
                        </m:sub>
                      </m:sSub>
                    </m:oMath>
                  </m:oMathPara>
                </a14:m>
                <a:endParaRPr lang="en-US" sz="1800" dirty="0"/>
              </a:p>
            </p:txBody>
          </p:sp>
        </mc:Choice>
        <mc:Fallback xmlns="">
          <p:sp>
            <p:nvSpPr>
              <p:cNvPr id="7" name="Equation 7"/>
              <p:cNvSpPr txBox="1">
                <a:spLocks noRot="1" noChangeAspect="1" noMove="1" noResize="1" noEditPoints="1" noAdjustHandles="1" noChangeArrowheads="1" noChangeShapeType="1" noTextEdit="1"/>
              </p:cNvSpPr>
              <p:nvPr/>
            </p:nvSpPr>
            <p:spPr>
              <a:xfrm>
                <a:off x="736600" y="4394200"/>
                <a:ext cx="6223000" cy="762000"/>
              </a:xfrm>
              <a:prstGeom prst="rect">
                <a:avLst/>
              </a:prstGeom>
              <a:blipFill>
                <a:blip r:embed="rId4"/>
                <a:stretch>
                  <a:fillRect l="-407"/>
                </a:stretch>
              </a:blipFill>
            </p:spPr>
            <p:txBody>
              <a:bodyPr/>
              <a:lstStyle/>
              <a:p>
                <a:r>
                  <a:rPr lang="ko-KR" altLang="en-US">
                    <a:noFill/>
                  </a:rPr>
                  <a:t> </a:t>
                </a:r>
              </a:p>
            </p:txBody>
          </p:sp>
        </mc:Fallback>
      </mc:AlternateContent>
      <p:sp>
        <p:nvSpPr>
          <p:cNvPr id="8" name="Text 5"/>
          <p:cNvSpPr txBox="1"/>
          <p:nvPr/>
        </p:nvSpPr>
        <p:spPr>
          <a:xfrm>
            <a:off x="640080" y="5120640"/>
            <a:ext cx="6675120" cy="640080"/>
          </a:xfrm>
          <a:prstGeom prst="rect">
            <a:avLst/>
          </a:prstGeom>
          <a:noFill/>
          <a:ln/>
        </p:spPr>
        <p:txBody>
          <a:bodyPr wrap="square" lIns="0" tIns="0" rIns="0" bIns="0" rtlCol="0" anchor="t"/>
          <a:lstStyle/>
          <a:p>
            <a:pPr marL="0" indent="0">
              <a:spcAft>
                <a:spcPts val="600"/>
              </a:spcAft>
              <a:buNone/>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출력  기준별 3–4문장 페르소나 5개를 JSON으로, 한 번의 호출로 생성 · 분포 수준 요약이라 자주 재생성할 필요 없음</a:t>
            </a:r>
            <a:endParaRPr lang="en-US" sz="1300" dirty="0"/>
          </a:p>
        </p:txBody>
      </p:sp>
      <p:pic>
        <p:nvPicPr>
          <p:cNvPr id="9" name="Image 1" descr="/home/claude/fig/tab2.png"/>
          <p:cNvPicPr>
            <a:picLocks noChangeAspect="1"/>
          </p:cNvPicPr>
          <p:nvPr/>
        </p:nvPicPr>
        <p:blipFill>
          <a:blip r:embed="rId5"/>
          <a:stretch>
            <a:fillRect/>
          </a:stretch>
        </p:blipFill>
        <p:spPr>
          <a:xfrm>
            <a:off x="7680960" y="1325880"/>
            <a:ext cx="3977640" cy="3932947"/>
          </a:xfrm>
          <a:prstGeom prst="rect">
            <a:avLst/>
          </a:prstGeom>
        </p:spPr>
      </p:pic>
      <p:sp>
        <p:nvSpPr>
          <p:cNvPr id="10" name="Text 6"/>
          <p:cNvSpPr txBox="1"/>
          <p:nvPr/>
        </p:nvSpPr>
        <p:spPr>
          <a:xfrm>
            <a:off x="640080" y="5870448"/>
            <a:ext cx="10972800" cy="228600"/>
          </a:xfrm>
          <a:prstGeom prst="rect">
            <a:avLst/>
          </a:prstGeom>
          <a:noFill/>
          <a:ln/>
        </p:spPr>
        <p:txBody>
          <a:bodyPr wrap="square" lIns="0" tIns="0" rIns="0" bIns="0" rtlCol="0" anchor="ctr"/>
          <a:lstStyle/>
          <a:p>
            <a:pPr marL="0" indent="0">
              <a:buNone/>
            </a:pPr>
            <a:r>
              <a:rPr lang="en-US" sz="95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Eq.(9), Table 2 (p.5), Kang &amp; Lee, KDD 2026 · ‖ = 텍스트 이어붙이기</a:t>
            </a:r>
            <a:endParaRPr lang="en-US" sz="950" dirty="0"/>
          </a:p>
        </p:txBody>
      </p:sp>
    </p:spTree>
    <p:extLst>
      <p:ext uri="{BB962C8B-B14F-4D97-AF65-F5344CB8AC3E}">
        <p14:creationId xmlns:p14="http://schemas.microsoft.com/office/powerpoint/2010/main" val="1503472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3.2 (P1) Step 3: Persona Encoding and Aggregation</a:t>
            </a:r>
            <a:endParaRPr lang="en-US" sz="2800" dirty="0"/>
          </a:p>
        </p:txBody>
      </p:sp>
      <p:sp>
        <p:nvSpPr>
          <p:cNvPr id="4" name="Text 1"/>
          <p:cNvSpPr txBox="1"/>
          <p:nvPr/>
        </p:nvSpPr>
        <p:spPr>
          <a:xfrm>
            <a:off x="6309360" y="1325880"/>
            <a:ext cx="5349240" cy="137160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5개 문장을 각각 text-embedding-3-large로 벡터화 (3072차원) — 문장을 만든 LLM과 같은 계열 → 의미 일관성</a:t>
            </a:r>
            <a:endParaRPr lang="en-US" sz="15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Self-attention으로 결합: 학습 가능한 MASK 토큰 = query, 5개 페르소나 벡터 = key · value</a:t>
            </a:r>
            <a:endParaRPr lang="en-US" sz="1500" dirty="0"/>
          </a:p>
        </p:txBody>
      </p:sp>
      <mc:AlternateContent xmlns:mc="http://schemas.openxmlformats.org/markup-compatibility/2006" xmlns:a14="http://schemas.microsoft.com/office/drawing/2010/main">
        <mc:Choice Requires="a14">
          <p:sp>
            <p:nvSpPr>
              <p:cNvPr id="5" name="Equation 5"/>
              <p:cNvSpPr txBox="1"/>
              <p:nvPr/>
            </p:nvSpPr>
            <p:spPr>
              <a:xfrm>
                <a:off x="6400800" y="2362200"/>
                <a:ext cx="5334000" cy="1117600"/>
              </a:xfrm>
              <a:prstGeom prst="rect">
                <a:avLst/>
              </a:prstGeom>
              <a:noFill/>
            </p:spPr>
            <p:txBody>
              <a:bodyPr wrap="none" lIns="91440" rtlCol="0" anchor="ctr"/>
              <a:lstStyle/>
              <a:p>
                <a:pPr/>
                <a14:m>
                  <m:oMathPara xmlns:m="http://schemas.openxmlformats.org/officeDocument/2006/math">
                    <m:oMathParaPr>
                      <m:jc m:val="left"/>
                    </m:oMathParaPr>
                    <m:oMath>
                      <m:sSubSup>
                        <m:sSubSupPr>
                          <m:ctrlPr>
                            <a:rPr lang="en-US"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𝛼</m:t>
                          </m:r>
                        </m:e>
                        <m:sub>
                          <m:r>
                            <a:rPr lang="en-US" sz="1600" i="1">
                              <a:latin typeface="Cambria Math" panose="02040503050406030204" pitchFamily="18" charset="0"/>
                              <a:ea typeface="Cambria Math" panose="02040503050406030204" pitchFamily="18" charset="0"/>
                            </a:rPr>
                            <m:t>𝑢</m:t>
                          </m:r>
                        </m:sub>
                        <m:sup>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m:t>
                          </m:r>
                        </m:sup>
                      </m:sSubSup>
                      <m:r>
                        <a:rPr lang="en-US" sz="1600" i="1">
                          <a:latin typeface="Cambria Math" panose="02040503050406030204" pitchFamily="18" charset="0"/>
                          <a:ea typeface="Cambria Math" panose="02040503050406030204" pitchFamily="18" charset="0"/>
                        </a:rPr>
                        <m:t>=</m:t>
                      </m:r>
                      <m:f>
                        <m:fPr>
                          <m:ctrlPr>
                            <a:rPr lang="en-US" sz="1600" i="1">
                              <a:latin typeface="Cambria Math" panose="02040503050406030204" pitchFamily="18" charset="0"/>
                              <a:ea typeface="Cambria Math" panose="02040503050406030204" pitchFamily="18" charset="0"/>
                            </a:rPr>
                          </m:ctrlPr>
                        </m:fPr>
                        <m:num>
                          <m:r>
                            <m:rPr>
                              <m:sty m:val="p"/>
                            </m:rPr>
                            <a:rPr lang="en-US" sz="1600" i="1">
                              <a:latin typeface="Cambria Math" panose="02040503050406030204" pitchFamily="18" charset="0"/>
                              <a:ea typeface="Cambria Math" panose="02040503050406030204" pitchFamily="18" charset="0"/>
                            </a:rPr>
                            <m:t>exp</m:t>
                          </m:r>
                          <m:d>
                            <m:dPr>
                              <m:ctrlPr>
                                <a:rPr lang="en-US" sz="1600" i="1">
                                  <a:latin typeface="Cambria Math" panose="02040503050406030204" pitchFamily="18" charset="0"/>
                                  <a:ea typeface="Cambria Math" panose="02040503050406030204" pitchFamily="18" charset="0"/>
                                </a:rPr>
                              </m:ctrlPr>
                            </m:dPr>
                            <m:e>
                              <m:sSubSup>
                                <m:sSubSupPr>
                                  <m:ctrlPr>
                                    <a:rPr lang="en-US"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𝐞</m:t>
                                  </m:r>
                                </m:e>
                                <m:sub>
                                  <m:r>
                                    <a:rPr lang="en-US" sz="1600" i="1">
                                      <a:latin typeface="Cambria Math" panose="02040503050406030204" pitchFamily="18" charset="0"/>
                                      <a:ea typeface="Cambria Math" panose="02040503050406030204" pitchFamily="18" charset="0"/>
                                    </a:rPr>
                                    <m:t>𝑢</m:t>
                                  </m:r>
                                </m:sub>
                                <m:sup>
                                  <m:r>
                                    <m:rPr>
                                      <m:sty m:val="p"/>
                                    </m:rPr>
                                    <a:rPr lang="en-US" sz="1600" i="1">
                                      <a:latin typeface="Cambria Math" panose="02040503050406030204" pitchFamily="18" charset="0"/>
                                      <a:ea typeface="Cambria Math" panose="02040503050406030204" pitchFamily="18" charset="0"/>
                                    </a:rPr>
                                    <m:t>MASK</m:t>
                                  </m:r>
                                </m:sup>
                              </m:sSubSup>
                              <m:r>
                                <a:rPr lang="en-US" sz="1600" i="1">
                                  <a:latin typeface="Cambria Math" panose="02040503050406030204" pitchFamily="18" charset="0"/>
                                  <a:ea typeface="Cambria Math" panose="02040503050406030204" pitchFamily="18" charset="0"/>
                                </a:rPr>
                                <m:t>·</m:t>
                              </m:r>
                              <m:sSubSup>
                                <m:sSubSupPr>
                                  <m:ctrlPr>
                                    <a:rPr lang="en-US"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𝐞</m:t>
                                  </m:r>
                                </m:e>
                                <m:sub>
                                  <m:r>
                                    <a:rPr lang="en-US" sz="1600" i="1">
                                      <a:latin typeface="Cambria Math" panose="02040503050406030204" pitchFamily="18" charset="0"/>
                                      <a:ea typeface="Cambria Math" panose="02040503050406030204" pitchFamily="18" charset="0"/>
                                    </a:rPr>
                                    <m:t>𝑢</m:t>
                                  </m:r>
                                </m:sub>
                                <m:sup>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m:t>
                                  </m:r>
                                </m:sup>
                              </m:sSubSup>
                              <m:r>
                                <a:rPr lang="en-US" sz="1600" i="1">
                                  <a:latin typeface="Cambria Math" panose="02040503050406030204" pitchFamily="18" charset="0"/>
                                  <a:ea typeface="Cambria Math" panose="02040503050406030204" pitchFamily="18" charset="0"/>
                                </a:rPr>
                                <m:t>/</m:t>
                              </m:r>
                              <m:rad>
                                <m:radPr>
                                  <m:degHide m:val="on"/>
                                  <m:ctrlPr>
                                    <a:rPr lang="en-US" sz="1600" i="1">
                                      <a:latin typeface="Cambria Math" panose="02040503050406030204" pitchFamily="18" charset="0"/>
                                      <a:ea typeface="Cambria Math" panose="02040503050406030204" pitchFamily="18" charset="0"/>
                                    </a:rPr>
                                  </m:ctrlPr>
                                </m:radPr>
                                <m:deg/>
                                <m:e>
                                  <m:r>
                                    <a:rPr lang="en-US" sz="1600" i="1">
                                      <a:latin typeface="Cambria Math" panose="02040503050406030204" pitchFamily="18" charset="0"/>
                                      <a:ea typeface="Cambria Math" panose="02040503050406030204" pitchFamily="18" charset="0"/>
                                    </a:rPr>
                                    <m:t>𝑛</m:t>
                                  </m:r>
                                </m:e>
                              </m:rad>
                            </m:e>
                          </m:d>
                        </m:num>
                        <m:den>
                          <m:nary>
                            <m:naryPr>
                              <m:chr m:val="∑"/>
                              <m:limLoc m:val="undOvr"/>
                              <m:supHide m:val="on"/>
                              <m:ctrlPr>
                                <a:rPr lang="en-US" sz="1600" i="1">
                                  <a:latin typeface="Cambria Math" panose="02040503050406030204" pitchFamily="18" charset="0"/>
                                  <a:ea typeface="Cambria Math" panose="02040503050406030204" pitchFamily="18" charset="0"/>
                                </a:rPr>
                              </m:ctrlPr>
                            </m:naryPr>
                            <m:sub>
                              <m:sSup>
                                <m:sSupPr>
                                  <m:ctrlPr>
                                    <a:rPr lang="en-US" sz="1600" i="1">
                                      <a:latin typeface="Cambria Math" panose="02040503050406030204" pitchFamily="18" charset="0"/>
                                      <a:ea typeface="Cambria Math" panose="02040503050406030204" pitchFamily="18" charset="0"/>
                                    </a:rPr>
                                  </m:ctrlPr>
                                </m:sSupPr>
                                <m:e>
                                  <m:r>
                                    <a:rPr lang="en-US" sz="1600" i="1">
                                      <a:latin typeface="Cambria Math" panose="02040503050406030204" pitchFamily="18" charset="0"/>
                                      <a:ea typeface="Cambria Math" panose="02040503050406030204" pitchFamily="18" charset="0"/>
                                    </a:rPr>
                                    <m:t>𝑘</m:t>
                                  </m:r>
                                </m:e>
                                <m:sup>
                                  <m:r>
                                    <a:rPr lang="en-US" sz="1600" i="1">
                                      <a:latin typeface="Cambria Math" panose="02040503050406030204" pitchFamily="18" charset="0"/>
                                      <a:ea typeface="Cambria Math" panose="02040503050406030204" pitchFamily="18" charset="0"/>
                                    </a:rPr>
                                    <m:t>′</m:t>
                                  </m:r>
                                </m:sup>
                              </m:sSup>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𝒦</m:t>
                              </m:r>
                            </m:sub>
                            <m:sup/>
                            <m:e>
                              <m:r>
                                <m:rPr>
                                  <m:sty m:val="p"/>
                                </m:rPr>
                                <a:rPr lang="en-US" sz="1600" i="1">
                                  <a:latin typeface="Cambria Math" panose="02040503050406030204" pitchFamily="18" charset="0"/>
                                  <a:ea typeface="Cambria Math" panose="02040503050406030204" pitchFamily="18" charset="0"/>
                                </a:rPr>
                                <m:t>exp</m:t>
                              </m:r>
                              <m:d>
                                <m:dPr>
                                  <m:ctrlPr>
                                    <a:rPr lang="en-US" sz="1600" i="1">
                                      <a:latin typeface="Cambria Math" panose="02040503050406030204" pitchFamily="18" charset="0"/>
                                      <a:ea typeface="Cambria Math" panose="02040503050406030204" pitchFamily="18" charset="0"/>
                                    </a:rPr>
                                  </m:ctrlPr>
                                </m:dPr>
                                <m:e>
                                  <m:sSubSup>
                                    <m:sSubSupPr>
                                      <m:ctrlPr>
                                        <a:rPr lang="en-US"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𝐞</m:t>
                                      </m:r>
                                    </m:e>
                                    <m:sub>
                                      <m:r>
                                        <a:rPr lang="en-US" sz="1600" i="1">
                                          <a:latin typeface="Cambria Math" panose="02040503050406030204" pitchFamily="18" charset="0"/>
                                          <a:ea typeface="Cambria Math" panose="02040503050406030204" pitchFamily="18" charset="0"/>
                                        </a:rPr>
                                        <m:t>𝑢</m:t>
                                      </m:r>
                                    </m:sub>
                                    <m:sup>
                                      <m:r>
                                        <m:rPr>
                                          <m:sty m:val="p"/>
                                        </m:rPr>
                                        <a:rPr lang="en-US" sz="1600" i="1">
                                          <a:latin typeface="Cambria Math" panose="02040503050406030204" pitchFamily="18" charset="0"/>
                                          <a:ea typeface="Cambria Math" panose="02040503050406030204" pitchFamily="18" charset="0"/>
                                        </a:rPr>
                                        <m:t>MASK</m:t>
                                      </m:r>
                                    </m:sup>
                                  </m:sSubSup>
                                  <m:r>
                                    <a:rPr lang="en-US" sz="1600" i="1">
                                      <a:latin typeface="Cambria Math" panose="02040503050406030204" pitchFamily="18" charset="0"/>
                                      <a:ea typeface="Cambria Math" panose="02040503050406030204" pitchFamily="18" charset="0"/>
                                    </a:rPr>
                                    <m:t>·</m:t>
                                  </m:r>
                                  <m:sSubSup>
                                    <m:sSubSupPr>
                                      <m:ctrlPr>
                                        <a:rPr lang="en-US"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𝐞</m:t>
                                      </m:r>
                                    </m:e>
                                    <m:sub>
                                      <m:r>
                                        <a:rPr lang="en-US" sz="1600" i="1">
                                          <a:latin typeface="Cambria Math" panose="02040503050406030204" pitchFamily="18" charset="0"/>
                                          <a:ea typeface="Cambria Math" panose="02040503050406030204" pitchFamily="18" charset="0"/>
                                        </a:rPr>
                                        <m:t>𝑢</m:t>
                                      </m:r>
                                    </m:sub>
                                    <m:sup>
                                      <m:r>
                                        <a:rPr lang="en-US" sz="1600" i="1">
                                          <a:latin typeface="Cambria Math" panose="02040503050406030204" pitchFamily="18" charset="0"/>
                                          <a:ea typeface="Cambria Math" panose="02040503050406030204" pitchFamily="18" charset="0"/>
                                        </a:rPr>
                                        <m:t>(</m:t>
                                      </m:r>
                                      <m:sSup>
                                        <m:sSupPr>
                                          <m:ctrlPr>
                                            <a:rPr lang="en-US" sz="1600" i="1">
                                              <a:latin typeface="Cambria Math" panose="02040503050406030204" pitchFamily="18" charset="0"/>
                                              <a:ea typeface="Cambria Math" panose="02040503050406030204" pitchFamily="18" charset="0"/>
                                            </a:rPr>
                                          </m:ctrlPr>
                                        </m:sSupPr>
                                        <m:e>
                                          <m:r>
                                            <a:rPr lang="en-US" sz="1600" i="1">
                                              <a:latin typeface="Cambria Math" panose="02040503050406030204" pitchFamily="18" charset="0"/>
                                              <a:ea typeface="Cambria Math" panose="02040503050406030204" pitchFamily="18" charset="0"/>
                                            </a:rPr>
                                            <m:t>𝑘</m:t>
                                          </m:r>
                                        </m:e>
                                        <m:sup>
                                          <m:r>
                                            <a:rPr lang="en-US" sz="1600" i="1">
                                              <a:latin typeface="Cambria Math" panose="02040503050406030204" pitchFamily="18" charset="0"/>
                                              <a:ea typeface="Cambria Math" panose="02040503050406030204" pitchFamily="18" charset="0"/>
                                            </a:rPr>
                                            <m:t>′</m:t>
                                          </m:r>
                                        </m:sup>
                                      </m:sSup>
                                      <m:r>
                                        <a:rPr lang="en-US" sz="1600" i="1">
                                          <a:latin typeface="Cambria Math" panose="02040503050406030204" pitchFamily="18" charset="0"/>
                                          <a:ea typeface="Cambria Math" panose="02040503050406030204" pitchFamily="18" charset="0"/>
                                        </a:rPr>
                                        <m:t>)</m:t>
                                      </m:r>
                                    </m:sup>
                                  </m:sSubSup>
                                  <m:r>
                                    <a:rPr lang="en-US" sz="1600" i="1">
                                      <a:latin typeface="Cambria Math" panose="02040503050406030204" pitchFamily="18" charset="0"/>
                                      <a:ea typeface="Cambria Math" panose="02040503050406030204" pitchFamily="18" charset="0"/>
                                    </a:rPr>
                                    <m:t>/</m:t>
                                  </m:r>
                                  <m:rad>
                                    <m:radPr>
                                      <m:degHide m:val="on"/>
                                      <m:ctrlPr>
                                        <a:rPr lang="en-US" sz="1600" i="1">
                                          <a:latin typeface="Cambria Math" panose="02040503050406030204" pitchFamily="18" charset="0"/>
                                          <a:ea typeface="Cambria Math" panose="02040503050406030204" pitchFamily="18" charset="0"/>
                                        </a:rPr>
                                      </m:ctrlPr>
                                    </m:radPr>
                                    <m:deg/>
                                    <m:e>
                                      <m:r>
                                        <a:rPr lang="en-US" sz="1600" i="1">
                                          <a:latin typeface="Cambria Math" panose="02040503050406030204" pitchFamily="18" charset="0"/>
                                          <a:ea typeface="Cambria Math" panose="02040503050406030204" pitchFamily="18" charset="0"/>
                                        </a:rPr>
                                        <m:t>𝑛</m:t>
                                      </m:r>
                                    </m:e>
                                  </m:rad>
                                </m:e>
                              </m:d>
                            </m:e>
                          </m:nary>
                        </m:den>
                      </m:f>
                    </m:oMath>
                  </m:oMathPara>
                </a14:m>
                <a:endParaRPr lang="en-US" sz="1600"/>
              </a:p>
            </p:txBody>
          </p:sp>
        </mc:Choice>
        <mc:Fallback xmlns="">
          <p:sp>
            <p:nvSpPr>
              <p:cNvPr id="5" name="Equation 5"/>
              <p:cNvSpPr txBox="1">
                <a:spLocks noRot="1" noChangeAspect="1" noMove="1" noResize="1" noEditPoints="1" noAdjustHandles="1" noChangeArrowheads="1" noChangeShapeType="1" noTextEdit="1"/>
              </p:cNvSpPr>
              <p:nvPr/>
            </p:nvSpPr>
            <p:spPr>
              <a:xfrm>
                <a:off x="6400800" y="2362200"/>
                <a:ext cx="5334000" cy="1117600"/>
              </a:xfrm>
              <a:prstGeom prst="rect">
                <a:avLst/>
              </a:prstGeom>
              <a:blipFill>
                <a:blip r:embed="rId4"/>
                <a:stretch>
                  <a:fillRect b="-38202"/>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 name="Equation 6"/>
              <p:cNvSpPr txBox="1"/>
              <p:nvPr/>
            </p:nvSpPr>
            <p:spPr>
              <a:xfrm>
                <a:off x="6400800" y="3429000"/>
                <a:ext cx="5334000" cy="787400"/>
              </a:xfrm>
              <a:prstGeom prst="rect">
                <a:avLst/>
              </a:prstGeom>
              <a:noFill/>
            </p:spPr>
            <p:txBody>
              <a:bodyPr wrap="none" lIns="91440" rtlCol="0" anchor="ctr"/>
              <a:lstStyle/>
              <a:p>
                <a:pPr/>
                <a14:m>
                  <m:oMathPara xmlns:m="http://schemas.openxmlformats.org/officeDocument/2006/math">
                    <m:oMathParaPr>
                      <m:jc m:val="left"/>
                    </m:oMathParaPr>
                    <m:o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𝐡</m:t>
                          </m:r>
                        </m:e>
                        <m:sub>
                          <m:r>
                            <a:rPr lang="en-US" sz="1600" i="1">
                              <a:latin typeface="Cambria Math" panose="02040503050406030204" pitchFamily="18" charset="0"/>
                              <a:ea typeface="Cambria Math" panose="02040503050406030204" pitchFamily="18" charset="0"/>
                            </a:rPr>
                            <m:t>𝑢</m:t>
                          </m:r>
                        </m:sub>
                      </m:sSub>
                      <m:r>
                        <a:rPr lang="en-US" sz="1600" i="1">
                          <a:latin typeface="Cambria Math" panose="02040503050406030204" pitchFamily="18" charset="0"/>
                          <a:ea typeface="Cambria Math" panose="02040503050406030204" pitchFamily="18" charset="0"/>
                        </a:rPr>
                        <m:t>=</m:t>
                      </m:r>
                      <m:r>
                        <m:rPr>
                          <m:sty m:val="p"/>
                        </m:rPr>
                        <a:rPr lang="en-US" sz="1600" i="1">
                          <a:latin typeface="Cambria Math" panose="02040503050406030204" pitchFamily="18" charset="0"/>
                          <a:ea typeface="Cambria Math" panose="02040503050406030204" pitchFamily="18" charset="0"/>
                        </a:rPr>
                        <m:t>Proj</m:t>
                      </m:r>
                      <m:d>
                        <m:dPr>
                          <m:ctrlPr>
                            <a:rPr lang="en-US" sz="1600" i="1">
                              <a:latin typeface="Cambria Math" panose="02040503050406030204" pitchFamily="18" charset="0"/>
                              <a:ea typeface="Cambria Math" panose="02040503050406030204" pitchFamily="18" charset="0"/>
                            </a:rPr>
                          </m:ctrlPr>
                        </m:dPr>
                        <m:e>
                          <m:r>
                            <m:rPr>
                              <m:sty m:val="p"/>
                            </m:rPr>
                            <a:rPr lang="en-US" sz="1600" i="1">
                              <a:latin typeface="Cambria Math" panose="02040503050406030204" pitchFamily="18" charset="0"/>
                              <a:ea typeface="Cambria Math" panose="02040503050406030204" pitchFamily="18" charset="0"/>
                            </a:rPr>
                            <m:t>FFN</m:t>
                          </m:r>
                          <m:d>
                            <m:dPr>
                              <m:ctrlPr>
                                <a:rPr lang="en-US" sz="1600" i="1">
                                  <a:latin typeface="Cambria Math" panose="02040503050406030204" pitchFamily="18" charset="0"/>
                                  <a:ea typeface="Cambria Math" panose="02040503050406030204" pitchFamily="18" charset="0"/>
                                </a:rPr>
                              </m:ctrlPr>
                            </m:dPr>
                            <m:e>
                              <m:nary>
                                <m:naryPr>
                                  <m:chr m:val="∑"/>
                                  <m:limLoc m:val="undOvr"/>
                                  <m:supHide m:val="on"/>
                                  <m:ctrlPr>
                                    <a:rPr lang="en-US" sz="1600" i="1">
                                      <a:latin typeface="Cambria Math" panose="02040503050406030204" pitchFamily="18" charset="0"/>
                                      <a:ea typeface="Cambria Math" panose="02040503050406030204" pitchFamily="18" charset="0"/>
                                    </a:rPr>
                                  </m:ctrlPr>
                                </m:naryPr>
                                <m:sub>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𝒦</m:t>
                                  </m:r>
                                </m:sub>
                                <m:sup/>
                                <m:e>
                                  <m:sSubSup>
                                    <m:sSubSupPr>
                                      <m:ctrlPr>
                                        <a:rPr lang="en-US"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𝛼</m:t>
                                      </m:r>
                                    </m:e>
                                    <m:sub>
                                      <m:r>
                                        <a:rPr lang="en-US" sz="1600" i="1">
                                          <a:latin typeface="Cambria Math" panose="02040503050406030204" pitchFamily="18" charset="0"/>
                                          <a:ea typeface="Cambria Math" panose="02040503050406030204" pitchFamily="18" charset="0"/>
                                        </a:rPr>
                                        <m:t>𝑢</m:t>
                                      </m:r>
                                    </m:sub>
                                    <m:sup>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m:t>
                                      </m:r>
                                    </m:sup>
                                  </m:sSubSup>
                                  <m:sSubSup>
                                    <m:sSubSupPr>
                                      <m:ctrlPr>
                                        <a:rPr lang="en-US"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𝐞</m:t>
                                      </m:r>
                                    </m:e>
                                    <m:sub>
                                      <m:r>
                                        <a:rPr lang="en-US" sz="1600" i="1">
                                          <a:latin typeface="Cambria Math" panose="02040503050406030204" pitchFamily="18" charset="0"/>
                                          <a:ea typeface="Cambria Math" panose="02040503050406030204" pitchFamily="18" charset="0"/>
                                        </a:rPr>
                                        <m:t>𝑢</m:t>
                                      </m:r>
                                    </m:sub>
                                    <m:sup>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m:t>
                                      </m:r>
                                    </m:sup>
                                  </m:sSubSup>
                                </m:e>
                              </m:nary>
                            </m:e>
                          </m:d>
                        </m:e>
                      </m:d>
                    </m:oMath>
                  </m:oMathPara>
                </a14:m>
                <a:endParaRPr lang="en-US" sz="1600"/>
              </a:p>
            </p:txBody>
          </p:sp>
        </mc:Choice>
        <mc:Fallback xmlns="">
          <p:sp>
            <p:nvSpPr>
              <p:cNvPr id="6" name="Equation 6"/>
              <p:cNvSpPr txBox="1">
                <a:spLocks noRot="1" noChangeAspect="1" noMove="1" noResize="1" noEditPoints="1" noAdjustHandles="1" noChangeArrowheads="1" noChangeShapeType="1" noTextEdit="1"/>
              </p:cNvSpPr>
              <p:nvPr/>
            </p:nvSpPr>
            <p:spPr>
              <a:xfrm>
                <a:off x="6400800" y="3429000"/>
                <a:ext cx="5334000" cy="787400"/>
              </a:xfrm>
              <a:prstGeom prst="rect">
                <a:avLst/>
              </a:prstGeom>
              <a:blipFill>
                <a:blip r:embed="rId5"/>
                <a:stretch>
                  <a:fillRect t="-96825" b="-150794"/>
                </a:stretch>
              </a:blipFill>
            </p:spPr>
            <p:txBody>
              <a:bodyPr/>
              <a:lstStyle/>
              <a:p>
                <a:r>
                  <a:rPr lang="ko-KR" altLang="en-US">
                    <a:noFill/>
                  </a:rPr>
                  <a:t> </a:t>
                </a:r>
              </a:p>
            </p:txBody>
          </p:sp>
        </mc:Fallback>
      </mc:AlternateContent>
      <p:sp>
        <p:nvSpPr>
          <p:cNvPr id="7" name="Text 2"/>
          <p:cNvSpPr txBox="1"/>
          <p:nvPr/>
        </p:nvSpPr>
        <p:spPr>
          <a:xfrm>
            <a:off x="6309360" y="4526280"/>
            <a:ext cx="3474720" cy="320040"/>
          </a:xfrm>
          <a:prstGeom prst="rect">
            <a:avLst/>
          </a:prstGeom>
          <a:noFill/>
          <a:ln/>
        </p:spPr>
        <p:txBody>
          <a:bodyPr wrap="square" lIns="0" tIns="0" rIns="0" bIns="0" rtlCol="0" anchor="t"/>
          <a:lstStyle/>
          <a:p>
            <a:pPr marL="0" indent="0">
              <a:spcAft>
                <a:spcPts val="600"/>
              </a:spcAft>
              <a:buNone/>
            </a:pPr>
            <a:r>
              <a:rPr lang="en-US" sz="13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결과  </a:t>
            </a: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source · target 페르소나 벡터가 하나씩</a:t>
            </a:r>
            <a:endParaRPr lang="en-US" sz="1300" dirty="0"/>
          </a:p>
        </p:txBody>
      </p:sp>
      <mc:AlternateContent xmlns:mc="http://schemas.openxmlformats.org/markup-compatibility/2006" xmlns:a14="http://schemas.microsoft.com/office/drawing/2010/main">
        <mc:Choice Requires="a14">
          <p:sp>
            <p:nvSpPr>
              <p:cNvPr id="8" name="Equation 8"/>
              <p:cNvSpPr txBox="1"/>
              <p:nvPr/>
            </p:nvSpPr>
            <p:spPr>
              <a:xfrm>
                <a:off x="9461500" y="4356100"/>
                <a:ext cx="1841500" cy="457200"/>
              </a:xfrm>
              <a:prstGeom prst="rect">
                <a:avLst/>
              </a:prstGeom>
              <a:noFill/>
            </p:spPr>
            <p:txBody>
              <a:bodyPr wrap="none" lIns="91440" rtlCol="0" anchor="ctr"/>
              <a:lstStyle/>
              <a:p>
                <a:pPr/>
                <a14:m>
                  <m:oMathPara xmlns:m="http://schemas.openxmlformats.org/officeDocument/2006/math">
                    <m:oMathParaPr>
                      <m:jc m:val="left"/>
                    </m:oMathParaPr>
                    <m:o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𝐡</m:t>
                          </m:r>
                        </m:e>
                        <m:sub>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𝑢</m:t>
                              </m:r>
                            </m:e>
                            <m:sub>
                              <m:r>
                                <a:rPr lang="en-US" sz="1600" i="1">
                                  <a:latin typeface="Cambria Math" panose="02040503050406030204" pitchFamily="18" charset="0"/>
                                  <a:ea typeface="Cambria Math" panose="02040503050406030204" pitchFamily="18" charset="0"/>
                                </a:rPr>
                                <m:t>𝑠</m:t>
                              </m:r>
                            </m:sub>
                          </m:sSub>
                        </m:sub>
                      </m:sSub>
                      <m:r>
                        <a:rPr lang="en-US" sz="1600" i="1">
                          <a:latin typeface="Cambria Math" panose="02040503050406030204" pitchFamily="18" charset="0"/>
                          <a:ea typeface="Cambria Math" panose="02040503050406030204" pitchFamily="18" charset="0"/>
                        </a:rPr>
                        <m:t>, </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𝐡</m:t>
                          </m:r>
                        </m:e>
                        <m:sub>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𝑢</m:t>
                              </m:r>
                            </m:e>
                            <m:sub>
                              <m:r>
                                <a:rPr lang="en-US" sz="1600" i="1">
                                  <a:latin typeface="Cambria Math" panose="02040503050406030204" pitchFamily="18" charset="0"/>
                                  <a:ea typeface="Cambria Math" panose="02040503050406030204" pitchFamily="18" charset="0"/>
                                </a:rPr>
                                <m:t>𝑡</m:t>
                              </m:r>
                            </m:sub>
                          </m:sSub>
                        </m:sub>
                      </m:sSub>
                    </m:oMath>
                  </m:oMathPara>
                </a14:m>
                <a:endParaRPr lang="en-US" sz="1600"/>
              </a:p>
            </p:txBody>
          </p:sp>
        </mc:Choice>
        <mc:Fallback xmlns="">
          <p:sp>
            <p:nvSpPr>
              <p:cNvPr id="8" name="Equation 8"/>
              <p:cNvSpPr txBox="1">
                <a:spLocks noRot="1" noChangeAspect="1" noMove="1" noResize="1" noEditPoints="1" noAdjustHandles="1" noChangeArrowheads="1" noChangeShapeType="1" noTextEdit="1"/>
              </p:cNvSpPr>
              <p:nvPr/>
            </p:nvSpPr>
            <p:spPr>
              <a:xfrm>
                <a:off x="9461500" y="4356100"/>
                <a:ext cx="1841500" cy="457200"/>
              </a:xfrm>
              <a:prstGeom prst="rect">
                <a:avLst/>
              </a:prstGeom>
              <a:blipFill>
                <a:blip r:embed="rId6"/>
                <a:stretch>
                  <a:fillRect b="-2703"/>
                </a:stretch>
              </a:blipFill>
            </p:spPr>
            <p:txBody>
              <a:bodyPr/>
              <a:lstStyle/>
              <a:p>
                <a:r>
                  <a:rPr lang="ko-KR" altLang="en-US">
                    <a:noFill/>
                  </a:rPr>
                  <a:t> </a:t>
                </a:r>
              </a:p>
            </p:txBody>
          </p:sp>
        </mc:Fallback>
      </mc:AlternateContent>
      <p:sp>
        <p:nvSpPr>
          <p:cNvPr id="9" name="Shape 3"/>
          <p:cNvSpPr/>
          <p:nvPr/>
        </p:nvSpPr>
        <p:spPr>
          <a:xfrm>
            <a:off x="640080" y="4983480"/>
            <a:ext cx="10972800" cy="685800"/>
          </a:xfrm>
          <a:prstGeom prst="rect">
            <a:avLst/>
          </a:prstGeom>
          <a:solidFill>
            <a:srgbClr val="E9F7F6"/>
          </a:solidFill>
          <a:ln w="12700">
            <a:solidFill>
              <a:srgbClr val="E9F7F6"/>
            </a:solidFill>
            <a:prstDash val="solid"/>
          </a:ln>
        </p:spPr>
        <p:txBody>
          <a:bodyPr/>
          <a:lstStyle/>
          <a:p>
            <a:endParaRPr lang="ko-KR" altLang="en-US"/>
          </a:p>
        </p:txBody>
      </p:sp>
      <p:sp>
        <p:nvSpPr>
          <p:cNvPr id="10" name="Text 4"/>
          <p:cNvSpPr txBox="1"/>
          <p:nvPr/>
        </p:nvSpPr>
        <p:spPr>
          <a:xfrm>
            <a:off x="777240" y="4983480"/>
            <a:ext cx="10698480" cy="685800"/>
          </a:xfrm>
          <a:prstGeom prst="rect">
            <a:avLst/>
          </a:prstGeom>
          <a:noFill/>
          <a:ln/>
        </p:spPr>
        <p:txBody>
          <a:bodyPr wrap="square" lIns="0" tIns="0" rIns="0" bIns="0" rtlCol="0" anchor="ctr"/>
          <a:lstStyle/>
          <a:p>
            <a:pPr marL="0" indent="0">
              <a:spcAft>
                <a:spcPts val="600"/>
              </a:spcAft>
              <a:buNone/>
            </a:pPr>
            <a:r>
              <a:rPr lang="en-US" sz="130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비유  </a:t>
            </a: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심사위원(MASK)이 보고서 5개를 읽고 "이 사람은 가격 페르소나가 중요하네" 하며 가중치를 매기는 것 · √n은 값이 너무 커지지 않게 하는 스케일링</a:t>
            </a:r>
            <a:endParaRPr lang="en-US" sz="1300" dirty="0"/>
          </a:p>
        </p:txBody>
      </p:sp>
      <p:sp>
        <p:nvSpPr>
          <p:cNvPr id="11" name="Text 5"/>
          <p:cNvSpPr txBox="1"/>
          <p:nvPr/>
        </p:nvSpPr>
        <p:spPr>
          <a:xfrm>
            <a:off x="640080" y="5870448"/>
            <a:ext cx="10972800" cy="228600"/>
          </a:xfrm>
          <a:prstGeom prst="rect">
            <a:avLst/>
          </a:prstGeom>
          <a:noFill/>
          <a:ln/>
        </p:spPr>
        <p:txBody>
          <a:bodyPr wrap="square" lIns="0" tIns="0" rIns="0" bIns="0" rtlCol="0" anchor="ctr"/>
          <a:lstStyle/>
          <a:p>
            <a:pPr marL="0" indent="0">
              <a:buNone/>
            </a:pPr>
            <a:r>
              <a:rPr lang="en-US" sz="95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Figure 3(a) (p.4), Eq.(10)–(11), Kang &amp; Lee, KDD 2026</a:t>
            </a:r>
            <a:endParaRPr lang="en-US" sz="950" dirty="0"/>
          </a:p>
        </p:txBody>
      </p:sp>
      <p:pic>
        <p:nvPicPr>
          <p:cNvPr id="12" name="그림 11">
            <a:extLst>
              <a:ext uri="{FF2B5EF4-FFF2-40B4-BE49-F238E27FC236}">
                <a16:creationId xmlns:a16="http://schemas.microsoft.com/office/drawing/2014/main" id="{0DD9A075-C932-EEFD-7237-B09DC2DB9B02}"/>
              </a:ext>
            </a:extLst>
          </p:cNvPr>
          <p:cNvPicPr>
            <a:picLocks noChangeAspect="1"/>
          </p:cNvPicPr>
          <p:nvPr/>
        </p:nvPicPr>
        <p:blipFill>
          <a:blip r:embed="rId7"/>
          <a:stretch>
            <a:fillRect/>
          </a:stretch>
        </p:blipFill>
        <p:spPr>
          <a:xfrm>
            <a:off x="640080" y="1225296"/>
            <a:ext cx="5684530" cy="3450710"/>
          </a:xfrm>
          <a:prstGeom prst="rect">
            <a:avLst/>
          </a:prstGeom>
        </p:spPr>
      </p:pic>
    </p:spTree>
    <p:extLst>
      <p:ext uri="{BB962C8B-B14F-4D97-AF65-F5344CB8AC3E}">
        <p14:creationId xmlns:p14="http://schemas.microsoft.com/office/powerpoint/2010/main" val="2896032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3.3 (P2) Step 1: Doppelganger Generation</a:t>
            </a:r>
            <a:endParaRPr lang="en-US" sz="2800" dirty="0"/>
          </a:p>
        </p:txBody>
      </p:sp>
      <p:sp>
        <p:nvSpPr>
          <p:cNvPr id="3" name="Text 1"/>
          <p:cNvSpPr txBox="1"/>
          <p:nvPr/>
        </p:nvSpPr>
        <p:spPr>
          <a:xfrm>
            <a:off x="640080" y="1325880"/>
            <a:ext cx="8412480" cy="868680"/>
          </a:xfrm>
          <a:prstGeom prst="rect">
            <a:avLst/>
          </a:prstGeom>
          <a:noFill/>
          <a:ln/>
        </p:spPr>
        <p:txBody>
          <a:bodyPr wrap="square" lIns="0" tIns="0" rIns="0" bIns="0" rtlCol="0" anchor="t"/>
          <a:lstStyle/>
          <a:p>
            <a:pPr marL="0" indent="0">
              <a:spcAft>
                <a:spcPts val="600"/>
              </a:spcAft>
              <a:buNone/>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기존 방식의 문제  contrastive 방법이 source 벡터와 target 벡터를 직접 가깝게 당김 → target 고유의 취향이 뭉개짐</a:t>
            </a:r>
            <a:endParaRPr lang="en-US" sz="1400" dirty="0"/>
          </a:p>
          <a:p>
            <a:pPr marL="0" indent="0">
              <a:spcAft>
                <a:spcPts val="600"/>
              </a:spcAft>
              <a:buNone/>
            </a:pPr>
            <a:r>
              <a:rPr lang="en-US" sz="14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해결  </a:t>
            </a: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target을 기준점(anchor)으로 삼고, 학습도 target 도메인에서만 수행</a:t>
            </a:r>
            <a:endParaRPr lang="en-US" sz="1400" dirty="0"/>
          </a:p>
        </p:txBody>
      </p:sp>
      <p:sp>
        <p:nvSpPr>
          <p:cNvPr id="4" name="Shape 2"/>
          <p:cNvSpPr/>
          <p:nvPr/>
        </p:nvSpPr>
        <p:spPr>
          <a:xfrm>
            <a:off x="640080" y="2286000"/>
            <a:ext cx="8412480" cy="0"/>
          </a:xfrm>
          <a:prstGeom prst="line">
            <a:avLst/>
          </a:prstGeom>
          <a:noFill/>
          <a:ln w="9525">
            <a:solidFill>
              <a:srgbClr val="D9DDE1"/>
            </a:solidFill>
            <a:prstDash val="solid"/>
          </a:ln>
        </p:spPr>
        <p:txBody>
          <a:bodyPr/>
          <a:lstStyle/>
          <a:p>
            <a:endParaRPr lang="ko-KR" altLang="en-US"/>
          </a:p>
        </p:txBody>
      </p:sp>
      <p:sp>
        <p:nvSpPr>
          <p:cNvPr id="5" name="Text 3"/>
          <p:cNvSpPr txBox="1"/>
          <p:nvPr/>
        </p:nvSpPr>
        <p:spPr>
          <a:xfrm>
            <a:off x="640080" y="2423160"/>
            <a:ext cx="8412480" cy="77724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초기값: target 페르소나를 그대로 복사 → target 중심에서 출발</a:t>
            </a:r>
            <a:endParaRPr lang="en-US" sz="1500" dirty="0"/>
          </a:p>
          <a:p>
            <a:pPr marL="190500" indent="-190500">
              <a:spcAft>
                <a:spcPts val="600"/>
              </a:spcAft>
              <a:buSzPct val="100000"/>
              <a:buChar char="•"/>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Cross-attention: query = target의 나, key · value = source의 나</a:t>
            </a:r>
            <a:endParaRPr lang="en-US" sz="1500" dirty="0"/>
          </a:p>
        </p:txBody>
      </p:sp>
      <mc:AlternateContent xmlns:mc="http://schemas.openxmlformats.org/markup-compatibility/2006" xmlns:a14="http://schemas.microsoft.com/office/drawing/2010/main">
        <mc:Choice Requires="a14">
          <p:sp>
            <p:nvSpPr>
              <p:cNvPr id="6" name="Equation 6"/>
              <p:cNvSpPr txBox="1"/>
              <p:nvPr/>
            </p:nvSpPr>
            <p:spPr>
              <a:xfrm>
                <a:off x="736600" y="3098800"/>
                <a:ext cx="8509000" cy="1143000"/>
              </a:xfrm>
              <a:prstGeom prst="rect">
                <a:avLst/>
              </a:prstGeom>
              <a:noFill/>
            </p:spPr>
            <p:txBody>
              <a:bodyPr wrap="none" lIns="91440" rtlCol="0" anchor="ctr"/>
              <a:lstStyle/>
              <a:p>
                <a:pPr/>
                <a14:m>
                  <m:oMathPara xmlns:m="http://schemas.openxmlformats.org/officeDocument/2006/math">
                    <m:oMathParaPr>
                      <m:jc m:val="left"/>
                    </m:oMathParaPr>
                    <m:oMath>
                      <m:sSubSup>
                        <m:sSubSupPr>
                          <m:ctrlPr>
                            <a:rPr lang="en-US" sz="1800" i="1">
                              <a:latin typeface="Cambria Math" panose="02040503050406030204" pitchFamily="18" charset="0"/>
                              <a:ea typeface="Cambria Math" panose="02040503050406030204" pitchFamily="18" charset="0"/>
                            </a:rPr>
                          </m:ctrlPr>
                        </m:sSubSup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𝑠</m:t>
                          </m:r>
                        </m:sub>
                        <m:sup>
                          <m:r>
                            <m:rPr>
                              <m:sty m:val="p"/>
                            </m:rPr>
                            <a:rPr lang="en-US" sz="1800" i="1">
                              <a:latin typeface="Cambria Math" panose="02040503050406030204" pitchFamily="18" charset="0"/>
                              <a:ea typeface="Cambria Math" panose="02040503050406030204" pitchFamily="18" charset="0"/>
                            </a:rPr>
                            <m:t>dpl</m:t>
                          </m:r>
                        </m:sup>
                      </m:sSubSup>
                      <m:r>
                        <a:rPr lang="en-US" sz="1800" i="1">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r>
                            <m:rPr>
                              <m:sty m:val="p"/>
                            </m:rPr>
                            <a:rPr lang="en-US" sz="1800" i="1">
                              <a:latin typeface="Cambria Math" panose="02040503050406030204" pitchFamily="18" charset="0"/>
                              <a:ea typeface="Cambria Math" panose="02040503050406030204" pitchFamily="18" charset="0"/>
                            </a:rPr>
                            <m:t>exp</m:t>
                          </m:r>
                          <m:d>
                            <m:dPr>
                              <m:ctrlPr>
                                <a:rPr lang="en-US" sz="1800" i="1">
                                  <a:latin typeface="Cambria Math" panose="02040503050406030204" pitchFamily="18" charset="0"/>
                                  <a:ea typeface="Cambria Math" panose="02040503050406030204" pitchFamily="18" charset="0"/>
                                </a:rPr>
                              </m:ctrlPr>
                            </m:dPr>
                            <m:e>
                              <m:sSub>
                                <m:sSubPr>
                                  <m:ctrlPr>
                                    <a:rPr lang="en-US" sz="1800" i="1">
                                      <a:latin typeface="Cambria Math" panose="02040503050406030204" pitchFamily="18" charset="0"/>
                                      <a:ea typeface="Cambria Math" panose="02040503050406030204" pitchFamily="18" charset="0"/>
                                    </a:rPr>
                                  </m:ctrlPr>
                                </m:sSubPr>
                                <m:e>
                                  <m:acc>
                                    <m:accPr>
                                      <m:chr m:val="̃"/>
                                      <m:ctrlPr>
                                        <a:rPr lang="en-US" sz="1800" i="1">
                                          <a:latin typeface="Cambria Math" panose="02040503050406030204" pitchFamily="18" charset="0"/>
                                          <a:ea typeface="Cambria Math" panose="02040503050406030204" pitchFamily="18" charset="0"/>
                                        </a:rPr>
                                      </m:ctrlPr>
                                    </m:accPr>
                                    <m:e>
                                      <m:r>
                                        <a:rPr lang="en-US" sz="1800" i="1">
                                          <a:latin typeface="Cambria Math" panose="02040503050406030204" pitchFamily="18" charset="0"/>
                                          <a:ea typeface="Cambria Math" panose="02040503050406030204" pitchFamily="18" charset="0"/>
                                        </a:rPr>
                                        <m:t>𝐡</m:t>
                                      </m:r>
                                    </m:e>
                                  </m:acc>
                                </m:e>
                                <m:sub>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𝑢</m:t>
                                      </m:r>
                                    </m:e>
                                    <m:sub>
                                      <m:r>
                                        <a:rPr lang="en-US" sz="1800" i="1">
                                          <a:latin typeface="Cambria Math" panose="02040503050406030204" pitchFamily="18" charset="0"/>
                                          <a:ea typeface="Cambria Math" panose="02040503050406030204" pitchFamily="18" charset="0"/>
                                        </a:rPr>
                                        <m:t>𝑡</m:t>
                                      </m:r>
                                    </m:sub>
                                  </m:sSub>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𝐡</m:t>
                                  </m:r>
                                </m:e>
                                <m:sub>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𝑢</m:t>
                                      </m:r>
                                    </m:e>
                                    <m:sub>
                                      <m:r>
                                        <a:rPr lang="en-US" sz="1800" i="1">
                                          <a:latin typeface="Cambria Math" panose="02040503050406030204" pitchFamily="18" charset="0"/>
                                          <a:ea typeface="Cambria Math" panose="02040503050406030204" pitchFamily="18" charset="0"/>
                                        </a:rPr>
                                        <m:t>𝑠</m:t>
                                      </m:r>
                                    </m:sub>
                                  </m:sSub>
                                </m:sub>
                              </m:sSub>
                              <m:r>
                                <a:rPr lang="en-US" sz="1800" i="1">
                                  <a:latin typeface="Cambria Math" panose="02040503050406030204" pitchFamily="18" charset="0"/>
                                  <a:ea typeface="Cambria Math" panose="02040503050406030204" pitchFamily="18" charset="0"/>
                                </a:rPr>
                                <m:t>/</m:t>
                              </m:r>
                              <m:rad>
                                <m:radPr>
                                  <m:degHide m:val="on"/>
                                  <m:ctrlPr>
                                    <a:rPr lang="en-US" sz="1800" i="1">
                                      <a:latin typeface="Cambria Math" panose="02040503050406030204" pitchFamily="18" charset="0"/>
                                      <a:ea typeface="Cambria Math" panose="02040503050406030204" pitchFamily="18" charset="0"/>
                                    </a:rPr>
                                  </m:ctrlPr>
                                </m:radPr>
                                <m:deg/>
                                <m:e>
                                  <m:r>
                                    <a:rPr lang="en-US" sz="1800" i="1">
                                      <a:latin typeface="Cambria Math" panose="02040503050406030204" pitchFamily="18" charset="0"/>
                                      <a:ea typeface="Cambria Math" panose="02040503050406030204" pitchFamily="18" charset="0"/>
                                    </a:rPr>
                                    <m:t>𝑛</m:t>
                                  </m:r>
                                </m:e>
                              </m:rad>
                            </m:e>
                          </m:d>
                        </m:num>
                        <m:den>
                          <m:nary>
                            <m:naryPr>
                              <m:chr m:val="∑"/>
                              <m:limLoc m:val="undOvr"/>
                              <m:supHide m:val="on"/>
                              <m:ctrlPr>
                                <a:rPr lang="en-US" sz="1800" i="1">
                                  <a:latin typeface="Cambria Math" panose="02040503050406030204" pitchFamily="18" charset="0"/>
                                  <a:ea typeface="Cambria Math" panose="02040503050406030204" pitchFamily="18" charset="0"/>
                                </a:rPr>
                              </m:ctrlPr>
                            </m:naryPr>
                            <m:sub>
                              <m:sSup>
                                <m:sSupPr>
                                  <m:ctrlPr>
                                    <a:rPr lang="en-US" sz="1800" i="1">
                                      <a:latin typeface="Cambria Math" panose="02040503050406030204" pitchFamily="18" charset="0"/>
                                      <a:ea typeface="Cambria Math" panose="02040503050406030204" pitchFamily="18" charset="0"/>
                                    </a:rPr>
                                  </m:ctrlPr>
                                </m:sSupPr>
                                <m:e>
                                  <m:r>
                                    <a:rPr lang="en-US" sz="1800" i="1">
                                      <a:latin typeface="Cambria Math" panose="02040503050406030204" pitchFamily="18" charset="0"/>
                                      <a:ea typeface="Cambria Math" panose="02040503050406030204" pitchFamily="18" charset="0"/>
                                    </a:rPr>
                                    <m:t>𝑢</m:t>
                                  </m:r>
                                </m:e>
                                <m:sup>
                                  <m:r>
                                    <a:rPr lang="en-US" sz="1800" i="1">
                                      <a:latin typeface="Cambria Math" panose="02040503050406030204" pitchFamily="18" charset="0"/>
                                      <a:ea typeface="Cambria Math" panose="02040503050406030204" pitchFamily="18" charset="0"/>
                                    </a:rPr>
                                    <m:t>′</m:t>
                                  </m:r>
                                </m:sup>
                              </m:sSup>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𝒰</m:t>
                                  </m:r>
                                </m:e>
                                <m:sub>
                                  <m:r>
                                    <a:rPr lang="en-US" sz="1800" i="1">
                                      <a:latin typeface="Cambria Math" panose="02040503050406030204" pitchFamily="18" charset="0"/>
                                      <a:ea typeface="Cambria Math" panose="02040503050406030204" pitchFamily="18" charset="0"/>
                                    </a:rPr>
                                    <m:t>𝑠</m:t>
                                  </m:r>
                                </m:sub>
                              </m:sSub>
                            </m:sub>
                            <m:sup/>
                            <m:e>
                              <m:r>
                                <m:rPr>
                                  <m:sty m:val="p"/>
                                </m:rPr>
                                <a:rPr lang="en-US" sz="1800" i="1">
                                  <a:latin typeface="Cambria Math" panose="02040503050406030204" pitchFamily="18" charset="0"/>
                                  <a:ea typeface="Cambria Math" panose="02040503050406030204" pitchFamily="18" charset="0"/>
                                </a:rPr>
                                <m:t>exp</m:t>
                              </m:r>
                              <m:d>
                                <m:dPr>
                                  <m:ctrlPr>
                                    <a:rPr lang="en-US" sz="1800" i="1">
                                      <a:latin typeface="Cambria Math" panose="02040503050406030204" pitchFamily="18" charset="0"/>
                                      <a:ea typeface="Cambria Math" panose="02040503050406030204" pitchFamily="18" charset="0"/>
                                    </a:rPr>
                                  </m:ctrlPr>
                                </m:dPr>
                                <m:e>
                                  <m:sSub>
                                    <m:sSubPr>
                                      <m:ctrlPr>
                                        <a:rPr lang="en-US" sz="1800" i="1">
                                          <a:latin typeface="Cambria Math" panose="02040503050406030204" pitchFamily="18" charset="0"/>
                                          <a:ea typeface="Cambria Math" panose="02040503050406030204" pitchFamily="18" charset="0"/>
                                        </a:rPr>
                                      </m:ctrlPr>
                                    </m:sSubPr>
                                    <m:e>
                                      <m:acc>
                                        <m:accPr>
                                          <m:chr m:val="̃"/>
                                          <m:ctrlPr>
                                            <a:rPr lang="en-US" sz="1800" i="1">
                                              <a:latin typeface="Cambria Math" panose="02040503050406030204" pitchFamily="18" charset="0"/>
                                              <a:ea typeface="Cambria Math" panose="02040503050406030204" pitchFamily="18" charset="0"/>
                                            </a:rPr>
                                          </m:ctrlPr>
                                        </m:accPr>
                                        <m:e>
                                          <m:r>
                                            <a:rPr lang="en-US" sz="1800" i="1">
                                              <a:latin typeface="Cambria Math" panose="02040503050406030204" pitchFamily="18" charset="0"/>
                                              <a:ea typeface="Cambria Math" panose="02040503050406030204" pitchFamily="18" charset="0"/>
                                            </a:rPr>
                                            <m:t>𝐡</m:t>
                                          </m:r>
                                        </m:e>
                                      </m:acc>
                                    </m:e>
                                    <m:sub>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𝑢</m:t>
                                          </m:r>
                                        </m:e>
                                        <m:sub>
                                          <m:r>
                                            <a:rPr lang="en-US" sz="1800" i="1">
                                              <a:latin typeface="Cambria Math" panose="02040503050406030204" pitchFamily="18" charset="0"/>
                                              <a:ea typeface="Cambria Math" panose="02040503050406030204" pitchFamily="18" charset="0"/>
                                            </a:rPr>
                                            <m:t>𝑡</m:t>
                                          </m:r>
                                        </m:sub>
                                      </m:sSub>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𝐡</m:t>
                                      </m:r>
                                    </m:e>
                                    <m:sub>
                                      <m:sSubSup>
                                        <m:sSubSupPr>
                                          <m:ctrlPr>
                                            <a:rPr lang="en-US" sz="1800" i="1">
                                              <a:latin typeface="Cambria Math" panose="02040503050406030204" pitchFamily="18" charset="0"/>
                                              <a:ea typeface="Cambria Math" panose="02040503050406030204" pitchFamily="18" charset="0"/>
                                            </a:rPr>
                                          </m:ctrlPr>
                                        </m:sSubSupPr>
                                        <m:e>
                                          <m:r>
                                            <a:rPr lang="en-US" sz="1800" i="1">
                                              <a:latin typeface="Cambria Math" panose="02040503050406030204" pitchFamily="18" charset="0"/>
                                              <a:ea typeface="Cambria Math" panose="02040503050406030204" pitchFamily="18" charset="0"/>
                                            </a:rPr>
                                            <m:t>𝑢</m:t>
                                          </m:r>
                                        </m:e>
                                        <m:sub>
                                          <m:r>
                                            <a:rPr lang="en-US" sz="1800" i="1">
                                              <a:latin typeface="Cambria Math" panose="02040503050406030204" pitchFamily="18" charset="0"/>
                                              <a:ea typeface="Cambria Math" panose="02040503050406030204" pitchFamily="18" charset="0"/>
                                            </a:rPr>
                                            <m:t>𝑠</m:t>
                                          </m:r>
                                        </m:sub>
                                        <m:sup>
                                          <m:r>
                                            <a:rPr lang="en-US" sz="1800" i="1">
                                              <a:latin typeface="Cambria Math" panose="02040503050406030204" pitchFamily="18" charset="0"/>
                                              <a:ea typeface="Cambria Math" panose="02040503050406030204" pitchFamily="18" charset="0"/>
                                            </a:rPr>
                                            <m:t>′</m:t>
                                          </m:r>
                                        </m:sup>
                                      </m:sSubSup>
                                    </m:sub>
                                  </m:sSub>
                                  <m:r>
                                    <a:rPr lang="en-US" sz="1800" i="1">
                                      <a:latin typeface="Cambria Math" panose="02040503050406030204" pitchFamily="18" charset="0"/>
                                      <a:ea typeface="Cambria Math" panose="02040503050406030204" pitchFamily="18" charset="0"/>
                                    </a:rPr>
                                    <m:t>/</m:t>
                                  </m:r>
                                  <m:rad>
                                    <m:radPr>
                                      <m:degHide m:val="on"/>
                                      <m:ctrlPr>
                                        <a:rPr lang="en-US" sz="1800" i="1">
                                          <a:latin typeface="Cambria Math" panose="02040503050406030204" pitchFamily="18" charset="0"/>
                                          <a:ea typeface="Cambria Math" panose="02040503050406030204" pitchFamily="18" charset="0"/>
                                        </a:rPr>
                                      </m:ctrlPr>
                                    </m:radPr>
                                    <m:deg/>
                                    <m:e>
                                      <m:r>
                                        <a:rPr lang="en-US" sz="1800" i="1">
                                          <a:latin typeface="Cambria Math" panose="02040503050406030204" pitchFamily="18" charset="0"/>
                                          <a:ea typeface="Cambria Math" panose="02040503050406030204" pitchFamily="18" charset="0"/>
                                        </a:rPr>
                                        <m:t>𝑛</m:t>
                                      </m:r>
                                    </m:e>
                                  </m:rad>
                                </m:e>
                              </m:d>
                            </m:e>
                          </m:nary>
                        </m:den>
                      </m:f>
                      <m:r>
                        <a:rPr lang="en-US" sz="1800" i="1">
                          <a:latin typeface="Cambria Math" panose="02040503050406030204" pitchFamily="18" charset="0"/>
                          <a:ea typeface="Cambria Math" panose="02040503050406030204" pitchFamily="18" charset="0"/>
                        </a:rPr>
                        <m:t>,  </m:t>
                      </m:r>
                      <m:sSub>
                        <m:sSubPr>
                          <m:ctrlPr>
                            <a:rPr lang="en-US" sz="1800" i="1">
                              <a:latin typeface="Cambria Math" panose="02040503050406030204" pitchFamily="18" charset="0"/>
                              <a:ea typeface="Cambria Math" panose="02040503050406030204" pitchFamily="18" charset="0"/>
                            </a:rPr>
                          </m:ctrlPr>
                        </m:sSubPr>
                        <m:e>
                          <m:acc>
                            <m:accPr>
                              <m:chr m:val="̃"/>
                              <m:ctrlPr>
                                <a:rPr lang="en-US" sz="1800" i="1">
                                  <a:latin typeface="Cambria Math" panose="02040503050406030204" pitchFamily="18" charset="0"/>
                                  <a:ea typeface="Cambria Math" panose="02040503050406030204" pitchFamily="18" charset="0"/>
                                </a:rPr>
                              </m:ctrlPr>
                            </m:accPr>
                            <m:e>
                              <m:r>
                                <a:rPr lang="en-US" sz="1800" i="1">
                                  <a:latin typeface="Cambria Math" panose="02040503050406030204" pitchFamily="18" charset="0"/>
                                  <a:ea typeface="Cambria Math" panose="02040503050406030204" pitchFamily="18" charset="0"/>
                                </a:rPr>
                                <m:t>𝐡</m:t>
                              </m:r>
                            </m:e>
                          </m:acc>
                        </m:e>
                        <m:sub>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𝑢</m:t>
                              </m:r>
                            </m:e>
                            <m:sub>
                              <m:r>
                                <a:rPr lang="en-US" sz="1800" i="1">
                                  <a:latin typeface="Cambria Math" panose="02040503050406030204" pitchFamily="18" charset="0"/>
                                  <a:ea typeface="Cambria Math" panose="02040503050406030204" pitchFamily="18" charset="0"/>
                                </a:rPr>
                                <m:t>𝑡</m:t>
                              </m:r>
                            </m:sub>
                          </m:sSub>
                        </m:sub>
                      </m:sSub>
                      <m:r>
                        <a:rPr lang="en-US" sz="1800" i="1">
                          <a:latin typeface="Cambria Math" panose="02040503050406030204" pitchFamily="18" charset="0"/>
                          <a:ea typeface="Cambria Math" panose="02040503050406030204" pitchFamily="18" charset="0"/>
                        </a:rPr>
                        <m:t>=</m:t>
                      </m:r>
                      <m:sSubSup>
                        <m:sSubSupPr>
                          <m:ctrlPr>
                            <a:rPr lang="en-US" sz="1800" i="1">
                              <a:latin typeface="Cambria Math" panose="02040503050406030204" pitchFamily="18" charset="0"/>
                              <a:ea typeface="Cambria Math" panose="02040503050406030204" pitchFamily="18" charset="0"/>
                            </a:rPr>
                          </m:ctrlPr>
                        </m:sSubSup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𝑠</m:t>
                          </m:r>
                        </m:sub>
                        <m:sup>
                          <m:r>
                            <m:rPr>
                              <m:sty m:val="p"/>
                            </m:rPr>
                            <a:rPr lang="en-US" sz="1800" i="1">
                              <a:latin typeface="Cambria Math" panose="02040503050406030204" pitchFamily="18" charset="0"/>
                              <a:ea typeface="Cambria Math" panose="02040503050406030204" pitchFamily="18" charset="0"/>
                            </a:rPr>
                            <m:t>dpl</m:t>
                          </m:r>
                        </m:sup>
                      </m:sSubSup>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𝐡</m:t>
                          </m:r>
                        </m:e>
                        <m:sub>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𝑢</m:t>
                              </m:r>
                            </m:e>
                            <m:sub>
                              <m:r>
                                <a:rPr lang="en-US" sz="1800" i="1">
                                  <a:latin typeface="Cambria Math" panose="02040503050406030204" pitchFamily="18" charset="0"/>
                                  <a:ea typeface="Cambria Math" panose="02040503050406030204" pitchFamily="18" charset="0"/>
                                </a:rPr>
                                <m:t>𝑠</m:t>
                              </m:r>
                            </m:sub>
                          </m:sSub>
                        </m:sub>
                      </m:sSub>
                    </m:oMath>
                  </m:oMathPara>
                </a14:m>
                <a:endParaRPr lang="en-US" sz="1800"/>
              </a:p>
            </p:txBody>
          </p:sp>
        </mc:Choice>
        <mc:Fallback xmlns="">
          <p:sp>
            <p:nvSpPr>
              <p:cNvPr id="6" name="Equation 6"/>
              <p:cNvSpPr txBox="1">
                <a:spLocks noRot="1" noChangeAspect="1" noMove="1" noResize="1" noEditPoints="1" noAdjustHandles="1" noChangeArrowheads="1" noChangeShapeType="1" noTextEdit="1"/>
              </p:cNvSpPr>
              <p:nvPr/>
            </p:nvSpPr>
            <p:spPr>
              <a:xfrm>
                <a:off x="736600" y="3098800"/>
                <a:ext cx="8509000" cy="1143000"/>
              </a:xfrm>
              <a:prstGeom prst="rect">
                <a:avLst/>
              </a:prstGeom>
              <a:blipFill>
                <a:blip r:embed="rId4"/>
                <a:stretch>
                  <a:fillRect b="-34783"/>
                </a:stretch>
              </a:blipFill>
            </p:spPr>
            <p:txBody>
              <a:bodyPr/>
              <a:lstStyle/>
              <a:p>
                <a:r>
                  <a:rPr lang="ko-KR" altLang="en-US">
                    <a:noFill/>
                  </a:rPr>
                  <a:t> </a:t>
                </a:r>
              </a:p>
            </p:txBody>
          </p:sp>
        </mc:Fallback>
      </mc:AlternateContent>
      <p:sp>
        <p:nvSpPr>
          <p:cNvPr id="7" name="Text 4"/>
          <p:cNvSpPr txBox="1"/>
          <p:nvPr/>
        </p:nvSpPr>
        <p:spPr>
          <a:xfrm>
            <a:off x="640080" y="4251960"/>
            <a:ext cx="8412480" cy="137160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분모는 모든 source 사용자에 대한 합 → 가중치 = "target의 내가, 여러 source 사용자 중 source의 나와 상대적으로 얼마나 닮았나" (0~1 사이의 숫자 하나)</a:t>
            </a:r>
            <a:endParaRPr lang="en-US" sz="1500" dirty="0"/>
          </a:p>
          <a:p>
            <a:pPr marL="190500" indent="-190500">
              <a:spcAft>
                <a:spcPts val="600"/>
              </a:spcAft>
              <a:buSzPct val="100000"/>
              <a:buChar char="•"/>
            </a:pPr>
            <a:r>
              <a:rPr lang="en-US" sz="140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도플갱어 = 가중치 × source의 나 → 닮은 만큼만 source 정보를 가져옴</a:t>
            </a:r>
            <a:endParaRPr lang="en-US" sz="1500" dirty="0"/>
          </a:p>
        </p:txBody>
      </p:sp>
      <p:sp>
        <p:nvSpPr>
          <p:cNvPr id="9" name="Text 5"/>
          <p:cNvSpPr txBox="1"/>
          <p:nvPr/>
        </p:nvSpPr>
        <p:spPr>
          <a:xfrm>
            <a:off x="640080" y="5870448"/>
            <a:ext cx="10972800" cy="228600"/>
          </a:xfrm>
          <a:prstGeom prst="rect">
            <a:avLst/>
          </a:prstGeom>
          <a:noFill/>
          <a:ln/>
        </p:spPr>
        <p:txBody>
          <a:bodyPr wrap="square" lIns="0" tIns="0" rIns="0" bIns="0" rtlCol="0" anchor="ctr"/>
          <a:lstStyle/>
          <a:p>
            <a:pPr marL="0" indent="0">
              <a:buNone/>
            </a:pPr>
            <a:r>
              <a:rPr lang="en-US" sz="95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Figure 3(b) (p.4), Eq.(12), Kang &amp; Lee, KDD 2026</a:t>
            </a:r>
            <a:endParaRPr lang="en-US" sz="950" dirty="0"/>
          </a:p>
        </p:txBody>
      </p:sp>
      <p:pic>
        <p:nvPicPr>
          <p:cNvPr id="10" name="그림 9">
            <a:extLst>
              <a:ext uri="{FF2B5EF4-FFF2-40B4-BE49-F238E27FC236}">
                <a16:creationId xmlns:a16="http://schemas.microsoft.com/office/drawing/2014/main" id="{2FB56DA7-4C15-5414-EE92-0A7861E5BE19}"/>
              </a:ext>
            </a:extLst>
          </p:cNvPr>
          <p:cNvPicPr>
            <a:picLocks noChangeAspect="1"/>
          </p:cNvPicPr>
          <p:nvPr/>
        </p:nvPicPr>
        <p:blipFill>
          <a:blip r:embed="rId5"/>
          <a:stretch>
            <a:fillRect/>
          </a:stretch>
        </p:blipFill>
        <p:spPr>
          <a:xfrm>
            <a:off x="9342120" y="1122681"/>
            <a:ext cx="2498829" cy="3795775"/>
          </a:xfrm>
          <a:prstGeom prst="rect">
            <a:avLst/>
          </a:prstGeom>
        </p:spPr>
      </p:pic>
    </p:spTree>
    <p:extLst>
      <p:ext uri="{BB962C8B-B14F-4D97-AF65-F5344CB8AC3E}">
        <p14:creationId xmlns:p14="http://schemas.microsoft.com/office/powerpoint/2010/main" val="310542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3.3 (P2) Step 2: Doppelganger-based Knowledge Transfer</a:t>
            </a:r>
            <a:endParaRPr lang="en-US" sz="2800" dirty="0"/>
          </a:p>
        </p:txBody>
      </p:sp>
      <p:sp>
        <p:nvSpPr>
          <p:cNvPr id="3" name="Text 1"/>
          <p:cNvSpPr txBox="1"/>
          <p:nvPr/>
        </p:nvSpPr>
        <p:spPr>
          <a:xfrm>
            <a:off x="640080" y="1371600"/>
            <a:ext cx="10972800" cy="411480"/>
          </a:xfrm>
          <a:prstGeom prst="rect">
            <a:avLst/>
          </a:prstGeom>
          <a:noFill/>
          <a:ln/>
        </p:spPr>
        <p:txBody>
          <a:bodyPr wrap="square" lIns="0" tIns="0" rIns="0" bIns="0" rtlCol="0" anchor="t"/>
          <a:lstStyle/>
          <a:p>
            <a:pPr marL="0" indent="0">
              <a:spcAft>
                <a:spcPts val="600"/>
              </a:spcAft>
              <a:buNone/>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target의 나는 내 도플갱어와는 가깝게, 다른 사람의 도플갱어와는 멀게 학습 (InfoNCE, Eq.13)</a:t>
            </a:r>
            <a:endParaRPr lang="en-US" sz="1600" dirty="0"/>
          </a:p>
        </p:txBody>
      </p:sp>
      <mc:AlternateContent xmlns:mc="http://schemas.openxmlformats.org/markup-compatibility/2006" xmlns:a14="http://schemas.microsoft.com/office/drawing/2010/main">
        <mc:Choice Requires="a14">
          <p:sp>
            <p:nvSpPr>
              <p:cNvPr id="4" name="Equation 4"/>
              <p:cNvSpPr txBox="1"/>
              <p:nvPr/>
            </p:nvSpPr>
            <p:spPr>
              <a:xfrm>
                <a:off x="1003300" y="1854200"/>
                <a:ext cx="5588000" cy="1270000"/>
              </a:xfrm>
              <a:prstGeom prst="rect">
                <a:avLst/>
              </a:prstGeom>
              <a:noFill/>
            </p:spPr>
            <p:txBody>
              <a:bodyPr wrap="none" lIns="91440" rtlCol="0" anchor="ctr"/>
              <a:lstStyle/>
              <a:p>
                <a:pPr/>
                <a14:m>
                  <m:oMathPara xmlns:m="http://schemas.openxmlformats.org/officeDocument/2006/math">
                    <m:oMathParaPr>
                      <m:jc m:val="left"/>
                    </m:oMathParaPr>
                    <m:oMath>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ℒ</m:t>
                          </m:r>
                        </m:e>
                        <m:sub>
                          <m:r>
                            <m:rPr>
                              <m:sty m:val="p"/>
                            </m:rPr>
                            <a:rPr lang="en-US" sz="1800" i="1">
                              <a:latin typeface="Cambria Math" panose="02040503050406030204" pitchFamily="18" charset="0"/>
                              <a:ea typeface="Cambria Math" panose="02040503050406030204" pitchFamily="18" charset="0"/>
                            </a:rPr>
                            <m:t>dpl</m:t>
                          </m:r>
                        </m:sub>
                      </m:sSub>
                      <m:r>
                        <a:rPr lang="en-US" sz="1800" i="1">
                          <a:latin typeface="Cambria Math" panose="02040503050406030204" pitchFamily="18" charset="0"/>
                          <a:ea typeface="Cambria Math" panose="02040503050406030204" pitchFamily="18" charset="0"/>
                        </a:rPr>
                        <m:t>=−</m:t>
                      </m:r>
                      <m:nary>
                        <m:naryPr>
                          <m:chr m:val="∑"/>
                          <m:limLoc m:val="undOvr"/>
                          <m:supHide m:val="on"/>
                          <m:ctrlPr>
                            <a:rPr lang="en-US" sz="1800" i="1">
                              <a:latin typeface="Cambria Math" panose="02040503050406030204" pitchFamily="18" charset="0"/>
                              <a:ea typeface="Cambria Math" panose="02040503050406030204" pitchFamily="18" charset="0"/>
                            </a:rPr>
                          </m:ctrlPr>
                        </m:naryPr>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𝒰</m:t>
                              </m:r>
                            </m:e>
                            <m:sub>
                              <m:r>
                                <a:rPr lang="en-US" sz="1800" i="1">
                                  <a:latin typeface="Cambria Math" panose="02040503050406030204" pitchFamily="18" charset="0"/>
                                  <a:ea typeface="Cambria Math" panose="02040503050406030204" pitchFamily="18" charset="0"/>
                                </a:rPr>
                                <m:t>𝑜</m:t>
                              </m:r>
                            </m:sub>
                          </m:sSub>
                        </m:sub>
                        <m:sup/>
                        <m:e>
                          <m:r>
                            <m:rPr>
                              <m:sty m:val="p"/>
                            </m:rPr>
                            <a:rPr lang="en-US" sz="1800" i="1">
                              <a:latin typeface="Cambria Math" panose="02040503050406030204" pitchFamily="18" charset="0"/>
                              <a:ea typeface="Cambria Math" panose="02040503050406030204" pitchFamily="18" charset="0"/>
                            </a:rPr>
                            <m:t>log</m:t>
                          </m:r>
                          <m:f>
                            <m:fPr>
                              <m:ctrlPr>
                                <a:rPr lang="en-US" sz="1800" i="1">
                                  <a:latin typeface="Cambria Math" panose="02040503050406030204" pitchFamily="18" charset="0"/>
                                  <a:ea typeface="Cambria Math" panose="02040503050406030204" pitchFamily="18" charset="0"/>
                                </a:rPr>
                              </m:ctrlPr>
                            </m:fPr>
                            <m:num>
                              <m:r>
                                <m:rPr>
                                  <m:sty m:val="p"/>
                                </m:rPr>
                                <a:rPr lang="en-US" sz="1800" i="1">
                                  <a:latin typeface="Cambria Math" panose="02040503050406030204" pitchFamily="18" charset="0"/>
                                  <a:ea typeface="Cambria Math" panose="02040503050406030204" pitchFamily="18" charset="0"/>
                                </a:rPr>
                                <m:t>exp</m:t>
                              </m:r>
                              <m:d>
                                <m:dPr>
                                  <m:ctrlPr>
                                    <a:rPr lang="en-US" sz="1800" i="1">
                                      <a:latin typeface="Cambria Math" panose="02040503050406030204" pitchFamily="18" charset="0"/>
                                      <a:ea typeface="Cambria Math" panose="02040503050406030204" pitchFamily="18" charset="0"/>
                                    </a:rPr>
                                  </m:ctrlPr>
                                </m:dPr>
                                <m:e>
                                  <m:r>
                                    <m:rPr>
                                      <m:sty m:val="p"/>
                                    </m:rPr>
                                    <a:rPr lang="en-US" sz="1800" i="1">
                                      <a:latin typeface="Cambria Math" panose="02040503050406030204" pitchFamily="18" charset="0"/>
                                      <a:ea typeface="Cambria Math" panose="02040503050406030204" pitchFamily="18" charset="0"/>
                                    </a:rPr>
                                    <m:t>sim</m:t>
                                  </m:r>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𝐡</m:t>
                                      </m:r>
                                    </m:e>
                                    <m:sub>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𝑢</m:t>
                                          </m:r>
                                        </m:e>
                                        <m:sub>
                                          <m:r>
                                            <a:rPr lang="en-US" sz="1800" i="1">
                                              <a:latin typeface="Cambria Math" panose="02040503050406030204" pitchFamily="18" charset="0"/>
                                              <a:ea typeface="Cambria Math" panose="02040503050406030204" pitchFamily="18" charset="0"/>
                                            </a:rPr>
                                            <m:t>𝑡</m:t>
                                          </m:r>
                                        </m:sub>
                                      </m:sSub>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acc>
                                        <m:accPr>
                                          <m:chr m:val="̃"/>
                                          <m:ctrlPr>
                                            <a:rPr lang="en-US" sz="1800" i="1">
                                              <a:latin typeface="Cambria Math" panose="02040503050406030204" pitchFamily="18" charset="0"/>
                                              <a:ea typeface="Cambria Math" panose="02040503050406030204" pitchFamily="18" charset="0"/>
                                            </a:rPr>
                                          </m:ctrlPr>
                                        </m:accPr>
                                        <m:e>
                                          <m:r>
                                            <a:rPr lang="en-US" sz="1800" i="1">
                                              <a:latin typeface="Cambria Math" panose="02040503050406030204" pitchFamily="18" charset="0"/>
                                              <a:ea typeface="Cambria Math" panose="02040503050406030204" pitchFamily="18" charset="0"/>
                                            </a:rPr>
                                            <m:t>𝐡</m:t>
                                          </m:r>
                                        </m:e>
                                      </m:acc>
                                    </m:e>
                                    <m:sub>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𝑢</m:t>
                                          </m:r>
                                        </m:e>
                                        <m:sub>
                                          <m:r>
                                            <a:rPr lang="en-US" sz="1800" i="1">
                                              <a:latin typeface="Cambria Math" panose="02040503050406030204" pitchFamily="18" charset="0"/>
                                              <a:ea typeface="Cambria Math" panose="02040503050406030204" pitchFamily="18" charset="0"/>
                                            </a:rPr>
                                            <m:t>𝑡</m:t>
                                          </m:r>
                                        </m:sub>
                                      </m:sSub>
                                    </m:sub>
                                  </m:sSub>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e>
                              </m:d>
                            </m:num>
                            <m:den>
                              <m:nary>
                                <m:naryPr>
                                  <m:chr m:val="∑"/>
                                  <m:limLoc m:val="undOvr"/>
                                  <m:supHide m:val="on"/>
                                  <m:ctrlPr>
                                    <a:rPr lang="en-US" sz="1800" i="1">
                                      <a:latin typeface="Cambria Math" panose="02040503050406030204" pitchFamily="18" charset="0"/>
                                      <a:ea typeface="Cambria Math" panose="02040503050406030204" pitchFamily="18" charset="0"/>
                                    </a:rPr>
                                  </m:ctrlPr>
                                </m:naryPr>
                                <m:sub>
                                  <m:sSup>
                                    <m:sSupPr>
                                      <m:ctrlPr>
                                        <a:rPr lang="en-US" sz="1800" i="1">
                                          <a:latin typeface="Cambria Math" panose="02040503050406030204" pitchFamily="18" charset="0"/>
                                          <a:ea typeface="Cambria Math" panose="02040503050406030204" pitchFamily="18" charset="0"/>
                                        </a:rPr>
                                      </m:ctrlPr>
                                    </m:sSupPr>
                                    <m:e>
                                      <m:r>
                                        <a:rPr lang="en-US" sz="1800" i="1">
                                          <a:latin typeface="Cambria Math" panose="02040503050406030204" pitchFamily="18" charset="0"/>
                                          <a:ea typeface="Cambria Math" panose="02040503050406030204" pitchFamily="18" charset="0"/>
                                        </a:rPr>
                                        <m:t>𝑢</m:t>
                                      </m:r>
                                    </m:e>
                                    <m:sup>
                                      <m:r>
                                        <a:rPr lang="en-US" sz="1800" i="1">
                                          <a:latin typeface="Cambria Math" panose="02040503050406030204" pitchFamily="18" charset="0"/>
                                          <a:ea typeface="Cambria Math" panose="02040503050406030204" pitchFamily="18" charset="0"/>
                                        </a:rPr>
                                        <m:t>′</m:t>
                                      </m:r>
                                    </m:sup>
                                  </m:sSup>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𝒰</m:t>
                                      </m:r>
                                    </m:e>
                                    <m:sub>
                                      <m:r>
                                        <a:rPr lang="en-US" sz="1800" i="1">
                                          <a:latin typeface="Cambria Math" panose="02040503050406030204" pitchFamily="18" charset="0"/>
                                          <a:ea typeface="Cambria Math" panose="02040503050406030204" pitchFamily="18" charset="0"/>
                                        </a:rPr>
                                        <m:t>𝑜</m:t>
                                      </m:r>
                                    </m:sub>
                                  </m:sSub>
                                </m:sub>
                                <m:sup/>
                                <m:e>
                                  <m:r>
                                    <m:rPr>
                                      <m:sty m:val="p"/>
                                    </m:rPr>
                                    <a:rPr lang="en-US" sz="1800" i="1">
                                      <a:latin typeface="Cambria Math" panose="02040503050406030204" pitchFamily="18" charset="0"/>
                                      <a:ea typeface="Cambria Math" panose="02040503050406030204" pitchFamily="18" charset="0"/>
                                    </a:rPr>
                                    <m:t>exp</m:t>
                                  </m:r>
                                  <m:d>
                                    <m:dPr>
                                      <m:ctrlPr>
                                        <a:rPr lang="en-US" sz="1800" i="1">
                                          <a:latin typeface="Cambria Math" panose="02040503050406030204" pitchFamily="18" charset="0"/>
                                          <a:ea typeface="Cambria Math" panose="02040503050406030204" pitchFamily="18" charset="0"/>
                                        </a:rPr>
                                      </m:ctrlPr>
                                    </m:dPr>
                                    <m:e>
                                      <m:r>
                                        <m:rPr>
                                          <m:sty m:val="p"/>
                                        </m:rPr>
                                        <a:rPr lang="en-US" sz="1800" i="1">
                                          <a:latin typeface="Cambria Math" panose="02040503050406030204" pitchFamily="18" charset="0"/>
                                          <a:ea typeface="Cambria Math" panose="02040503050406030204" pitchFamily="18" charset="0"/>
                                        </a:rPr>
                                        <m:t>sim</m:t>
                                      </m:r>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𝐡</m:t>
                                          </m:r>
                                        </m:e>
                                        <m:sub>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𝑢</m:t>
                                              </m:r>
                                            </m:e>
                                            <m:sub>
                                              <m:r>
                                                <a:rPr lang="en-US" sz="1800" i="1">
                                                  <a:latin typeface="Cambria Math" panose="02040503050406030204" pitchFamily="18" charset="0"/>
                                                  <a:ea typeface="Cambria Math" panose="02040503050406030204" pitchFamily="18" charset="0"/>
                                                </a:rPr>
                                                <m:t>𝑡</m:t>
                                              </m:r>
                                            </m:sub>
                                          </m:sSub>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acc>
                                            <m:accPr>
                                              <m:chr m:val="̃"/>
                                              <m:ctrlPr>
                                                <a:rPr lang="en-US" sz="1800" i="1">
                                                  <a:latin typeface="Cambria Math" panose="02040503050406030204" pitchFamily="18" charset="0"/>
                                                  <a:ea typeface="Cambria Math" panose="02040503050406030204" pitchFamily="18" charset="0"/>
                                                </a:rPr>
                                              </m:ctrlPr>
                                            </m:accPr>
                                            <m:e>
                                              <m:r>
                                                <a:rPr lang="en-US" sz="1800" i="1">
                                                  <a:latin typeface="Cambria Math" panose="02040503050406030204" pitchFamily="18" charset="0"/>
                                                  <a:ea typeface="Cambria Math" panose="02040503050406030204" pitchFamily="18" charset="0"/>
                                                </a:rPr>
                                                <m:t>𝐡</m:t>
                                              </m:r>
                                            </m:e>
                                          </m:acc>
                                        </m:e>
                                        <m:sub>
                                          <m:sSubSup>
                                            <m:sSubSupPr>
                                              <m:ctrlPr>
                                                <a:rPr lang="en-US" sz="1800" i="1">
                                                  <a:latin typeface="Cambria Math" panose="02040503050406030204" pitchFamily="18" charset="0"/>
                                                  <a:ea typeface="Cambria Math" panose="02040503050406030204" pitchFamily="18" charset="0"/>
                                                </a:rPr>
                                              </m:ctrlPr>
                                            </m:sSubSupPr>
                                            <m:e>
                                              <m:r>
                                                <a:rPr lang="en-US" sz="1800" i="1">
                                                  <a:latin typeface="Cambria Math" panose="02040503050406030204" pitchFamily="18" charset="0"/>
                                                  <a:ea typeface="Cambria Math" panose="02040503050406030204" pitchFamily="18" charset="0"/>
                                                </a:rPr>
                                                <m:t>𝑢</m:t>
                                              </m:r>
                                            </m:e>
                                            <m:sub>
                                              <m:r>
                                                <a:rPr lang="en-US" sz="1800" i="1">
                                                  <a:latin typeface="Cambria Math" panose="02040503050406030204" pitchFamily="18" charset="0"/>
                                                  <a:ea typeface="Cambria Math" panose="02040503050406030204" pitchFamily="18" charset="0"/>
                                                </a:rPr>
                                                <m:t>𝑡</m:t>
                                              </m:r>
                                            </m:sub>
                                            <m:sup>
                                              <m:r>
                                                <a:rPr lang="en-US" sz="1800" i="1">
                                                  <a:latin typeface="Cambria Math" panose="02040503050406030204" pitchFamily="18" charset="0"/>
                                                  <a:ea typeface="Cambria Math" panose="02040503050406030204" pitchFamily="18" charset="0"/>
                                                </a:rPr>
                                                <m:t>′</m:t>
                                              </m:r>
                                            </m:sup>
                                          </m:sSubSup>
                                        </m:sub>
                                      </m:sSub>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e>
                                  </m:d>
                                </m:e>
                              </m:nary>
                            </m:den>
                          </m:f>
                        </m:e>
                      </m:nary>
                    </m:oMath>
                  </m:oMathPara>
                </a14:m>
                <a:endParaRPr lang="en-US" sz="1800"/>
              </a:p>
            </p:txBody>
          </p:sp>
        </mc:Choice>
        <mc:Fallback xmlns="">
          <p:sp>
            <p:nvSpPr>
              <p:cNvPr id="4" name="Equation 4"/>
              <p:cNvSpPr txBox="1">
                <a:spLocks noRot="1" noChangeAspect="1" noMove="1" noResize="1" noEditPoints="1" noAdjustHandles="1" noChangeArrowheads="1" noChangeShapeType="1" noTextEdit="1"/>
              </p:cNvSpPr>
              <p:nvPr/>
            </p:nvSpPr>
            <p:spPr>
              <a:xfrm>
                <a:off x="1003300" y="1854200"/>
                <a:ext cx="5588000" cy="1270000"/>
              </a:xfrm>
              <a:prstGeom prst="rect">
                <a:avLst/>
              </a:prstGeom>
              <a:blipFill>
                <a:blip r:embed="rId4"/>
                <a:stretch>
                  <a:fillRect t="-52941" b="-81373"/>
                </a:stretch>
              </a:blipFill>
            </p:spPr>
            <p:txBody>
              <a:bodyPr/>
              <a:lstStyle/>
              <a:p>
                <a:r>
                  <a:rPr lang="ko-KR" altLang="en-US">
                    <a:noFill/>
                  </a:rPr>
                  <a:t> </a:t>
                </a:r>
              </a:p>
            </p:txBody>
          </p:sp>
        </mc:Fallback>
      </mc:AlternateContent>
      <p:sp>
        <p:nvSpPr>
          <p:cNvPr id="5" name="Text 2"/>
          <p:cNvSpPr txBox="1"/>
          <p:nvPr/>
        </p:nvSpPr>
        <p:spPr>
          <a:xfrm>
            <a:off x="6675120" y="2103120"/>
            <a:ext cx="4937760" cy="128016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sim: 코사인 유사도</a:t>
            </a:r>
            <a:endParaRPr lang="en-US" sz="1500" dirty="0"/>
          </a:p>
          <a:p>
            <a:pPr marL="190500" indent="-190500">
              <a:spcAft>
                <a:spcPts val="600"/>
              </a:spcAft>
              <a:buSzPct val="100000"/>
              <a:buChar char="•"/>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τ (온도): 작을수록 구분을 더 엄격하게</a:t>
            </a:r>
            <a:endParaRPr lang="en-US" sz="1500" dirty="0"/>
          </a:p>
          <a:p>
            <a:pPr marL="190500" indent="-190500">
              <a:spcAft>
                <a:spcPts val="600"/>
              </a:spcAft>
              <a:buSzPct val="100000"/>
              <a:buChar char="•"/>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합은 overlapping users에 대해 계산</a:t>
            </a:r>
            <a:endParaRPr lang="en-US" sz="1500" dirty="0"/>
          </a:p>
        </p:txBody>
      </p:sp>
      <p:sp>
        <p:nvSpPr>
          <p:cNvPr id="6" name="Shape 3"/>
          <p:cNvSpPr/>
          <p:nvPr/>
        </p:nvSpPr>
        <p:spPr>
          <a:xfrm>
            <a:off x="640080" y="3520440"/>
            <a:ext cx="10972800" cy="0"/>
          </a:xfrm>
          <a:prstGeom prst="line">
            <a:avLst/>
          </a:prstGeom>
          <a:noFill/>
          <a:ln w="9525">
            <a:solidFill>
              <a:srgbClr val="D9DDE1"/>
            </a:solidFill>
            <a:prstDash val="solid"/>
          </a:ln>
        </p:spPr>
        <p:txBody>
          <a:bodyPr/>
          <a:lstStyle/>
          <a:p>
            <a:endParaRPr lang="ko-KR" altLang="en-US"/>
          </a:p>
        </p:txBody>
      </p:sp>
      <p:sp>
        <p:nvSpPr>
          <p:cNvPr id="7" name="Text 4"/>
          <p:cNvSpPr txBox="1"/>
          <p:nvPr/>
        </p:nvSpPr>
        <p:spPr>
          <a:xfrm>
            <a:off x="640080" y="3703320"/>
            <a:ext cx="10972800" cy="548640"/>
          </a:xfrm>
          <a:prstGeom prst="rect">
            <a:avLst/>
          </a:prstGeom>
          <a:noFill/>
          <a:ln/>
        </p:spPr>
        <p:txBody>
          <a:bodyPr wrap="square" lIns="0" tIns="0" rIns="0" bIns="0" rtlCol="0" anchor="t"/>
          <a:lstStyle/>
          <a:p>
            <a:pPr marL="0" indent="0">
              <a:spcAft>
                <a:spcPts val="600"/>
              </a:spcAft>
              <a:buNone/>
            </a:pPr>
            <a:r>
              <a:rPr lang="en-US" sz="15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효과  </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source 정보가 "간접적으로" 유입 — source와 target을 직접 맞붙이지 않음 · 추천 손실과 함께 공동 최적화</a:t>
            </a:r>
            <a:endParaRPr lang="en-US" sz="1500" dirty="0"/>
          </a:p>
        </p:txBody>
      </p:sp>
      <p:sp>
        <p:nvSpPr>
          <p:cNvPr id="8" name="Shape 5"/>
          <p:cNvSpPr/>
          <p:nvPr/>
        </p:nvSpPr>
        <p:spPr>
          <a:xfrm>
            <a:off x="640080" y="4480560"/>
            <a:ext cx="10972800" cy="1005840"/>
          </a:xfrm>
          <a:prstGeom prst="rect">
            <a:avLst/>
          </a:prstGeom>
          <a:solidFill>
            <a:srgbClr val="E9F7F6">
              <a:alpha val="50000"/>
            </a:srgbClr>
          </a:solidFill>
          <a:ln w="12700">
            <a:solidFill>
              <a:srgbClr val="E9F7F6"/>
            </a:solidFill>
            <a:prstDash val="solid"/>
          </a:ln>
        </p:spPr>
        <p:txBody>
          <a:bodyPr/>
          <a:lstStyle/>
          <a:p>
            <a:endParaRPr lang="ko-KR" altLang="en-US"/>
          </a:p>
        </p:txBody>
      </p:sp>
      <p:sp>
        <p:nvSpPr>
          <p:cNvPr id="9" name="Text 6"/>
          <p:cNvSpPr txBox="1"/>
          <p:nvPr/>
        </p:nvSpPr>
        <p:spPr>
          <a:xfrm>
            <a:off x="868680" y="4480560"/>
            <a:ext cx="10607040" cy="1005840"/>
          </a:xfrm>
          <a:prstGeom prst="rect">
            <a:avLst/>
          </a:prstGeom>
          <a:noFill/>
          <a:ln/>
        </p:spPr>
        <p:txBody>
          <a:bodyPr wrap="square" lIns="0" tIns="0" rIns="0" bIns="0" rtlCol="0" anchor="ctr"/>
          <a:lstStyle/>
          <a:p>
            <a:pPr marL="0" indent="0">
              <a:spcAft>
                <a:spcPts val="600"/>
              </a:spcAft>
              <a:buNone/>
            </a:pPr>
            <a:r>
              <a:rPr lang="en-US" sz="150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비유  </a:t>
            </a: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통역사(도플갱어)를 사이에 두는 셈 — source가 하는 말을 그대로 옮겨 적는 게 아니라, target 입장에 맞는 만큼만 전달받는 구조</a:t>
            </a:r>
            <a:endParaRPr lang="en-US" sz="1500" dirty="0"/>
          </a:p>
        </p:txBody>
      </p:sp>
      <p:sp>
        <p:nvSpPr>
          <p:cNvPr id="10" name="Text 7"/>
          <p:cNvSpPr txBox="1"/>
          <p:nvPr/>
        </p:nvSpPr>
        <p:spPr>
          <a:xfrm>
            <a:off x="640080" y="5870448"/>
            <a:ext cx="10972800" cy="228600"/>
          </a:xfrm>
          <a:prstGeom prst="rect">
            <a:avLst/>
          </a:prstGeom>
          <a:noFill/>
          <a:ln/>
        </p:spPr>
        <p:txBody>
          <a:bodyPr wrap="square" lIns="0" tIns="0" rIns="0" bIns="0" rtlCol="0" anchor="ctr"/>
          <a:lstStyle/>
          <a:p>
            <a:pPr marL="0" indent="0">
              <a:buNone/>
            </a:pPr>
            <a:r>
              <a:rPr lang="en-US" sz="95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Eq.(13), Kang &amp; Lee, KDD 2026</a:t>
            </a:r>
            <a:endParaRPr lang="en-US" sz="950" dirty="0"/>
          </a:p>
        </p:txBody>
      </p:sp>
    </p:spTree>
    <p:extLst>
      <p:ext uri="{BB962C8B-B14F-4D97-AF65-F5344CB8AC3E}">
        <p14:creationId xmlns:p14="http://schemas.microsoft.com/office/powerpoint/2010/main" val="3382460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3.4 Training Process</a:t>
            </a:r>
            <a:endParaRPr lang="en-US" sz="2800" dirty="0"/>
          </a:p>
        </p:txBody>
      </p:sp>
      <p:sp>
        <p:nvSpPr>
          <p:cNvPr id="3" name="Text 1"/>
          <p:cNvSpPr txBox="1"/>
          <p:nvPr/>
        </p:nvSpPr>
        <p:spPr>
          <a:xfrm>
            <a:off x="640080" y="1325880"/>
            <a:ext cx="10972800" cy="868680"/>
          </a:xfrm>
          <a:prstGeom prst="rect">
            <a:avLst/>
          </a:prstGeom>
          <a:noFill/>
          <a:ln/>
        </p:spPr>
        <p:txBody>
          <a:bodyPr wrap="square" lIns="0" tIns="0" rIns="0" bIns="0" rtlCol="0" anchor="t"/>
          <a:lstStyle/>
          <a:p>
            <a:pPr marL="0" indent="0">
              <a:spcAft>
                <a:spcPts val="600"/>
              </a:spcAft>
              <a:buNone/>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문제  페르소나(의미 정보)만으로는 "나랑 비슷한 사람이 산 것" 같은 협업 신호를 잡지 못함</a:t>
            </a:r>
            <a:endParaRPr lang="en-US" sz="1400" dirty="0"/>
          </a:p>
          <a:p>
            <a:pPr marL="0" indent="0">
              <a:spcAft>
                <a:spcPts val="600"/>
              </a:spcAft>
              <a:buNone/>
            </a:pPr>
            <a:r>
              <a:rPr lang="en-US" sz="14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해결  </a:t>
            </a: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LightGCN(사용자-아이템 그래프에서 이웃 정보를 퍼뜨린 벡터)으로 미리 학습한 ID 벡터를 결합</a:t>
            </a:r>
            <a:endParaRPr lang="en-US" sz="1400" dirty="0"/>
          </a:p>
        </p:txBody>
      </p:sp>
      <mc:AlternateContent xmlns:mc="http://schemas.openxmlformats.org/markup-compatibility/2006" xmlns:a14="http://schemas.microsoft.com/office/drawing/2010/main">
        <mc:Choice Requires="a14">
          <p:sp>
            <p:nvSpPr>
              <p:cNvPr id="4" name="Equation 4"/>
              <p:cNvSpPr txBox="1"/>
              <p:nvPr/>
            </p:nvSpPr>
            <p:spPr>
              <a:xfrm>
                <a:off x="736600" y="2159000"/>
                <a:ext cx="5969000" cy="635000"/>
              </a:xfrm>
              <a:prstGeom prst="rect">
                <a:avLst/>
              </a:prstGeom>
              <a:noFill/>
            </p:spPr>
            <p:txBody>
              <a:bodyPr wrap="none" lIns="91440" rtlCol="0" anchor="ctr"/>
              <a:lstStyle/>
              <a:p>
                <a:pPr/>
                <a14:m>
                  <m:oMathPara xmlns:m="http://schemas.openxmlformats.org/officeDocument/2006/math">
                    <m:oMathParaPr>
                      <m:jc m:val="left"/>
                    </m:oMathParaPr>
                    <m:oMath>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𝐳</m:t>
                          </m:r>
                        </m:e>
                        <m:sub>
                          <m:r>
                            <a:rPr lang="en-US" sz="1800" i="1">
                              <a:latin typeface="Cambria Math" panose="02040503050406030204" pitchFamily="18" charset="0"/>
                              <a:ea typeface="Cambria Math" panose="02040503050406030204" pitchFamily="18" charset="0"/>
                            </a:rPr>
                            <m:t>𝑢</m:t>
                          </m:r>
                        </m:sub>
                      </m:sSub>
                      <m:r>
                        <a:rPr lang="en-US" sz="1800" i="1">
                          <a:latin typeface="Cambria Math" panose="02040503050406030204" pitchFamily="18" charset="0"/>
                          <a:ea typeface="Cambria Math" panose="02040503050406030204" pitchFamily="18" charset="0"/>
                        </a:rPr>
                        <m:t>=</m:t>
                      </m:r>
                      <m:r>
                        <m:rPr>
                          <m:sty m:val="p"/>
                        </m:rPr>
                        <a:rPr lang="en-US" sz="1800" i="1">
                          <a:latin typeface="Cambria Math" panose="02040503050406030204" pitchFamily="18" charset="0"/>
                          <a:ea typeface="Cambria Math" panose="02040503050406030204" pitchFamily="18" charset="0"/>
                        </a:rPr>
                        <m:t>MLP</m:t>
                      </m:r>
                      <m:d>
                        <m:dPr>
                          <m:ctrlPr>
                            <a:rPr lang="en-US" sz="1800" i="1">
                              <a:latin typeface="Cambria Math" panose="02040503050406030204" pitchFamily="18" charset="0"/>
                              <a:ea typeface="Cambria Math" panose="02040503050406030204" pitchFamily="18" charset="0"/>
                            </a:rPr>
                          </m:ctrlPr>
                        </m:dPr>
                        <m:e>
                          <m:d>
                            <m:dPr>
                              <m:begChr m:val="["/>
                              <m:endChr m:val="]"/>
                              <m:ctrlPr>
                                <a:rPr lang="en-US" sz="1800" i="1">
                                  <a:latin typeface="Cambria Math" panose="02040503050406030204" pitchFamily="18" charset="0"/>
                                  <a:ea typeface="Cambria Math" panose="02040503050406030204" pitchFamily="18" charset="0"/>
                                </a:rPr>
                              </m:ctrlPr>
                            </m:dPr>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𝐡</m:t>
                                  </m:r>
                                </m:e>
                                <m:sub>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𝑢</m:t>
                                      </m:r>
                                    </m:e>
                                    <m:sub>
                                      <m:r>
                                        <a:rPr lang="en-US" sz="1800" i="1">
                                          <a:latin typeface="Cambria Math" panose="02040503050406030204" pitchFamily="18" charset="0"/>
                                          <a:ea typeface="Cambria Math" panose="02040503050406030204" pitchFamily="18" charset="0"/>
                                        </a:rPr>
                                        <m:t>𝑡</m:t>
                                      </m:r>
                                    </m:sub>
                                  </m:sSub>
                                </m:sub>
                              </m:sSub>
                              <m:r>
                                <a:rPr lang="en-US" sz="1800" i="1">
                                  <a:latin typeface="Cambria Math" panose="02040503050406030204" pitchFamily="18" charset="0"/>
                                  <a:ea typeface="Cambria Math" panose="02040503050406030204" pitchFamily="18" charset="0"/>
                                </a:rPr>
                                <m:t> ‖ </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𝐯</m:t>
                                  </m:r>
                                </m:e>
                                <m:sub>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𝑢</m:t>
                                      </m:r>
                                    </m:e>
                                    <m:sub>
                                      <m:r>
                                        <a:rPr lang="en-US" sz="1800" i="1">
                                          <a:latin typeface="Cambria Math" panose="02040503050406030204" pitchFamily="18" charset="0"/>
                                          <a:ea typeface="Cambria Math" panose="02040503050406030204" pitchFamily="18" charset="0"/>
                                        </a:rPr>
                                        <m:t>𝑡</m:t>
                                      </m:r>
                                    </m:sub>
                                  </m:sSub>
                                </m:sub>
                              </m:sSub>
                            </m:e>
                          </m:d>
                        </m:e>
                      </m:d>
                      <m:r>
                        <a:rPr lang="en-US" sz="1800" i="1">
                          <a:latin typeface="Cambria Math" panose="02040503050406030204" pitchFamily="18" charset="0"/>
                          <a:ea typeface="Cambria Math" panose="02040503050406030204" pitchFamily="18" charset="0"/>
                        </a:rPr>
                        <m:t>,  </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𝐳</m:t>
                          </m:r>
                        </m:e>
                        <m:sub>
                          <m:r>
                            <a:rPr lang="en-US" sz="1800" i="1">
                              <a:latin typeface="Cambria Math" panose="02040503050406030204" pitchFamily="18" charset="0"/>
                              <a:ea typeface="Cambria Math" panose="02040503050406030204" pitchFamily="18" charset="0"/>
                            </a:rPr>
                            <m:t>𝑖</m:t>
                          </m:r>
                        </m:sub>
                      </m:sSub>
                      <m:r>
                        <a:rPr lang="en-US" sz="1800" i="1">
                          <a:latin typeface="Cambria Math" panose="02040503050406030204" pitchFamily="18" charset="0"/>
                          <a:ea typeface="Cambria Math" panose="02040503050406030204" pitchFamily="18" charset="0"/>
                        </a:rPr>
                        <m:t>=</m:t>
                      </m:r>
                      <m:r>
                        <m:rPr>
                          <m:sty m:val="p"/>
                        </m:rPr>
                        <a:rPr lang="en-US" sz="1800" i="1">
                          <a:latin typeface="Cambria Math" panose="02040503050406030204" pitchFamily="18" charset="0"/>
                          <a:ea typeface="Cambria Math" panose="02040503050406030204" pitchFamily="18" charset="0"/>
                        </a:rPr>
                        <m:t>MLP</m:t>
                      </m:r>
                      <m:d>
                        <m:dPr>
                          <m:ctrlPr>
                            <a:rPr lang="en-US" sz="1800" i="1">
                              <a:latin typeface="Cambria Math" panose="02040503050406030204" pitchFamily="18" charset="0"/>
                              <a:ea typeface="Cambria Math" panose="02040503050406030204" pitchFamily="18" charset="0"/>
                            </a:rPr>
                          </m:ctrlPr>
                        </m:dPr>
                        <m:e>
                          <m:d>
                            <m:dPr>
                              <m:begChr m:val="["/>
                              <m:endChr m:val="]"/>
                              <m:ctrlPr>
                                <a:rPr lang="en-US" sz="1800" i="1">
                                  <a:latin typeface="Cambria Math" panose="02040503050406030204" pitchFamily="18" charset="0"/>
                                  <a:ea typeface="Cambria Math" panose="02040503050406030204" pitchFamily="18" charset="0"/>
                                </a:rPr>
                              </m:ctrlPr>
                            </m:dPr>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𝐡</m:t>
                                  </m:r>
                                </m:e>
                                <m:sub>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𝑖</m:t>
                                      </m:r>
                                    </m:e>
                                    <m:sub>
                                      <m:r>
                                        <a:rPr lang="en-US" sz="1800" i="1">
                                          <a:latin typeface="Cambria Math" panose="02040503050406030204" pitchFamily="18" charset="0"/>
                                          <a:ea typeface="Cambria Math" panose="02040503050406030204" pitchFamily="18" charset="0"/>
                                        </a:rPr>
                                        <m:t>𝑡</m:t>
                                      </m:r>
                                    </m:sub>
                                  </m:sSub>
                                </m:sub>
                              </m:sSub>
                              <m:r>
                                <a:rPr lang="en-US" sz="1800" i="1">
                                  <a:latin typeface="Cambria Math" panose="02040503050406030204" pitchFamily="18" charset="0"/>
                                  <a:ea typeface="Cambria Math" panose="02040503050406030204" pitchFamily="18" charset="0"/>
                                </a:rPr>
                                <m:t> ‖ </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𝐯</m:t>
                                  </m:r>
                                </m:e>
                                <m:sub>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𝑖</m:t>
                                      </m:r>
                                    </m:e>
                                    <m:sub>
                                      <m:r>
                                        <a:rPr lang="en-US" sz="1800" i="1">
                                          <a:latin typeface="Cambria Math" panose="02040503050406030204" pitchFamily="18" charset="0"/>
                                          <a:ea typeface="Cambria Math" panose="02040503050406030204" pitchFamily="18" charset="0"/>
                                        </a:rPr>
                                        <m:t>𝑡</m:t>
                                      </m:r>
                                    </m:sub>
                                  </m:sSub>
                                </m:sub>
                              </m:sSub>
                            </m:e>
                          </m:d>
                        </m:e>
                      </m:d>
                    </m:oMath>
                  </m:oMathPara>
                </a14:m>
                <a:endParaRPr lang="en-US" sz="1800"/>
              </a:p>
            </p:txBody>
          </p:sp>
        </mc:Choice>
        <mc:Fallback xmlns="">
          <p:sp>
            <p:nvSpPr>
              <p:cNvPr id="4" name="Equation 4"/>
              <p:cNvSpPr txBox="1">
                <a:spLocks noRot="1" noChangeAspect="1" noMove="1" noResize="1" noEditPoints="1" noAdjustHandles="1" noChangeArrowheads="1" noChangeShapeType="1" noTextEdit="1"/>
              </p:cNvSpPr>
              <p:nvPr/>
            </p:nvSpPr>
            <p:spPr>
              <a:xfrm>
                <a:off x="736600" y="2159000"/>
                <a:ext cx="5969000" cy="635000"/>
              </a:xfrm>
              <a:prstGeom prst="rect">
                <a:avLst/>
              </a:prstGeom>
              <a:blipFill>
                <a:blip r:embed="rId4"/>
                <a:stretch>
                  <a:fillRect/>
                </a:stretch>
              </a:blipFill>
            </p:spPr>
            <p:txBody>
              <a:bodyPr/>
              <a:lstStyle/>
              <a:p>
                <a:r>
                  <a:rPr lang="ko-KR" altLang="en-US">
                    <a:noFill/>
                  </a:rPr>
                  <a:t> </a:t>
                </a:r>
              </a:p>
            </p:txBody>
          </p:sp>
        </mc:Fallback>
      </mc:AlternateContent>
      <p:sp>
        <p:nvSpPr>
          <p:cNvPr id="5" name="Text 2"/>
          <p:cNvSpPr txBox="1"/>
          <p:nvPr/>
        </p:nvSpPr>
        <p:spPr>
          <a:xfrm>
            <a:off x="7223760" y="2286000"/>
            <a:ext cx="4389120" cy="502920"/>
          </a:xfrm>
          <a:prstGeom prst="rect">
            <a:avLst/>
          </a:prstGeom>
          <a:noFill/>
          <a:ln/>
        </p:spPr>
        <p:txBody>
          <a:bodyPr wrap="square" lIns="0" tIns="0" rIns="0" bIns="0" rtlCol="0" anchor="t"/>
          <a:lstStyle/>
          <a:p>
            <a:pPr marL="0" indent="0">
              <a:spcAft>
                <a:spcPts val="600"/>
              </a:spcAft>
              <a:buNone/>
            </a:pPr>
            <a:r>
              <a:rPr lang="en-US" sz="12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아이템 의미 벡터: 제목 · 카테고리를 같은 인코더로 벡터화 (512차원) · MLP는 단층</a:t>
            </a:r>
            <a:endParaRPr lang="en-US" sz="1200" dirty="0"/>
          </a:p>
        </p:txBody>
      </p:sp>
      <p:sp>
        <p:nvSpPr>
          <p:cNvPr id="6" name="Shape 3"/>
          <p:cNvSpPr/>
          <p:nvPr/>
        </p:nvSpPr>
        <p:spPr>
          <a:xfrm>
            <a:off x="640080" y="2926080"/>
            <a:ext cx="10972800" cy="0"/>
          </a:xfrm>
          <a:prstGeom prst="line">
            <a:avLst/>
          </a:prstGeom>
          <a:noFill/>
          <a:ln w="9525">
            <a:solidFill>
              <a:srgbClr val="D9DDE1"/>
            </a:solidFill>
            <a:prstDash val="solid"/>
          </a:ln>
        </p:spPr>
        <p:txBody>
          <a:bodyPr/>
          <a:lstStyle/>
          <a:p>
            <a:endParaRPr lang="ko-KR" altLang="en-US"/>
          </a:p>
        </p:txBody>
      </p:sp>
      <p:sp>
        <p:nvSpPr>
          <p:cNvPr id="7" name="Text 4"/>
          <p:cNvSpPr txBox="1"/>
          <p:nvPr/>
        </p:nvSpPr>
        <p:spPr>
          <a:xfrm>
            <a:off x="640080" y="3063240"/>
            <a:ext cx="5486400" cy="640080"/>
          </a:xfrm>
          <a:prstGeom prst="rect">
            <a:avLst/>
          </a:prstGeom>
          <a:noFill/>
          <a:ln/>
        </p:spPr>
        <p:txBody>
          <a:bodyPr wrap="square" lIns="0" tIns="0" rIns="0" bIns="0" rtlCol="0" anchor="t"/>
          <a:lstStyle/>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추천 손실: BPR (Eq.15)</a:t>
            </a:r>
            <a:endParaRPr lang="en-US" sz="1500" dirty="0"/>
          </a:p>
          <a:p>
            <a:pPr marL="0" indent="0">
              <a:spcAft>
                <a:spcPts val="600"/>
              </a:spcAft>
              <a:buNone/>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산 아이템의 점수가 안 산 아이템의 점수보다 높도록 학습</a:t>
            </a:r>
            <a:endParaRPr lang="en-US" sz="1500" dirty="0"/>
          </a:p>
        </p:txBody>
      </p:sp>
      <mc:AlternateContent xmlns:mc="http://schemas.openxmlformats.org/markup-compatibility/2006" xmlns:a14="http://schemas.microsoft.com/office/drawing/2010/main">
        <mc:Choice Requires="a14">
          <p:sp>
            <p:nvSpPr>
              <p:cNvPr id="8" name="Equation 8"/>
              <p:cNvSpPr txBox="1"/>
              <p:nvPr/>
            </p:nvSpPr>
            <p:spPr>
              <a:xfrm>
                <a:off x="736600" y="3581400"/>
                <a:ext cx="6477000" cy="889000"/>
              </a:xfrm>
              <a:prstGeom prst="rect">
                <a:avLst/>
              </a:prstGeom>
              <a:noFill/>
            </p:spPr>
            <p:txBody>
              <a:bodyPr wrap="none" lIns="91440" rtlCol="0" anchor="ctr"/>
              <a:lstStyle/>
              <a:p>
                <a:pPr/>
                <a14:m>
                  <m:oMathPara xmlns:m="http://schemas.openxmlformats.org/officeDocument/2006/math">
                    <m:oMathParaPr>
                      <m:jc m:val="left"/>
                    </m:oMathParaPr>
                    <m:oMath>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ℒ</m:t>
                          </m:r>
                        </m:e>
                        <m:sub>
                          <m:r>
                            <m:rPr>
                              <m:sty m:val="p"/>
                            </m:rPr>
                            <a:rPr lang="en-US" sz="1800" i="1">
                              <a:latin typeface="Cambria Math" panose="02040503050406030204" pitchFamily="18" charset="0"/>
                              <a:ea typeface="Cambria Math" panose="02040503050406030204" pitchFamily="18" charset="0"/>
                            </a:rPr>
                            <m:t>rec</m:t>
                          </m:r>
                        </m:sub>
                      </m:sSub>
                      <m:r>
                        <a:rPr lang="en-US" sz="1800" i="1">
                          <a:latin typeface="Cambria Math" panose="02040503050406030204" pitchFamily="18" charset="0"/>
                          <a:ea typeface="Cambria Math" panose="02040503050406030204" pitchFamily="18" charset="0"/>
                        </a:rPr>
                        <m:t>=−</m:t>
                      </m:r>
                      <m:nary>
                        <m:naryPr>
                          <m:chr m:val="∑"/>
                          <m:limLoc m:val="undOvr"/>
                          <m:supHide m:val="on"/>
                          <m:ctrlPr>
                            <a:rPr lang="en-US" sz="1800" i="1">
                              <a:latin typeface="Cambria Math" panose="02040503050406030204" pitchFamily="18" charset="0"/>
                              <a:ea typeface="Cambria Math" panose="02040503050406030204" pitchFamily="18" charset="0"/>
                            </a:rPr>
                          </m:ctrlPr>
                        </m:naryPr>
                        <m:sub>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𝑖</m:t>
                          </m:r>
                          <m:r>
                            <a:rPr lang="en-US" sz="1800" i="1">
                              <a:latin typeface="Cambria Math" panose="02040503050406030204" pitchFamily="18" charset="0"/>
                              <a:ea typeface="Cambria Math" panose="02040503050406030204" pitchFamily="18" charset="0"/>
                            </a:rPr>
                            <m:t>,</m:t>
                          </m:r>
                          <m:sSup>
                            <m:sSupPr>
                              <m:ctrlPr>
                                <a:rPr lang="en-US" sz="1800" i="1">
                                  <a:latin typeface="Cambria Math" panose="02040503050406030204" pitchFamily="18" charset="0"/>
                                  <a:ea typeface="Cambria Math" panose="02040503050406030204" pitchFamily="18" charset="0"/>
                                </a:rPr>
                              </m:ctrlPr>
                            </m:sSupPr>
                            <m:e>
                              <m:r>
                                <a:rPr lang="en-US" sz="1800" i="1">
                                  <a:latin typeface="Cambria Math" panose="02040503050406030204" pitchFamily="18" charset="0"/>
                                  <a:ea typeface="Cambria Math" panose="02040503050406030204" pitchFamily="18" charset="0"/>
                                </a:rPr>
                                <m:t>𝑖</m:t>
                              </m:r>
                            </m:e>
                            <m:sup>
                              <m:r>
                                <a:rPr lang="en-US" sz="1800" i="1">
                                  <a:latin typeface="Cambria Math" panose="02040503050406030204" pitchFamily="18" charset="0"/>
                                  <a:ea typeface="Cambria Math" panose="02040503050406030204" pitchFamily="18" charset="0"/>
                                </a:rPr>
                                <m:t>′</m:t>
                              </m:r>
                            </m:sup>
                          </m:sSup>
                          <m:r>
                            <a:rPr lang="en-US" sz="1800" i="1">
                              <a:latin typeface="Cambria Math" panose="02040503050406030204" pitchFamily="18" charset="0"/>
                              <a:ea typeface="Cambria Math" panose="02040503050406030204" pitchFamily="18" charset="0"/>
                            </a:rPr>
                            <m:t>)</m:t>
                          </m:r>
                        </m:sub>
                        <m:sup/>
                        <m:e>
                          <m:r>
                            <m:rPr>
                              <m:sty m:val="p"/>
                            </m:rPr>
                            <a:rPr lang="en-US" sz="1800" i="1">
                              <a:latin typeface="Cambria Math" panose="02040503050406030204" pitchFamily="18" charset="0"/>
                              <a:ea typeface="Cambria Math" panose="02040503050406030204" pitchFamily="18" charset="0"/>
                            </a:rPr>
                            <m:t>log</m:t>
                          </m:r>
                          <m:r>
                            <a:rPr lang="en-US" sz="1800" i="1">
                              <a:latin typeface="Cambria Math" panose="02040503050406030204" pitchFamily="18" charset="0"/>
                              <a:ea typeface="Cambria Math" panose="02040503050406030204" pitchFamily="18" charset="0"/>
                            </a:rPr>
                            <m:t>𝜎</m:t>
                          </m:r>
                          <m:d>
                            <m:dPr>
                              <m:ctrlPr>
                                <a:rPr lang="en-US" sz="1800" i="1">
                                  <a:latin typeface="Cambria Math" panose="02040503050406030204" pitchFamily="18" charset="0"/>
                                  <a:ea typeface="Cambria Math" panose="02040503050406030204" pitchFamily="18" charset="0"/>
                                </a:rPr>
                              </m:ctrlPr>
                            </m:dPr>
                            <m:e>
                              <m:sSub>
                                <m:sSubPr>
                                  <m:ctrlPr>
                                    <a:rPr lang="en-US" sz="1800" i="1">
                                      <a:latin typeface="Cambria Math" panose="02040503050406030204" pitchFamily="18" charset="0"/>
                                      <a:ea typeface="Cambria Math" panose="02040503050406030204" pitchFamily="18" charset="0"/>
                                    </a:rPr>
                                  </m:ctrlPr>
                                </m:sSubPr>
                                <m:e>
                                  <m:acc>
                                    <m:accPr>
                                      <m:chr m:val="̂"/>
                                      <m:ctrlPr>
                                        <a:rPr lang="en-US" sz="1800" i="1">
                                          <a:latin typeface="Cambria Math" panose="02040503050406030204" pitchFamily="18" charset="0"/>
                                          <a:ea typeface="Cambria Math" panose="02040503050406030204" pitchFamily="18" charset="0"/>
                                        </a:rPr>
                                      </m:ctrlPr>
                                    </m:accPr>
                                    <m:e>
                                      <m:r>
                                        <a:rPr lang="en-US" sz="1800" i="1">
                                          <a:latin typeface="Cambria Math" panose="02040503050406030204" pitchFamily="18" charset="0"/>
                                          <a:ea typeface="Cambria Math" panose="02040503050406030204" pitchFamily="18" charset="0"/>
                                        </a:rPr>
                                        <m:t>𝑦</m:t>
                                      </m:r>
                                    </m:e>
                                  </m:acc>
                                </m:e>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𝑖</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acc>
                                    <m:accPr>
                                      <m:chr m:val="̂"/>
                                      <m:ctrlPr>
                                        <a:rPr lang="en-US" sz="1800" i="1">
                                          <a:latin typeface="Cambria Math" panose="02040503050406030204" pitchFamily="18" charset="0"/>
                                          <a:ea typeface="Cambria Math" panose="02040503050406030204" pitchFamily="18" charset="0"/>
                                        </a:rPr>
                                      </m:ctrlPr>
                                    </m:accPr>
                                    <m:e>
                                      <m:r>
                                        <a:rPr lang="en-US" sz="1800" i="1">
                                          <a:latin typeface="Cambria Math" panose="02040503050406030204" pitchFamily="18" charset="0"/>
                                          <a:ea typeface="Cambria Math" panose="02040503050406030204" pitchFamily="18" charset="0"/>
                                        </a:rPr>
                                        <m:t>𝑦</m:t>
                                      </m:r>
                                    </m:e>
                                  </m:acc>
                                </m:e>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sSup>
                                    <m:sSupPr>
                                      <m:ctrlPr>
                                        <a:rPr lang="en-US" sz="1800" i="1">
                                          <a:latin typeface="Cambria Math" panose="02040503050406030204" pitchFamily="18" charset="0"/>
                                          <a:ea typeface="Cambria Math" panose="02040503050406030204" pitchFamily="18" charset="0"/>
                                        </a:rPr>
                                      </m:ctrlPr>
                                    </m:sSupPr>
                                    <m:e>
                                      <m:r>
                                        <a:rPr lang="en-US" sz="1800" i="1">
                                          <a:latin typeface="Cambria Math" panose="02040503050406030204" pitchFamily="18" charset="0"/>
                                          <a:ea typeface="Cambria Math" panose="02040503050406030204" pitchFamily="18" charset="0"/>
                                        </a:rPr>
                                        <m:t>𝑖</m:t>
                                      </m:r>
                                    </m:e>
                                    <m:sup>
                                      <m:r>
                                        <a:rPr lang="en-US" sz="1800" i="1">
                                          <a:latin typeface="Cambria Math" panose="02040503050406030204" pitchFamily="18" charset="0"/>
                                          <a:ea typeface="Cambria Math" panose="02040503050406030204" pitchFamily="18" charset="0"/>
                                        </a:rPr>
                                        <m:t>′</m:t>
                                      </m:r>
                                    </m:sup>
                                  </m:sSup>
                                </m:sub>
                              </m:sSub>
                            </m:e>
                          </m:d>
                        </m:e>
                      </m:nary>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𝜆</m:t>
                          </m:r>
                        </m:e>
                        <m:sub>
                          <m:r>
                            <a:rPr lang="en-US" sz="1800" i="1">
                              <a:latin typeface="Cambria Math" panose="02040503050406030204" pitchFamily="18" charset="0"/>
                              <a:ea typeface="Cambria Math" panose="02040503050406030204" pitchFamily="18" charset="0"/>
                            </a:rPr>
                            <m:t>𝛩</m:t>
                          </m:r>
                        </m:sub>
                      </m:sSub>
                      <m:sSup>
                        <m:sSupPr>
                          <m:ctrlPr>
                            <a:rPr lang="en-US" sz="1800" i="1">
                              <a:latin typeface="Cambria Math" panose="02040503050406030204" pitchFamily="18" charset="0"/>
                              <a:ea typeface="Cambria Math" panose="02040503050406030204" pitchFamily="18" charset="0"/>
                            </a:rPr>
                          </m:ctrlPr>
                        </m:sSupPr>
                        <m:e>
                          <m:d>
                            <m:dPr>
                              <m:begChr m:val="‖"/>
                              <m:endChr m:val="‖"/>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𝛩</m:t>
                              </m:r>
                            </m:e>
                          </m:d>
                        </m:e>
                        <m:sup>
                          <m:r>
                            <a:rPr lang="en-US" sz="1800" i="1">
                              <a:latin typeface="Cambria Math" panose="02040503050406030204" pitchFamily="18" charset="0"/>
                              <a:ea typeface="Cambria Math" panose="02040503050406030204" pitchFamily="18" charset="0"/>
                            </a:rPr>
                            <m:t>2</m:t>
                          </m:r>
                        </m:sup>
                      </m:sSup>
                      <m:r>
                        <a:rPr lang="en-US" sz="1800" i="1">
                          <a:latin typeface="Cambria Math" panose="02040503050406030204" pitchFamily="18" charset="0"/>
                          <a:ea typeface="Cambria Math" panose="02040503050406030204" pitchFamily="18" charset="0"/>
                        </a:rPr>
                        <m:t>,  </m:t>
                      </m:r>
                      <m:sSub>
                        <m:sSubPr>
                          <m:ctrlPr>
                            <a:rPr lang="en-US" sz="1800" i="1">
                              <a:latin typeface="Cambria Math" panose="02040503050406030204" pitchFamily="18" charset="0"/>
                              <a:ea typeface="Cambria Math" panose="02040503050406030204" pitchFamily="18" charset="0"/>
                            </a:rPr>
                          </m:ctrlPr>
                        </m:sSubPr>
                        <m:e>
                          <m:acc>
                            <m:accPr>
                              <m:chr m:val="̂"/>
                              <m:ctrlPr>
                                <a:rPr lang="en-US" sz="1800" i="1">
                                  <a:latin typeface="Cambria Math" panose="02040503050406030204" pitchFamily="18" charset="0"/>
                                  <a:ea typeface="Cambria Math" panose="02040503050406030204" pitchFamily="18" charset="0"/>
                                </a:rPr>
                              </m:ctrlPr>
                            </m:accPr>
                            <m:e>
                              <m:r>
                                <a:rPr lang="en-US" sz="1800" i="1">
                                  <a:latin typeface="Cambria Math" panose="02040503050406030204" pitchFamily="18" charset="0"/>
                                  <a:ea typeface="Cambria Math" panose="02040503050406030204" pitchFamily="18" charset="0"/>
                                </a:rPr>
                                <m:t>𝑦</m:t>
                              </m:r>
                            </m:e>
                          </m:acc>
                        </m:e>
                        <m:sub>
                          <m:r>
                            <a:rPr lang="en-US" sz="1800" i="1">
                              <a:latin typeface="Cambria Math" panose="02040503050406030204" pitchFamily="18" charset="0"/>
                              <a:ea typeface="Cambria Math" panose="02040503050406030204" pitchFamily="18" charset="0"/>
                            </a:rPr>
                            <m:t>𝑢</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𝑖</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𝐳</m:t>
                          </m:r>
                        </m:e>
                        <m:sub>
                          <m:r>
                            <a:rPr lang="en-US" sz="1800" i="1">
                              <a:latin typeface="Cambria Math" panose="02040503050406030204" pitchFamily="18" charset="0"/>
                              <a:ea typeface="Cambria Math" panose="02040503050406030204" pitchFamily="18" charset="0"/>
                            </a:rPr>
                            <m:t>𝑢</m:t>
                          </m:r>
                        </m:sub>
                      </m:sSub>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𝐳</m:t>
                          </m:r>
                        </m:e>
                        <m:sub>
                          <m:r>
                            <a:rPr lang="en-US" sz="1800" i="1">
                              <a:latin typeface="Cambria Math" panose="02040503050406030204" pitchFamily="18" charset="0"/>
                              <a:ea typeface="Cambria Math" panose="02040503050406030204" pitchFamily="18" charset="0"/>
                            </a:rPr>
                            <m:t>𝑖</m:t>
                          </m:r>
                        </m:sub>
                      </m:sSub>
                    </m:oMath>
                  </m:oMathPara>
                </a14:m>
                <a:endParaRPr lang="en-US" sz="1800"/>
              </a:p>
            </p:txBody>
          </p:sp>
        </mc:Choice>
        <mc:Fallback xmlns="">
          <p:sp>
            <p:nvSpPr>
              <p:cNvPr id="8" name="Equation 8"/>
              <p:cNvSpPr txBox="1">
                <a:spLocks noRot="1" noChangeAspect="1" noMove="1" noResize="1" noEditPoints="1" noAdjustHandles="1" noChangeArrowheads="1" noChangeShapeType="1" noTextEdit="1"/>
              </p:cNvSpPr>
              <p:nvPr/>
            </p:nvSpPr>
            <p:spPr>
              <a:xfrm>
                <a:off x="736600" y="3581400"/>
                <a:ext cx="6477000" cy="889000"/>
              </a:xfrm>
              <a:prstGeom prst="rect">
                <a:avLst/>
              </a:prstGeom>
              <a:blipFill>
                <a:blip r:embed="rId5"/>
                <a:stretch>
                  <a:fillRect t="-102857" b="-140000"/>
                </a:stretch>
              </a:blipFill>
            </p:spPr>
            <p:txBody>
              <a:bodyPr/>
              <a:lstStyle/>
              <a:p>
                <a:r>
                  <a:rPr lang="ko-KR" altLang="en-US">
                    <a:noFill/>
                  </a:rPr>
                  <a:t> </a:t>
                </a:r>
              </a:p>
            </p:txBody>
          </p:sp>
        </mc:Fallback>
      </mc:AlternateContent>
      <p:sp>
        <p:nvSpPr>
          <p:cNvPr id="9" name="Text 5"/>
          <p:cNvSpPr txBox="1"/>
          <p:nvPr/>
        </p:nvSpPr>
        <p:spPr>
          <a:xfrm>
            <a:off x="7223760" y="3063240"/>
            <a:ext cx="4389120" cy="365760"/>
          </a:xfrm>
          <a:prstGeom prst="rect">
            <a:avLst/>
          </a:prstGeom>
          <a:noFill/>
          <a:ln/>
        </p:spPr>
        <p:txBody>
          <a:bodyPr wrap="square" lIns="0" tIns="0" rIns="0" bIns="0" rtlCol="0" anchor="t"/>
          <a:lstStyle/>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최종 손실 (Eq.16)</a:t>
            </a:r>
            <a:endParaRPr lang="en-US" sz="1500" dirty="0"/>
          </a:p>
        </p:txBody>
      </p:sp>
      <mc:AlternateContent xmlns:mc="http://schemas.openxmlformats.org/markup-compatibility/2006" xmlns:a14="http://schemas.microsoft.com/office/drawing/2010/main">
        <mc:Choice Requires="a14">
          <p:sp>
            <p:nvSpPr>
              <p:cNvPr id="10" name="Equation 10"/>
              <p:cNvSpPr txBox="1"/>
              <p:nvPr/>
            </p:nvSpPr>
            <p:spPr>
              <a:xfrm>
                <a:off x="7315200" y="3454400"/>
                <a:ext cx="4191000" cy="635000"/>
              </a:xfrm>
              <a:prstGeom prst="rect">
                <a:avLst/>
              </a:prstGeom>
              <a:noFill/>
            </p:spPr>
            <p:txBody>
              <a:bodyPr wrap="none" lIns="91440" rtlCol="0" anchor="ctr"/>
              <a:lstStyle/>
              <a:p>
                <a:pPr/>
                <a14:m>
                  <m:oMathPara xmlns:m="http://schemas.openxmlformats.org/officeDocument/2006/math">
                    <m:oMathParaPr>
                      <m:jc m:val="left"/>
                    </m:oMathParaPr>
                    <m:oMath>
                      <m:r>
                        <a:rPr lang="en-US" sz="1800" i="1">
                          <a:latin typeface="Cambria Math" panose="02040503050406030204" pitchFamily="18" charset="0"/>
                          <a:ea typeface="Cambria Math" panose="02040503050406030204" pitchFamily="18" charset="0"/>
                        </a:rPr>
                        <m:t>ℒ</m:t>
                      </m:r>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ℒ</m:t>
                          </m:r>
                        </m:e>
                        <m:sub>
                          <m:r>
                            <m:rPr>
                              <m:sty m:val="p"/>
                            </m:rPr>
                            <a:rPr lang="en-US" sz="1800" i="1">
                              <a:latin typeface="Cambria Math" panose="02040503050406030204" pitchFamily="18" charset="0"/>
                              <a:ea typeface="Cambria Math" panose="02040503050406030204" pitchFamily="18" charset="0"/>
                            </a:rPr>
                            <m:t>rec</m:t>
                          </m:r>
                        </m:sub>
                      </m:sSub>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𝜆</m:t>
                      </m:r>
                      <m:r>
                        <a:rPr lang="en-US" sz="1800" i="1">
                          <a:latin typeface="Cambria Math" panose="02040503050406030204" pitchFamily="18" charset="0"/>
                          <a:ea typeface="Cambria Math" panose="02040503050406030204" pitchFamily="18" charset="0"/>
                        </a:rPr>
                        <m:t> </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ℒ</m:t>
                          </m:r>
                        </m:e>
                        <m:sub>
                          <m:r>
                            <m:rPr>
                              <m:sty m:val="p"/>
                            </m:rPr>
                            <a:rPr lang="en-US" sz="1800" i="1">
                              <a:latin typeface="Cambria Math" panose="02040503050406030204" pitchFamily="18" charset="0"/>
                              <a:ea typeface="Cambria Math" panose="02040503050406030204" pitchFamily="18" charset="0"/>
                            </a:rPr>
                            <m:t>dpl</m:t>
                          </m:r>
                        </m:sub>
                      </m:sSub>
                    </m:oMath>
                  </m:oMathPara>
                </a14:m>
                <a:endParaRPr lang="en-US" sz="1800"/>
              </a:p>
            </p:txBody>
          </p:sp>
        </mc:Choice>
        <mc:Fallback xmlns="">
          <p:sp>
            <p:nvSpPr>
              <p:cNvPr id="10" name="Equation 10"/>
              <p:cNvSpPr txBox="1">
                <a:spLocks noRot="1" noChangeAspect="1" noMove="1" noResize="1" noEditPoints="1" noAdjustHandles="1" noChangeArrowheads="1" noChangeShapeType="1" noTextEdit="1"/>
              </p:cNvSpPr>
              <p:nvPr/>
            </p:nvSpPr>
            <p:spPr>
              <a:xfrm>
                <a:off x="7315200" y="3454400"/>
                <a:ext cx="4191000" cy="635000"/>
              </a:xfrm>
              <a:prstGeom prst="rect">
                <a:avLst/>
              </a:prstGeom>
              <a:blipFill>
                <a:blip r:embed="rId6"/>
                <a:stretch>
                  <a:fillRect/>
                </a:stretch>
              </a:blipFill>
            </p:spPr>
            <p:txBody>
              <a:bodyPr/>
              <a:lstStyle/>
              <a:p>
                <a:r>
                  <a:rPr lang="ko-KR" altLang="en-US">
                    <a:noFill/>
                  </a:rPr>
                  <a:t> </a:t>
                </a:r>
              </a:p>
            </p:txBody>
          </p:sp>
        </mc:Fallback>
      </mc:AlternateContent>
      <p:sp>
        <p:nvSpPr>
          <p:cNvPr id="11" name="Shape 6"/>
          <p:cNvSpPr/>
          <p:nvPr/>
        </p:nvSpPr>
        <p:spPr>
          <a:xfrm>
            <a:off x="640080" y="4617720"/>
            <a:ext cx="10972800" cy="960120"/>
          </a:xfrm>
          <a:prstGeom prst="rect">
            <a:avLst/>
          </a:prstGeom>
          <a:solidFill>
            <a:srgbClr val="E9F7F6">
              <a:alpha val="50000"/>
            </a:srgbClr>
          </a:solidFill>
          <a:ln w="12700">
            <a:solidFill>
              <a:srgbClr val="E9F7F6"/>
            </a:solidFill>
            <a:prstDash val="solid"/>
          </a:ln>
        </p:spPr>
        <p:txBody>
          <a:bodyPr/>
          <a:lstStyle/>
          <a:p>
            <a:endParaRPr lang="ko-KR" altLang="en-US"/>
          </a:p>
        </p:txBody>
      </p:sp>
      <p:sp>
        <p:nvSpPr>
          <p:cNvPr id="12" name="Text 7"/>
          <p:cNvSpPr txBox="1"/>
          <p:nvPr/>
        </p:nvSpPr>
        <p:spPr>
          <a:xfrm>
            <a:off x="868680" y="4617720"/>
            <a:ext cx="10607040" cy="960120"/>
          </a:xfrm>
          <a:prstGeom prst="rect">
            <a:avLst/>
          </a:prstGeom>
          <a:noFill/>
          <a:ln/>
        </p:spPr>
        <p:txBody>
          <a:bodyPr wrap="square" lIns="0" tIns="0" rIns="0" bIns="0" rtlCol="0" anchor="ctr"/>
          <a:lstStyle/>
          <a:p>
            <a:pPr marL="0" indent="0">
              <a:spcAft>
                <a:spcPts val="600"/>
              </a:spcAft>
              <a:buNone/>
            </a:pPr>
            <a:r>
              <a:rPr lang="en-US" sz="140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source 쪽은 미리 따로 학습  </a:t>
            </a: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같은 BPR로 학습 후 target 학습 중에는 업데이트하지 않음 · 도메인 쌍이 정해지면 한 번만, 사전학습 모델이 있으면 재사용 가능</a:t>
            </a:r>
            <a:endParaRPr lang="en-US" sz="1400" dirty="0"/>
          </a:p>
        </p:txBody>
      </p:sp>
      <p:sp>
        <p:nvSpPr>
          <p:cNvPr id="13" name="Text 8"/>
          <p:cNvSpPr txBox="1"/>
          <p:nvPr/>
        </p:nvSpPr>
        <p:spPr>
          <a:xfrm>
            <a:off x="640080" y="5870448"/>
            <a:ext cx="10972800" cy="228600"/>
          </a:xfrm>
          <a:prstGeom prst="rect">
            <a:avLst/>
          </a:prstGeom>
          <a:noFill/>
          <a:ln/>
        </p:spPr>
        <p:txBody>
          <a:bodyPr wrap="square" lIns="0" tIns="0" rIns="0" bIns="0" rtlCol="0" anchor="ctr"/>
          <a:lstStyle/>
          <a:p>
            <a:pPr marL="0" indent="0">
              <a:buNone/>
            </a:pPr>
            <a:r>
              <a:rPr lang="en-US" sz="95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Eq.(14)–(16), Kang &amp; Lee, KDD 2026, Section 3.4</a:t>
            </a:r>
            <a:endParaRPr lang="en-US" sz="950" dirty="0"/>
          </a:p>
        </p:txBody>
      </p:sp>
    </p:spTree>
    <p:extLst>
      <p:ext uri="{BB962C8B-B14F-4D97-AF65-F5344CB8AC3E}">
        <p14:creationId xmlns:p14="http://schemas.microsoft.com/office/powerpoint/2010/main" val="742415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4. Evaluation — Questions &amp; Datasets</a:t>
            </a:r>
            <a:endParaRPr lang="en-US" sz="2800" dirty="0"/>
          </a:p>
        </p:txBody>
      </p:sp>
      <p:sp>
        <p:nvSpPr>
          <p:cNvPr id="3" name="Text 1"/>
          <p:cNvSpPr txBox="1"/>
          <p:nvPr/>
        </p:nvSpPr>
        <p:spPr>
          <a:xfrm>
            <a:off x="640080" y="1371600"/>
            <a:ext cx="3657600" cy="2377440"/>
          </a:xfrm>
          <a:prstGeom prst="rect">
            <a:avLst/>
          </a:prstGeom>
          <a:noFill/>
          <a:ln/>
        </p:spPr>
        <p:txBody>
          <a:bodyPr wrap="square" lIns="0" tIns="0" rIns="0" bIns="0" rtlCol="0" anchor="t"/>
          <a:lstStyle/>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Evaluation Questions</a:t>
            </a:r>
            <a:endParaRPr lang="en-US" sz="1500" dirty="0"/>
          </a:p>
          <a:p>
            <a:pPr marL="190500" indent="-190500">
              <a:spcAft>
                <a:spcPts val="600"/>
              </a:spcAft>
              <a:buSzPct val="100000"/>
              <a:buChar char="•"/>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EQ1  전체 성능</a:t>
            </a:r>
            <a:endParaRPr lang="en-US" sz="1500" dirty="0"/>
          </a:p>
          <a:p>
            <a:pPr marL="190500" indent="-190500">
              <a:spcAft>
                <a:spcPts val="600"/>
              </a:spcAft>
              <a:buSzPct val="100000"/>
              <a:buChar char="•"/>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EQ2  페르소나 모델링의 효과</a:t>
            </a:r>
            <a:endParaRPr lang="en-US" sz="1500" dirty="0"/>
          </a:p>
          <a:p>
            <a:pPr marL="190500" indent="-190500">
              <a:spcAft>
                <a:spcPts val="600"/>
              </a:spcAft>
              <a:buSzPct val="100000"/>
              <a:buChar char="•"/>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EQ3  도플갱어 전이의 효과</a:t>
            </a:r>
            <a:endParaRPr lang="en-US" sz="1500" dirty="0"/>
          </a:p>
          <a:p>
            <a:pPr marL="190500" indent="-190500">
              <a:spcAft>
                <a:spcPts val="600"/>
              </a:spcAft>
              <a:buSzPct val="100000"/>
              <a:buChar char="•"/>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EQ4  하이퍼파라미터 민감도</a:t>
            </a:r>
            <a:endParaRPr lang="en-US" sz="1500" dirty="0"/>
          </a:p>
          <a:p>
            <a:pPr marL="190500" indent="-190500">
              <a:spcAft>
                <a:spcPts val="600"/>
              </a:spcAft>
              <a:buSzPct val="100000"/>
              <a:buChar char="•"/>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EQ5  효율성</a:t>
            </a:r>
            <a:endParaRPr lang="en-US" sz="1500" dirty="0"/>
          </a:p>
        </p:txBody>
      </p:sp>
      <p:sp>
        <p:nvSpPr>
          <p:cNvPr id="4" name="Text 2"/>
          <p:cNvSpPr txBox="1"/>
          <p:nvPr/>
        </p:nvSpPr>
        <p:spPr>
          <a:xfrm>
            <a:off x="4754880" y="1371600"/>
            <a:ext cx="6858000" cy="777240"/>
          </a:xfrm>
          <a:prstGeom prst="rect">
            <a:avLst/>
          </a:prstGeom>
          <a:noFill/>
          <a:ln/>
        </p:spPr>
        <p:txBody>
          <a:bodyPr wrap="square" lIns="0" tIns="0" rIns="0" bIns="0" rtlCol="0" anchor="t"/>
          <a:lstStyle/>
          <a:p>
            <a:pPr marL="0" indent="0">
              <a:spcAft>
                <a:spcPts val="600"/>
              </a:spcAft>
              <a:buNone/>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데이터  Amazon Reviews 2023 · 5개 도메인(Elec, Home, Sports, Cloth, Toys) · 가능한 10쌍 전부 실험 · 본문은 overlapping user가 가장 많은 3쌍</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754880" y="2286000"/>
          <a:ext cx="6858000" cy="146304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65760">
                <a:tc>
                  <a:txBody>
                    <a:bodyPr/>
                    <a:lstStyle/>
                    <a:p>
                      <a:pPr marL="0" indent="0" algn="ctr">
                        <a:buNone/>
                      </a:pPr>
                      <a:r>
                        <a:rPr lang="en-US" sz="13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도메인 쌍</a:t>
                      </a:r>
                      <a:endParaRPr lang="en-US" sz="13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lgn="ctr">
                        <a:buNone/>
                      </a:pPr>
                      <a:r>
                        <a:rPr lang="en-US" sz="13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Overlapping users</a:t>
                      </a:r>
                      <a:endParaRPr lang="en-US" sz="13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lgn="ctr">
                        <a:buNone/>
                      </a:pPr>
                      <a:r>
                        <a:rPr lang="en-US" sz="13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나머지 쌍</a:t>
                      </a:r>
                      <a:endParaRPr lang="en-US" sz="13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extLst>
                  <a:ext uri="{0D108BD9-81ED-4DB2-BD59-A6C34878D82A}">
                    <a16:rowId xmlns:a16="http://schemas.microsoft.com/office/drawing/2014/main" val="10000"/>
                  </a:ext>
                </a:extLst>
              </a:tr>
              <a:tr h="365760">
                <a:tc>
                  <a:txBody>
                    <a:bodyPr/>
                    <a:lstStyle/>
                    <a:p>
                      <a:pPr marL="0" indent="0" algn="ctr">
                        <a:buNone/>
                      </a:pPr>
                      <a:r>
                        <a:rPr lang="en-US" sz="13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Elec – Home</a:t>
                      </a:r>
                      <a:endParaRPr lang="en-US" sz="13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3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7,274</a:t>
                      </a:r>
                      <a:endParaRPr lang="en-US" sz="13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rowSpan="3">
                  <a:txBody>
                    <a:bodyPr/>
                    <a:lstStyle/>
                    <a:p>
                      <a:pPr marL="0" indent="0" algn="ctr">
                        <a:buNone/>
                      </a:pPr>
                      <a:r>
                        <a:rPr lang="en-US" sz="1300" b="0" i="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Appendix Table 12</a:t>
                      </a:r>
                      <a:endParaRPr lang="en-US" sz="13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3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Sports – Cloth</a:t>
                      </a:r>
                      <a:endParaRPr lang="en-US" sz="13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3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4,588</a:t>
                      </a:r>
                      <a:endParaRPr lang="en-US" sz="13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vMerge="1">
                  <a:txBody>
                    <a:bodyPr/>
                    <a:lstStyle/>
                    <a:p>
                      <a:endParaRPr lang="ko-KR"/>
                    </a:p>
                  </a:txBody>
                  <a:tcPr/>
                </a:tc>
                <a:extLst>
                  <a:ext uri="{0D108BD9-81ED-4DB2-BD59-A6C34878D82A}">
                    <a16:rowId xmlns:a16="http://schemas.microsoft.com/office/drawing/2014/main" val="10002"/>
                  </a:ext>
                </a:extLst>
              </a:tr>
              <a:tr h="365760">
                <a:tc>
                  <a:txBody>
                    <a:bodyPr/>
                    <a:lstStyle/>
                    <a:p>
                      <a:pPr marL="0" indent="0" algn="ctr">
                        <a:buNone/>
                      </a:pPr>
                      <a:r>
                        <a:rPr lang="en-US" sz="13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Home – Toys</a:t>
                      </a:r>
                      <a:endParaRPr lang="en-US" sz="13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3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5,798</a:t>
                      </a:r>
                      <a:endParaRPr lang="en-US" sz="13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vMerge="1">
                  <a:txBody>
                    <a:bodyPr/>
                    <a:lstStyle/>
                    <a:p>
                      <a:endParaRPr lang="ko-KR"/>
                    </a:p>
                  </a:txBody>
                  <a:tcPr/>
                </a:tc>
                <a:extLst>
                  <a:ext uri="{0D108BD9-81ED-4DB2-BD59-A6C34878D82A}">
                    <a16:rowId xmlns:a16="http://schemas.microsoft.com/office/drawing/2014/main" val="10003"/>
                  </a:ext>
                </a:extLst>
              </a:tr>
            </a:tbl>
          </a:graphicData>
        </a:graphic>
      </p:graphicFrame>
      <p:sp>
        <p:nvSpPr>
          <p:cNvPr id="6" name="Shape 3"/>
          <p:cNvSpPr/>
          <p:nvPr/>
        </p:nvSpPr>
        <p:spPr>
          <a:xfrm>
            <a:off x="640080" y="4069080"/>
            <a:ext cx="10972800" cy="1508760"/>
          </a:xfrm>
          <a:prstGeom prst="rect">
            <a:avLst/>
          </a:prstGeom>
          <a:solidFill>
            <a:srgbClr val="E9F7F6">
              <a:alpha val="50000"/>
            </a:srgbClr>
          </a:solidFill>
          <a:ln w="12700">
            <a:solidFill>
              <a:srgbClr val="E9F7F6"/>
            </a:solidFill>
            <a:prstDash val="solid"/>
          </a:ln>
        </p:spPr>
        <p:txBody>
          <a:bodyPr/>
          <a:lstStyle/>
          <a:p>
            <a:endParaRPr lang="ko-KR" altLang="en-US"/>
          </a:p>
        </p:txBody>
      </p:sp>
      <p:sp>
        <p:nvSpPr>
          <p:cNvPr id="7" name="Text 4"/>
          <p:cNvSpPr txBox="1"/>
          <p:nvPr/>
        </p:nvSpPr>
        <p:spPr>
          <a:xfrm>
            <a:off x="868680" y="4160520"/>
            <a:ext cx="10607040" cy="1371600"/>
          </a:xfrm>
          <a:prstGeom prst="rect">
            <a:avLst/>
          </a:prstGeom>
          <a:noFill/>
          <a:ln/>
        </p:spPr>
        <p:txBody>
          <a:bodyPr wrap="square" lIns="0" tIns="0" rIns="0" bIns="0" rtlCol="0" anchor="t"/>
          <a:lstStyle/>
          <a:p>
            <a:pPr marL="0" indent="0">
              <a:spcAft>
                <a:spcPts val="600"/>
              </a:spcAft>
              <a:buNone/>
            </a:pPr>
            <a:r>
              <a:rPr lang="en-US" sz="150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시간 기준 분할 (Time-aware split)</a:t>
            </a:r>
            <a:endParaRPr lang="en-US" sz="15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2019년 이전 = 학습, 2019년 이후 = 검증 / 테스트 (두 기간에 모두 등장한 사용자만)</a:t>
            </a:r>
            <a:endParaRPr lang="en-US" sz="15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이유: 미래 정보가 학습에 새지 않게, 실제 서비스 상황과 비슷하게</a:t>
            </a:r>
            <a:endParaRPr lang="en-US" sz="15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baseline 수치가 원 논문과 다를 수 있음 (원래 설정에서는 재현 확인)</a:t>
            </a:r>
            <a:endParaRPr lang="en-US" sz="1500" dirty="0"/>
          </a:p>
        </p:txBody>
      </p:sp>
      <p:sp>
        <p:nvSpPr>
          <p:cNvPr id="8" name="Text 5"/>
          <p:cNvSpPr txBox="1"/>
          <p:nvPr/>
        </p:nvSpPr>
        <p:spPr>
          <a:xfrm>
            <a:off x="640080" y="5870448"/>
            <a:ext cx="10972800" cy="228600"/>
          </a:xfrm>
          <a:prstGeom prst="rect">
            <a:avLst/>
          </a:prstGeom>
          <a:noFill/>
          <a:ln/>
        </p:spPr>
        <p:txBody>
          <a:bodyPr wrap="square" lIns="0" tIns="0" rIns="0" bIns="0" rtlCol="0" anchor="ctr"/>
          <a:lstStyle/>
          <a:p>
            <a:pPr marL="0" indent="0">
              <a:buNone/>
            </a:pPr>
            <a:r>
              <a:rPr lang="en-US" sz="95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Kang &amp; Lee, KDD 2026, Section 4.1, Table 3</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4. Evaluation — Protocol &amp; Implementation</a:t>
            </a:r>
            <a:endParaRPr lang="en-US" sz="2800" dirty="0"/>
          </a:p>
        </p:txBody>
      </p:sp>
      <p:sp>
        <p:nvSpPr>
          <p:cNvPr id="3" name="Text 1"/>
          <p:cNvSpPr txBox="1"/>
          <p:nvPr/>
        </p:nvSpPr>
        <p:spPr>
          <a:xfrm>
            <a:off x="640080" y="1325880"/>
            <a:ext cx="10972800" cy="457200"/>
          </a:xfrm>
          <a:prstGeom prst="rect">
            <a:avLst/>
          </a:prstGeom>
          <a:noFill/>
          <a:ln/>
        </p:spPr>
        <p:txBody>
          <a:bodyPr wrap="square" lIns="0" tIns="0" rIns="0" bIns="0" rtlCol="0" anchor="t"/>
          <a:lstStyle/>
          <a:p>
            <a:pPr marL="0" indent="0">
              <a:spcAft>
                <a:spcPts val="600"/>
              </a:spcAft>
              <a:buNone/>
            </a:pPr>
            <a:r>
              <a:rPr lang="en-US" sz="14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Full ranking 평가  후보를 샘플링하지 않고, 안 본 모든 아이템을 후보로 둠 → 어려운 설정이라 수치가 2~4% 수준</a:t>
            </a:r>
            <a:endParaRPr lang="en-US" sz="1400" dirty="0"/>
          </a:p>
        </p:txBody>
      </p:sp>
      <p:sp>
        <p:nvSpPr>
          <p:cNvPr id="4" name="Text 2"/>
          <p:cNvSpPr txBox="1"/>
          <p:nvPr/>
        </p:nvSpPr>
        <p:spPr>
          <a:xfrm>
            <a:off x="640080" y="1920240"/>
            <a:ext cx="5029200" cy="1463040"/>
          </a:xfrm>
          <a:prstGeom prst="rect">
            <a:avLst/>
          </a:prstGeom>
          <a:noFill/>
          <a:ln/>
        </p:spPr>
        <p:txBody>
          <a:bodyPr wrap="square" lIns="0" tIns="0" rIns="0" bIns="0" rtlCol="0" anchor="t"/>
          <a:lstStyle/>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지표</a:t>
            </a:r>
            <a:endParaRPr lang="en-US" sz="15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HR@5: 정답 아이템이 상위 5개 안에 들었는지</a:t>
            </a:r>
            <a:endParaRPr lang="en-US" sz="15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NDCG@5: 정답이 위에 있을수록 점수를 더 줌</a:t>
            </a:r>
            <a:endParaRPr lang="en-US" sz="15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모든 결과는 seed 5개의 평균</a:t>
            </a:r>
            <a:endParaRPr lang="en-US" sz="1500" dirty="0"/>
          </a:p>
        </p:txBody>
      </p:sp>
      <mc:AlternateContent xmlns:mc="http://schemas.openxmlformats.org/markup-compatibility/2006" xmlns:a14="http://schemas.microsoft.com/office/drawing/2010/main">
        <mc:Choice Requires="a14">
          <p:sp>
            <p:nvSpPr>
              <p:cNvPr id="5" name="Equation 5"/>
              <p:cNvSpPr txBox="1"/>
              <p:nvPr/>
            </p:nvSpPr>
            <p:spPr>
              <a:xfrm>
                <a:off x="736600" y="3378200"/>
                <a:ext cx="5461000" cy="889000"/>
              </a:xfrm>
              <a:prstGeom prst="rect">
                <a:avLst/>
              </a:prstGeom>
              <a:noFill/>
            </p:spPr>
            <p:txBody>
              <a:bodyPr wrap="none" lIns="91440" rtlCol="0" anchor="ctr"/>
              <a:lstStyle/>
              <a:p>
                <a:pPr/>
                <a14:m>
                  <m:oMathPara xmlns:m="http://schemas.openxmlformats.org/officeDocument/2006/math">
                    <m:oMathParaPr>
                      <m:jc m:val="left"/>
                    </m:oMathParaPr>
                    <m:oMath>
                      <m:r>
                        <m:rPr>
                          <m:sty m:val="p"/>
                        </m:rPr>
                        <a:rPr lang="en-US" sz="1600" i="1">
                          <a:latin typeface="Cambria Math" panose="02040503050406030204" pitchFamily="18" charset="0"/>
                          <a:ea typeface="Cambria Math" panose="02040503050406030204" pitchFamily="18" charset="0"/>
                        </a:rPr>
                        <m:t>DCG</m:t>
                      </m:r>
                      <m:r>
                        <a:rPr lang="en-US" sz="1600" i="1">
                          <a:latin typeface="Cambria Math" panose="02040503050406030204" pitchFamily="18" charset="0"/>
                          <a:ea typeface="Cambria Math" panose="02040503050406030204" pitchFamily="18" charset="0"/>
                        </a:rPr>
                        <m:t>@5=</m:t>
                      </m:r>
                      <m:nary>
                        <m:naryPr>
                          <m:chr m:val="∑"/>
                          <m:limLoc m:val="undOvr"/>
                          <m:ctrlPr>
                            <a:rPr lang="en-US" sz="1600" i="1">
                              <a:latin typeface="Cambria Math" panose="02040503050406030204" pitchFamily="18" charset="0"/>
                              <a:ea typeface="Cambria Math" panose="02040503050406030204" pitchFamily="18" charset="0"/>
                            </a:rPr>
                          </m:ctrlPr>
                        </m:naryPr>
                        <m:sub>
                          <m:r>
                            <a:rPr lang="en-US" sz="1600" i="1">
                              <a:latin typeface="Cambria Math" panose="02040503050406030204" pitchFamily="18" charset="0"/>
                              <a:ea typeface="Cambria Math" panose="02040503050406030204" pitchFamily="18" charset="0"/>
                            </a:rPr>
                            <m:t>𝑟</m:t>
                          </m:r>
                          <m:r>
                            <a:rPr lang="en-US" sz="1600" i="1">
                              <a:latin typeface="Cambria Math" panose="02040503050406030204" pitchFamily="18" charset="0"/>
                              <a:ea typeface="Cambria Math" panose="02040503050406030204" pitchFamily="18" charset="0"/>
                            </a:rPr>
                            <m:t>=1</m:t>
                          </m:r>
                        </m:sub>
                        <m:sup>
                          <m:r>
                            <a:rPr lang="en-US" sz="1600" i="1">
                              <a:latin typeface="Cambria Math" panose="02040503050406030204" pitchFamily="18" charset="0"/>
                              <a:ea typeface="Cambria Math" panose="02040503050406030204" pitchFamily="18" charset="0"/>
                            </a:rPr>
                            <m:t>5</m:t>
                          </m:r>
                        </m:sup>
                        <m:e>
                          <m:f>
                            <m:fPr>
                              <m:ctrlPr>
                                <a:rPr lang="en-US" sz="1600" i="1">
                                  <a:latin typeface="Cambria Math" panose="02040503050406030204" pitchFamily="18" charset="0"/>
                                  <a:ea typeface="Cambria Math" panose="02040503050406030204" pitchFamily="18" charset="0"/>
                                </a:rPr>
                              </m:ctrlPr>
                            </m:fPr>
                            <m:num>
                              <m:sSub>
                                <m:sSubPr>
                                  <m:ctrlPr>
                                    <a:rPr lang="en-US" sz="1600" i="1">
                                      <a:latin typeface="Cambria Math" panose="02040503050406030204" pitchFamily="18" charset="0"/>
                                      <a:ea typeface="Cambria Math" panose="02040503050406030204" pitchFamily="18" charset="0"/>
                                    </a:rPr>
                                  </m:ctrlPr>
                                </m:sSubPr>
                                <m:e>
                                  <m:r>
                                    <m:rPr>
                                      <m:sty m:val="p"/>
                                    </m:rPr>
                                    <a:rPr lang="en-US" sz="1600" i="1">
                                      <a:latin typeface="Cambria Math" panose="02040503050406030204" pitchFamily="18" charset="0"/>
                                      <a:ea typeface="Cambria Math" panose="02040503050406030204" pitchFamily="18" charset="0"/>
                                    </a:rPr>
                                    <m:t>rel</m:t>
                                  </m:r>
                                </m:e>
                                <m:sub>
                                  <m:r>
                                    <a:rPr lang="en-US" sz="1600" i="1">
                                      <a:latin typeface="Cambria Math" panose="02040503050406030204" pitchFamily="18" charset="0"/>
                                      <a:ea typeface="Cambria Math" panose="02040503050406030204" pitchFamily="18" charset="0"/>
                                    </a:rPr>
                                    <m:t>𝑟</m:t>
                                  </m:r>
                                </m:sub>
                              </m:sSub>
                            </m:num>
                            <m:den>
                              <m:sSub>
                                <m:sSubPr>
                                  <m:ctrlPr>
                                    <a:rPr lang="en-US" sz="1600" i="1">
                                      <a:latin typeface="Cambria Math" panose="02040503050406030204" pitchFamily="18" charset="0"/>
                                      <a:ea typeface="Cambria Math" panose="02040503050406030204" pitchFamily="18" charset="0"/>
                                    </a:rPr>
                                  </m:ctrlPr>
                                </m:sSubPr>
                                <m:e>
                                  <m:r>
                                    <m:rPr>
                                      <m:sty m:val="p"/>
                                    </m:rPr>
                                    <a:rPr lang="en-US" sz="1600" i="1">
                                      <a:latin typeface="Cambria Math" panose="02040503050406030204" pitchFamily="18" charset="0"/>
                                      <a:ea typeface="Cambria Math" panose="02040503050406030204" pitchFamily="18" charset="0"/>
                                    </a:rPr>
                                    <m:t>log</m:t>
                                  </m:r>
                                </m:e>
                                <m:sub>
                                  <m:r>
                                    <a:rPr lang="en-US" sz="1600" i="1">
                                      <a:latin typeface="Cambria Math" panose="02040503050406030204" pitchFamily="18" charset="0"/>
                                      <a:ea typeface="Cambria Math" panose="02040503050406030204" pitchFamily="18" charset="0"/>
                                    </a:rPr>
                                    <m:t>2</m:t>
                                  </m:r>
                                </m:sub>
                              </m:sSub>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𝑟</m:t>
                              </m:r>
                              <m:r>
                                <a:rPr lang="en-US" sz="1600" i="1">
                                  <a:latin typeface="Cambria Math" panose="02040503050406030204" pitchFamily="18" charset="0"/>
                                  <a:ea typeface="Cambria Math" panose="02040503050406030204" pitchFamily="18" charset="0"/>
                                </a:rPr>
                                <m:t>+1)</m:t>
                              </m:r>
                            </m:den>
                          </m:f>
                          <m:r>
                            <a:rPr lang="en-US" sz="1600" i="1">
                              <a:latin typeface="Cambria Math" panose="02040503050406030204" pitchFamily="18" charset="0"/>
                              <a:ea typeface="Cambria Math" panose="02040503050406030204" pitchFamily="18" charset="0"/>
                            </a:rPr>
                            <m:t>,  </m:t>
                          </m:r>
                          <m:r>
                            <m:rPr>
                              <m:sty m:val="p"/>
                            </m:rPr>
                            <a:rPr lang="en-US" sz="1600" i="1">
                              <a:latin typeface="Cambria Math" panose="02040503050406030204" pitchFamily="18" charset="0"/>
                              <a:ea typeface="Cambria Math" panose="02040503050406030204" pitchFamily="18" charset="0"/>
                            </a:rPr>
                            <m:t>NDCG</m:t>
                          </m:r>
                          <m:r>
                            <a:rPr lang="en-US" sz="1600" i="1">
                              <a:latin typeface="Cambria Math" panose="02040503050406030204" pitchFamily="18" charset="0"/>
                              <a:ea typeface="Cambria Math" panose="02040503050406030204" pitchFamily="18" charset="0"/>
                            </a:rPr>
                            <m:t>@5=</m:t>
                          </m:r>
                          <m:f>
                            <m:fPr>
                              <m:ctrlPr>
                                <a:rPr lang="en-US" sz="1600" i="1">
                                  <a:latin typeface="Cambria Math" panose="02040503050406030204" pitchFamily="18" charset="0"/>
                                  <a:ea typeface="Cambria Math" panose="02040503050406030204" pitchFamily="18" charset="0"/>
                                </a:rPr>
                              </m:ctrlPr>
                            </m:fPr>
                            <m:num>
                              <m:r>
                                <m:rPr>
                                  <m:sty m:val="p"/>
                                </m:rPr>
                                <a:rPr lang="en-US" sz="1600" i="1">
                                  <a:latin typeface="Cambria Math" panose="02040503050406030204" pitchFamily="18" charset="0"/>
                                  <a:ea typeface="Cambria Math" panose="02040503050406030204" pitchFamily="18" charset="0"/>
                                </a:rPr>
                                <m:t>DCG</m:t>
                              </m:r>
                              <m:r>
                                <a:rPr lang="en-US" sz="1600" i="1">
                                  <a:latin typeface="Cambria Math" panose="02040503050406030204" pitchFamily="18" charset="0"/>
                                  <a:ea typeface="Cambria Math" panose="02040503050406030204" pitchFamily="18" charset="0"/>
                                </a:rPr>
                                <m:t>@5</m:t>
                              </m:r>
                            </m:num>
                            <m:den>
                              <m:r>
                                <m:rPr>
                                  <m:sty m:val="p"/>
                                </m:rPr>
                                <a:rPr lang="en-US" sz="1600" i="1">
                                  <a:latin typeface="Cambria Math" panose="02040503050406030204" pitchFamily="18" charset="0"/>
                                  <a:ea typeface="Cambria Math" panose="02040503050406030204" pitchFamily="18" charset="0"/>
                                </a:rPr>
                                <m:t>IDCG</m:t>
                              </m:r>
                              <m:r>
                                <a:rPr lang="en-US" sz="1600" i="1">
                                  <a:latin typeface="Cambria Math" panose="02040503050406030204" pitchFamily="18" charset="0"/>
                                  <a:ea typeface="Cambria Math" panose="02040503050406030204" pitchFamily="18" charset="0"/>
                                </a:rPr>
                                <m:t>@5</m:t>
                              </m:r>
                            </m:den>
                          </m:f>
                        </m:e>
                      </m:nary>
                    </m:oMath>
                  </m:oMathPara>
                </a14:m>
                <a:endParaRPr lang="en-US" sz="1600"/>
              </a:p>
            </p:txBody>
          </p:sp>
        </mc:Choice>
        <mc:Fallback xmlns="">
          <p:sp>
            <p:nvSpPr>
              <p:cNvPr id="5" name="Equation 5"/>
              <p:cNvSpPr txBox="1">
                <a:spLocks noRot="1" noChangeAspect="1" noMove="1" noResize="1" noEditPoints="1" noAdjustHandles="1" noChangeArrowheads="1" noChangeShapeType="1" noTextEdit="1"/>
              </p:cNvSpPr>
              <p:nvPr/>
            </p:nvSpPr>
            <p:spPr>
              <a:xfrm>
                <a:off x="736600" y="3378200"/>
                <a:ext cx="5461000" cy="889000"/>
              </a:xfrm>
              <a:prstGeom prst="rect">
                <a:avLst/>
              </a:prstGeom>
              <a:blipFill>
                <a:blip r:embed="rId4"/>
                <a:stretch>
                  <a:fillRect t="-77465" b="-130986"/>
                </a:stretch>
              </a:blipFill>
            </p:spPr>
            <p:txBody>
              <a:bodyPr/>
              <a:lstStyle/>
              <a:p>
                <a:r>
                  <a:rPr lang="ko-KR" altLang="en-US">
                    <a:noFill/>
                  </a:rPr>
                  <a:t> </a:t>
                </a:r>
              </a:p>
            </p:txBody>
          </p:sp>
        </mc:Fallback>
      </mc:AlternateContent>
      <p:sp>
        <p:nvSpPr>
          <p:cNvPr id="6" name="Text 3"/>
          <p:cNvSpPr txBox="1"/>
          <p:nvPr/>
        </p:nvSpPr>
        <p:spPr>
          <a:xfrm>
            <a:off x="6217920" y="1920240"/>
            <a:ext cx="5394960" cy="365760"/>
          </a:xfrm>
          <a:prstGeom prst="rect">
            <a:avLst/>
          </a:prstGeom>
          <a:noFill/>
          <a:ln/>
        </p:spPr>
        <p:txBody>
          <a:bodyPr wrap="square" lIns="0" tIns="0" rIns="0" bIns="0" rtlCol="0" anchor="t"/>
          <a:lstStyle/>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Baselines</a:t>
            </a:r>
            <a:endParaRPr lang="en-US" sz="1500" dirty="0"/>
          </a:p>
        </p:txBody>
      </p:sp>
      <p:graphicFrame>
        <p:nvGraphicFramePr>
          <p:cNvPr id="19" name="Table 0"/>
          <p:cNvGraphicFramePr>
            <a:graphicFrameLocks noGrp="1"/>
          </p:cNvGraphicFramePr>
          <p:nvPr/>
        </p:nvGraphicFramePr>
        <p:xfrm>
          <a:off x="6217920" y="2331720"/>
          <a:ext cx="5394960" cy="1152144"/>
        </p:xfrm>
        <a:graphic>
          <a:graphicData uri="http://schemas.openxmlformats.org/drawingml/2006/table">
            <a:tbl>
              <a:tblPr/>
              <a:tblGrid>
                <a:gridCol w="13716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84048">
                <a:tc>
                  <a:txBody>
                    <a:bodyPr/>
                    <a:lstStyle/>
                    <a:p>
                      <a:pPr marL="0" indent="0">
                        <a:buNone/>
                      </a:pPr>
                      <a:r>
                        <a:rPr lang="en-US" sz="13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구분</a:t>
                      </a:r>
                      <a:endParaRPr lang="en-US" sz="13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3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방법</a:t>
                      </a:r>
                      <a:endParaRPr lang="en-US" sz="13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extLst>
                  <a:ext uri="{0D108BD9-81ED-4DB2-BD59-A6C34878D82A}">
                    <a16:rowId xmlns:a16="http://schemas.microsoft.com/office/drawing/2014/main" val="10000"/>
                  </a:ext>
                </a:extLst>
              </a:tr>
              <a:tr h="384048">
                <a:tc>
                  <a:txBody>
                    <a:bodyPr/>
                    <a:lstStyle/>
                    <a:p>
                      <a:pPr marL="0" indent="0">
                        <a:buNone/>
                      </a:pPr>
                      <a:r>
                        <a:rPr lang="en-US" sz="13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단일 도메인</a:t>
                      </a:r>
                      <a:endParaRPr lang="en-US" sz="13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3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BPRMF, NGCF, LightGCN</a:t>
                      </a:r>
                      <a:endParaRPr lang="en-US" sz="13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CDR</a:t>
                      </a:r>
                      <a:endParaRPr lang="en-US" sz="13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3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UniCDR, CDIMF, CUT, PPA (가장 강한 경쟁자), DGCDR</a:t>
                      </a:r>
                      <a:endParaRPr lang="en-US" sz="13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Shape 4"/>
          <p:cNvSpPr/>
          <p:nvPr/>
        </p:nvSpPr>
        <p:spPr>
          <a:xfrm>
            <a:off x="640080" y="4343400"/>
            <a:ext cx="10972800" cy="0"/>
          </a:xfrm>
          <a:prstGeom prst="line">
            <a:avLst/>
          </a:prstGeom>
          <a:noFill/>
          <a:ln w="9525">
            <a:solidFill>
              <a:srgbClr val="D9DDE1"/>
            </a:solidFill>
            <a:prstDash val="solid"/>
          </a:ln>
        </p:spPr>
        <p:txBody>
          <a:bodyPr/>
          <a:lstStyle/>
          <a:p>
            <a:endParaRPr lang="ko-KR" altLang="en-US"/>
          </a:p>
        </p:txBody>
      </p:sp>
      <p:sp>
        <p:nvSpPr>
          <p:cNvPr id="9" name="Text 5"/>
          <p:cNvSpPr txBox="1"/>
          <p:nvPr/>
        </p:nvSpPr>
        <p:spPr>
          <a:xfrm>
            <a:off x="640080" y="4480560"/>
            <a:ext cx="10972800" cy="1188720"/>
          </a:xfrm>
          <a:prstGeom prst="rect">
            <a:avLst/>
          </a:prstGeom>
          <a:noFill/>
          <a:ln/>
        </p:spPr>
        <p:txBody>
          <a:bodyPr wrap="square" lIns="0" tIns="0" rIns="0" bIns="0" rtlCol="0" anchor="t"/>
          <a:lstStyle/>
          <a:p>
            <a:pPr marL="0" indent="0">
              <a:spcAft>
                <a:spcPts val="600"/>
              </a:spcAft>
              <a:buNone/>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구현 세부</a:t>
            </a:r>
            <a:endParaRPr lang="en-US" sz="15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Adam, 최대 100 epoch + early stopping, batch 1024, 임베딩 128차원, GPU RTX 6000 Ada</a:t>
            </a:r>
            <a:endParaRPr lang="en-US" sz="1500" dirty="0"/>
          </a:p>
          <a:p>
            <a:pPr marL="190500" indent="-190500">
              <a:spcAft>
                <a:spcPts val="600"/>
              </a:spcAft>
              <a:buSzPct val="100000"/>
              <a:buChar char="•"/>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페르소나 생성: gpt-4o, 사용자당 최근 30개 상호작용, 사용자당 약 $0.022 · temperature 0.7 (도메인 설명 1.0)</a:t>
            </a:r>
            <a:endParaRPr lang="en-US" sz="1500" dirty="0"/>
          </a:p>
        </p:txBody>
      </p:sp>
      <p:sp>
        <p:nvSpPr>
          <p:cNvPr id="10" name="Text 6"/>
          <p:cNvSpPr txBox="1"/>
          <p:nvPr/>
        </p:nvSpPr>
        <p:spPr>
          <a:xfrm>
            <a:off x="640080" y="5870448"/>
            <a:ext cx="10972800" cy="228600"/>
          </a:xfrm>
          <a:prstGeom prst="rect">
            <a:avLst/>
          </a:prstGeom>
          <a:noFill/>
          <a:ln/>
        </p:spPr>
        <p:txBody>
          <a:bodyPr wrap="square" lIns="0" tIns="0" rIns="0" bIns="0" rtlCol="0" anchor="ctr"/>
          <a:lstStyle/>
          <a:p>
            <a:pPr marL="0" indent="0">
              <a:buNone/>
            </a:pPr>
            <a:r>
              <a:rPr lang="en-US" sz="95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Kang &amp; Lee, KDD 2026, Section 4.1</a:t>
            </a:r>
            <a:endParaRPr lang="en-US" sz="950" dirty="0"/>
          </a:p>
        </p:txBody>
      </p:sp>
    </p:spTree>
    <p:extLst>
      <p:ext uri="{BB962C8B-B14F-4D97-AF65-F5344CB8AC3E}">
        <p14:creationId xmlns:p14="http://schemas.microsoft.com/office/powerpoint/2010/main" val="3869583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4. EQ1 — Overall Performance</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810013933"/>
              </p:ext>
            </p:extLst>
          </p:nvPr>
        </p:nvGraphicFramePr>
        <p:xfrm>
          <a:off x="640080" y="1280160"/>
          <a:ext cx="7680960" cy="3566160"/>
        </p:xfrm>
        <a:graphic>
          <a:graphicData uri="http://schemas.openxmlformats.org/drawingml/2006/table">
            <a:tbl>
              <a:tblPr/>
              <a:tblGrid>
                <a:gridCol w="1188720">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gridCol w="566928">
                  <a:extLst>
                    <a:ext uri="{9D8B030D-6E8A-4147-A177-3AD203B41FA5}">
                      <a16:colId xmlns:a16="http://schemas.microsoft.com/office/drawing/2014/main" val="20003"/>
                    </a:ext>
                  </a:extLst>
                </a:gridCol>
                <a:gridCol w="713232">
                  <a:extLst>
                    <a:ext uri="{9D8B030D-6E8A-4147-A177-3AD203B41FA5}">
                      <a16:colId xmlns:a16="http://schemas.microsoft.com/office/drawing/2014/main" val="20004"/>
                    </a:ext>
                  </a:extLst>
                </a:gridCol>
                <a:gridCol w="658368">
                  <a:extLst>
                    <a:ext uri="{9D8B030D-6E8A-4147-A177-3AD203B41FA5}">
                      <a16:colId xmlns:a16="http://schemas.microsoft.com/office/drawing/2014/main" val="20005"/>
                    </a:ext>
                  </a:extLst>
                </a:gridCol>
                <a:gridCol w="658368">
                  <a:extLst>
                    <a:ext uri="{9D8B030D-6E8A-4147-A177-3AD203B41FA5}">
                      <a16:colId xmlns:a16="http://schemas.microsoft.com/office/drawing/2014/main" val="20006"/>
                    </a:ext>
                  </a:extLst>
                </a:gridCol>
                <a:gridCol w="566928">
                  <a:extLst>
                    <a:ext uri="{9D8B030D-6E8A-4147-A177-3AD203B41FA5}">
                      <a16:colId xmlns:a16="http://schemas.microsoft.com/office/drawing/2014/main" val="20007"/>
                    </a:ext>
                  </a:extLst>
                </a:gridCol>
                <a:gridCol w="566928">
                  <a:extLst>
                    <a:ext uri="{9D8B030D-6E8A-4147-A177-3AD203B41FA5}">
                      <a16:colId xmlns:a16="http://schemas.microsoft.com/office/drawing/2014/main" val="20008"/>
                    </a:ext>
                  </a:extLst>
                </a:gridCol>
                <a:gridCol w="658368">
                  <a:extLst>
                    <a:ext uri="{9D8B030D-6E8A-4147-A177-3AD203B41FA5}">
                      <a16:colId xmlns:a16="http://schemas.microsoft.com/office/drawing/2014/main" val="20009"/>
                    </a:ext>
                  </a:extLst>
                </a:gridCol>
                <a:gridCol w="877824">
                  <a:extLst>
                    <a:ext uri="{9D8B030D-6E8A-4147-A177-3AD203B41FA5}">
                      <a16:colId xmlns:a16="http://schemas.microsoft.com/office/drawing/2014/main" val="20010"/>
                    </a:ext>
                  </a:extLst>
                </a:gridCol>
              </a:tblGrid>
              <a:tr h="274320">
                <a:tc>
                  <a:txBody>
                    <a:bodyPr/>
                    <a:lstStyle/>
                    <a:p>
                      <a:pPr marL="0" indent="0">
                        <a:buNone/>
                      </a:pPr>
                      <a:r>
                        <a:rPr lang="en-US" sz="9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Source→Target</a:t>
                      </a:r>
                      <a:endParaRPr lang="en-US" sz="9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@5</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BPR-MF</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NGCF</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Light-GCN</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Uni-CDR</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CDIMF</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CUT</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PPA</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DG-CDR</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0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Multi-TAP</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0"/>
                  </a:ext>
                </a:extLst>
              </a:tr>
              <a:tr h="274320">
                <a:tc>
                  <a:txBody>
                    <a:bodyPr/>
                    <a:lstStyle/>
                    <a:p>
                      <a:pPr marL="0" indent="0">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Elec→Home</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850" b="0" i="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HR</a:t>
                      </a:r>
                      <a:endParaRPr lang="en-US" sz="85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1.69</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1.66</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1.77</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1.69</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1.94</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1.96</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3.06</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2.63</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3.23</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1"/>
                  </a:ext>
                </a:extLst>
              </a:tr>
              <a:tr h="274320">
                <a:tc>
                  <a:txBody>
                    <a:bodyPr/>
                    <a:lstStyle/>
                    <a:p>
                      <a:pPr marL="0" indent="0">
                        <a:buNone/>
                      </a:pP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850" b="0" i="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NDCG</a:t>
                      </a:r>
                      <a:endParaRPr lang="en-US" sz="85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0.49</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0.49</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0.51</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0.54</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0.57</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0.58</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0.89</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0.76</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0.91</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2"/>
                  </a:ext>
                </a:extLst>
              </a:tr>
              <a:tr h="274320">
                <a:tc>
                  <a:txBody>
                    <a:bodyPr/>
                    <a:lstStyle/>
                    <a:p>
                      <a:pPr marL="0" indent="0">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Home→Elec</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850" b="0" i="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HR</a:t>
                      </a:r>
                      <a:endParaRPr lang="en-US" sz="85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1.66</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1.48</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2.21</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1.55</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1.64</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1.57</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1.79</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1.57</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2.44</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3"/>
                  </a:ext>
                </a:extLst>
              </a:tr>
              <a:tr h="274320">
                <a:tc>
                  <a:txBody>
                    <a:bodyPr/>
                    <a:lstStyle/>
                    <a:p>
                      <a:pPr marL="0" indent="0">
                        <a:buNone/>
                      </a:pP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850" b="0" i="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NDCG</a:t>
                      </a:r>
                      <a:endParaRPr lang="en-US" sz="85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0.47</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0.42</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0.63</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0.47</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0.46</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0.46</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0.54</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0.47</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0.77</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4"/>
                  </a:ext>
                </a:extLst>
              </a:tr>
              <a:tr h="274320">
                <a:tc>
                  <a:txBody>
                    <a:bodyPr/>
                    <a:lstStyle/>
                    <a:p>
                      <a:pPr marL="0" indent="0">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Sports→Cloth</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850" b="0" i="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HR</a:t>
                      </a:r>
                      <a:endParaRPr lang="en-US" sz="85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1.56</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1.51</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1.66</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1.71</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2.21</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2.96</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3.36</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2.25</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4.09</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5"/>
                  </a:ext>
                </a:extLst>
              </a:tr>
              <a:tr h="274320">
                <a:tc>
                  <a:txBody>
                    <a:bodyPr/>
                    <a:lstStyle/>
                    <a:p>
                      <a:pPr marL="0" indent="0">
                        <a:buNone/>
                      </a:pP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850" b="0" i="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NDCG</a:t>
                      </a:r>
                      <a:endParaRPr lang="en-US" sz="85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0.42</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0.42</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0.46</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0.47</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0.68</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0.92</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0.98</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0.63</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1.11</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6"/>
                  </a:ext>
                </a:extLst>
              </a:tr>
              <a:tr h="274320">
                <a:tc>
                  <a:txBody>
                    <a:bodyPr/>
                    <a:lstStyle/>
                    <a:p>
                      <a:pPr marL="0" indent="0">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Cloth→Sports</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850" b="0" i="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HR</a:t>
                      </a:r>
                      <a:endParaRPr lang="en-US" sz="85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1.59</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1.82</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2.20</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1.37</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1.37</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1.67</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2.25</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1.85</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2.08</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7"/>
                  </a:ext>
                </a:extLst>
              </a:tr>
              <a:tr h="274320">
                <a:tc>
                  <a:txBody>
                    <a:bodyPr/>
                    <a:lstStyle/>
                    <a:p>
                      <a:pPr marL="0" indent="0">
                        <a:buNone/>
                      </a:pP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850" b="0" i="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NDCG</a:t>
                      </a:r>
                      <a:endParaRPr lang="en-US" sz="85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0.50</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0.56</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0.72</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0.42</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0.39</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0.51</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0.71</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0.58</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0.68</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8"/>
                  </a:ext>
                </a:extLst>
              </a:tr>
              <a:tr h="274320">
                <a:tc>
                  <a:txBody>
                    <a:bodyPr/>
                    <a:lstStyle/>
                    <a:p>
                      <a:pPr marL="0" indent="0">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Home→Toys</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850" b="0" i="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HR</a:t>
                      </a:r>
                      <a:endParaRPr lang="en-US" sz="85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0.95</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0.84</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0.96</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0.91</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1.31</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1.23</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1.35</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1.19</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1.56</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9"/>
                  </a:ext>
                </a:extLst>
              </a:tr>
              <a:tr h="274320">
                <a:tc>
                  <a:txBody>
                    <a:bodyPr/>
                    <a:lstStyle/>
                    <a:p>
                      <a:pPr marL="0" indent="0">
                        <a:buNone/>
                      </a:pP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850" b="0" i="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NDCG</a:t>
                      </a:r>
                      <a:endParaRPr lang="en-US" sz="85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0.27</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0.23</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0.25</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0.27</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0.41</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0.37</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0.36</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0.30</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0.47</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10"/>
                  </a:ext>
                </a:extLst>
              </a:tr>
              <a:tr h="274320">
                <a:tc>
                  <a:txBody>
                    <a:bodyPr/>
                    <a:lstStyle/>
                    <a:p>
                      <a:pPr marL="0" indent="0">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Toys→Home</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850" b="0" i="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HR</a:t>
                      </a:r>
                      <a:endParaRPr lang="en-US" sz="85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1.44</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0.88</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1.75</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1.85</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1.55</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2.13</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2.98</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2.73</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3.11</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11"/>
                  </a:ext>
                </a:extLst>
              </a:tr>
              <a:tr h="274320">
                <a:tc>
                  <a:txBody>
                    <a:bodyPr/>
                    <a:lstStyle/>
                    <a:p>
                      <a:pPr marL="0" indent="0">
                        <a:buNone/>
                      </a:pP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850" b="0" i="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NDCG</a:t>
                      </a:r>
                      <a:endParaRPr lang="en-US" sz="85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0.40</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0.23</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0.47</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0.51</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0.43</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0.58</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0.80</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0.73</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FFFFF"/>
                    </a:solidFill>
                  </a:tcPr>
                </a:tc>
                <a:tc>
                  <a:txBody>
                    <a:bodyPr/>
                    <a:lstStyle/>
                    <a:p>
                      <a:pPr marL="0" indent="0" algn="ctr">
                        <a:buNone/>
                      </a:pPr>
                      <a:r>
                        <a:rPr lang="en-US" sz="10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0.88</a:t>
                      </a:r>
                      <a:endParaRPr lang="en-US" sz="1000" b="0" i="0" dirty="0">
                        <a:latin typeface="Pretendard" panose="02000503000000020004" pitchFamily="2" charset="-127"/>
                        <a:ea typeface="Pretendard" panose="02000503000000020004" pitchFamily="2" charset="-127"/>
                        <a:cs typeface="Pretendard" panose="02000503000000020004" pitchFamily="2" charset="-127"/>
                      </a:endParaRPr>
                    </a:p>
                  </a:txBody>
                  <a:tcPr marL="27432" marR="27432" marT="27432" marB="27432"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12"/>
                  </a:ext>
                </a:extLst>
              </a:tr>
            </a:tbl>
          </a:graphicData>
        </a:graphic>
      </p:graphicFrame>
      <p:sp>
        <p:nvSpPr>
          <p:cNvPr id="4" name="Text 1"/>
          <p:cNvSpPr txBox="1"/>
          <p:nvPr/>
        </p:nvSpPr>
        <p:spPr>
          <a:xfrm>
            <a:off x="8641080" y="1325880"/>
            <a:ext cx="3017520" cy="411480"/>
          </a:xfrm>
          <a:prstGeom prst="rect">
            <a:avLst/>
          </a:prstGeom>
          <a:noFill/>
          <a:ln/>
        </p:spPr>
        <p:txBody>
          <a:bodyPr wrap="square" lIns="0" tIns="0" rIns="0" bIns="0" rtlCol="0" anchor="t"/>
          <a:lstStyle/>
          <a:p>
            <a:pPr marL="0" indent="0">
              <a:spcAft>
                <a:spcPts val="600"/>
              </a:spcAft>
              <a:buNone/>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6개 방향 중 5개에서 1위</a:t>
            </a:r>
            <a:endParaRPr lang="en-US" sz="1500" dirty="0"/>
          </a:p>
        </p:txBody>
      </p:sp>
      <p:sp>
        <p:nvSpPr>
          <p:cNvPr id="5" name="Shape 2"/>
          <p:cNvSpPr/>
          <p:nvPr/>
        </p:nvSpPr>
        <p:spPr>
          <a:xfrm>
            <a:off x="8641080" y="1828800"/>
            <a:ext cx="3017520" cy="0"/>
          </a:xfrm>
          <a:prstGeom prst="line">
            <a:avLst/>
          </a:prstGeom>
          <a:noFill/>
          <a:ln w="9525">
            <a:solidFill>
              <a:srgbClr val="D9DDE1"/>
            </a:solidFill>
            <a:prstDash val="solid"/>
          </a:ln>
        </p:spPr>
        <p:txBody>
          <a:bodyPr/>
          <a:lstStyle/>
          <a:p>
            <a:endParaRPr lang="ko-KR" altLang="en-US"/>
          </a:p>
        </p:txBody>
      </p:sp>
      <p:sp>
        <p:nvSpPr>
          <p:cNvPr id="6" name="Text 3"/>
          <p:cNvSpPr txBox="1"/>
          <p:nvPr/>
        </p:nvSpPr>
        <p:spPr>
          <a:xfrm>
            <a:off x="8641080" y="1965960"/>
            <a:ext cx="3017520" cy="1143000"/>
          </a:xfrm>
          <a:prstGeom prst="rect">
            <a:avLst/>
          </a:prstGeom>
          <a:noFill/>
          <a:ln/>
        </p:spPr>
        <p:txBody>
          <a:bodyPr wrap="square" lIns="0" tIns="0" rIns="0" bIns="0" rtlCol="0" anchor="t"/>
          <a:lstStyle/>
          <a:p>
            <a:pPr marL="0" indent="0">
              <a:spcAft>
                <a:spcPts val="600"/>
              </a:spcAft>
              <a:buNone/>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Home → Elec</a:t>
            </a:r>
            <a:endParaRPr lang="en-US" sz="1300" dirty="0"/>
          </a:p>
          <a:p>
            <a:pPr marL="0" indent="0">
              <a:spcAft>
                <a:spcPts val="600"/>
              </a:spcAft>
              <a:buNone/>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HR 2.44 vs PPA 1.79 → </a:t>
            </a:r>
            <a:r>
              <a:rPr lang="en-US" sz="13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+36.3%</a:t>
            </a:r>
            <a:endParaRPr lang="en-US" sz="1300" dirty="0"/>
          </a:p>
          <a:p>
            <a:pPr marL="0" indent="0">
              <a:spcAft>
                <a:spcPts val="600"/>
              </a:spcAft>
              <a:buNone/>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NDCG 0.77 vs 0.54 → </a:t>
            </a:r>
            <a:r>
              <a:rPr lang="en-US" sz="13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+42.6%</a:t>
            </a:r>
            <a:endParaRPr lang="en-US" sz="1300" dirty="0"/>
          </a:p>
        </p:txBody>
      </p:sp>
      <p:sp>
        <p:nvSpPr>
          <p:cNvPr id="7" name="Shape 4"/>
          <p:cNvSpPr/>
          <p:nvPr/>
        </p:nvSpPr>
        <p:spPr>
          <a:xfrm>
            <a:off x="8641080" y="3200400"/>
            <a:ext cx="3017520" cy="0"/>
          </a:xfrm>
          <a:prstGeom prst="line">
            <a:avLst/>
          </a:prstGeom>
          <a:noFill/>
          <a:ln w="9525">
            <a:solidFill>
              <a:srgbClr val="D9DDE1"/>
            </a:solidFill>
            <a:prstDash val="solid"/>
          </a:ln>
        </p:spPr>
        <p:txBody>
          <a:bodyPr/>
          <a:lstStyle/>
          <a:p>
            <a:endParaRPr lang="ko-KR" altLang="en-US"/>
          </a:p>
        </p:txBody>
      </p:sp>
      <p:sp>
        <p:nvSpPr>
          <p:cNvPr id="8" name="Text 5"/>
          <p:cNvSpPr txBox="1"/>
          <p:nvPr/>
        </p:nvSpPr>
        <p:spPr>
          <a:xfrm>
            <a:off x="8641080" y="3337560"/>
            <a:ext cx="3017520" cy="1188720"/>
          </a:xfrm>
          <a:prstGeom prst="rect">
            <a:avLst/>
          </a:prstGeom>
          <a:noFill/>
          <a:ln/>
        </p:spPr>
        <p:txBody>
          <a:bodyPr wrap="square" lIns="0" tIns="0" rIns="0" bIns="0" rtlCol="0" anchor="t"/>
          <a:lstStyle/>
          <a:p>
            <a:pPr marL="0" indent="0">
              <a:spcAft>
                <a:spcPts val="600"/>
              </a:spcAft>
              <a:buNone/>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예외: Cloth → Sports</a:t>
            </a:r>
            <a:endParaRPr lang="en-US" sz="1300" dirty="0"/>
          </a:p>
          <a:p>
            <a:pPr marL="0" indent="0">
              <a:spcAft>
                <a:spcPts val="600"/>
              </a:spcAft>
              <a:buNone/>
            </a:pP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PPA 2.25 &gt; Multi-TAP 2.08 (</a:t>
            </a:r>
            <a:r>
              <a:rPr lang="en-US" altLang="ko-KR"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3</a:t>
            </a:r>
            <a:r>
              <a:rPr lang="en-US" sz="13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위) · 반대 방향 Sports→Cloth에서는 4.09 vs 3.36으로 크게 앞섬</a:t>
            </a:r>
            <a:endParaRPr lang="en-US" sz="1300" dirty="0"/>
          </a:p>
        </p:txBody>
      </p:sp>
      <p:sp>
        <p:nvSpPr>
          <p:cNvPr id="9" name="Shape 6"/>
          <p:cNvSpPr/>
          <p:nvPr/>
        </p:nvSpPr>
        <p:spPr>
          <a:xfrm>
            <a:off x="8641080" y="4617720"/>
            <a:ext cx="3017520" cy="0"/>
          </a:xfrm>
          <a:prstGeom prst="line">
            <a:avLst/>
          </a:prstGeom>
          <a:noFill/>
          <a:ln w="9525">
            <a:solidFill>
              <a:srgbClr val="D9DDE1"/>
            </a:solidFill>
            <a:prstDash val="solid"/>
          </a:ln>
        </p:spPr>
        <p:txBody>
          <a:bodyPr/>
          <a:lstStyle/>
          <a:p>
            <a:endParaRPr lang="ko-KR" altLang="en-US"/>
          </a:p>
        </p:txBody>
      </p:sp>
      <p:sp>
        <p:nvSpPr>
          <p:cNvPr id="10" name="Text 7"/>
          <p:cNvSpPr txBox="1"/>
          <p:nvPr/>
        </p:nvSpPr>
        <p:spPr>
          <a:xfrm>
            <a:off x="8641080" y="4709160"/>
            <a:ext cx="3017520" cy="1005840"/>
          </a:xfrm>
          <a:prstGeom prst="rect">
            <a:avLst/>
          </a:prstGeom>
          <a:noFill/>
          <a:ln/>
        </p:spPr>
        <p:txBody>
          <a:bodyPr wrap="square" lIns="0" tIns="0" rIns="0" bIns="0" rtlCol="0" anchor="t"/>
          <a:lstStyle/>
          <a:p>
            <a:pPr marL="0" indent="0">
              <a:spcAft>
                <a:spcPts val="600"/>
              </a:spcAft>
              <a:buNone/>
            </a:pPr>
            <a:r>
              <a:rPr lang="en-US" sz="11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참고  Home→Elec에서는 단일 도메인 LightGCN(2.21)이 CDR 베이스라인보다 높음 (무차별 전이의 부작용 사례)</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4. EQ2 — Effectiveness of Persona Modeling</a:t>
            </a:r>
            <a:endParaRPr lang="en-US" sz="2800" dirty="0"/>
          </a:p>
        </p:txBody>
      </p:sp>
      <p:sp>
        <p:nvSpPr>
          <p:cNvPr id="3" name="Text 1"/>
          <p:cNvSpPr txBox="1"/>
          <p:nvPr/>
        </p:nvSpPr>
        <p:spPr>
          <a:xfrm>
            <a:off x="640080" y="1325880"/>
            <a:ext cx="5303520" cy="365760"/>
          </a:xfrm>
          <a:prstGeom prst="rect">
            <a:avLst/>
          </a:prstGeom>
          <a:noFill/>
          <a:ln/>
        </p:spPr>
        <p:txBody>
          <a:bodyPr wrap="square" lIns="0" tIns="0" rIns="0" bIns="0" rtlCol="0" anchor="t"/>
          <a:lstStyle/>
          <a:p>
            <a:pPr marL="0" indent="0">
              <a:spcAft>
                <a:spcPts val="600"/>
              </a:spcAft>
              <a:buNone/>
            </a:pPr>
            <a:r>
              <a:rPr lang="en-US" sz="20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EQ2-1  페르소나 분해 (Table 5)</a:t>
            </a:r>
            <a:endParaRPr lang="en-US" sz="2000" dirty="0"/>
          </a:p>
        </p:txBody>
      </p:sp>
      <p:sp>
        <p:nvSpPr>
          <p:cNvPr id="4" name="Text 2"/>
          <p:cNvSpPr txBox="1"/>
          <p:nvPr/>
        </p:nvSpPr>
        <p:spPr>
          <a:xfrm>
            <a:off x="640080" y="1783080"/>
            <a:ext cx="5303520" cy="914400"/>
          </a:xfrm>
          <a:prstGeom prst="rect">
            <a:avLst/>
          </a:prstGeom>
          <a:noFill/>
          <a:ln/>
        </p:spPr>
        <p:txBody>
          <a:bodyPr wrap="square" lIns="0" tIns="0" rIns="0" bIns="0" rtlCol="0" anchor="t"/>
          <a:lstStyle/>
          <a:p>
            <a:pPr marL="190500" indent="-190500">
              <a:spcAft>
                <a:spcPts val="600"/>
              </a:spcAft>
              <a:buSzPct val="100000"/>
              <a:buChar char="•"/>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Single (Raw): 페르소나 1개, 원래 값(가격 숫자 등)</a:t>
            </a:r>
            <a:endParaRPr lang="en-US" sz="1800" dirty="0"/>
          </a:p>
          <a:p>
            <a:pPr marL="190500" indent="-190500">
              <a:spcAft>
                <a:spcPts val="600"/>
              </a:spcAft>
              <a:buSzPct val="100000"/>
              <a:buChar char="•"/>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Single (Proc.): 페르소나 1개, 등급 라벨</a:t>
            </a:r>
            <a:endParaRPr lang="en-US" sz="1800" dirty="0"/>
          </a:p>
          <a:p>
            <a:pPr marL="190500" indent="-190500">
              <a:spcAft>
                <a:spcPts val="600"/>
              </a:spcAft>
              <a:buSzPct val="100000"/>
              <a:buChar char="•"/>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Multi (Proc.): 페르소나 5개, 등급 라벨 (제안 방법)</a:t>
            </a:r>
            <a:endParaRPr lang="en-US" sz="1800" dirty="0"/>
          </a:p>
        </p:txBody>
      </p:sp>
      <p:graphicFrame>
        <p:nvGraphicFramePr>
          <p:cNvPr id="21" name="Table 0"/>
          <p:cNvGraphicFramePr>
            <a:graphicFrameLocks noGrp="1"/>
          </p:cNvGraphicFramePr>
          <p:nvPr>
            <p:extLst>
              <p:ext uri="{D42A27DB-BD31-4B8C-83A1-F6EECF244321}">
                <p14:modId xmlns:p14="http://schemas.microsoft.com/office/powerpoint/2010/main" val="2065590707"/>
              </p:ext>
            </p:extLst>
          </p:nvPr>
        </p:nvGraphicFramePr>
        <p:xfrm>
          <a:off x="640080" y="2997200"/>
          <a:ext cx="5308600" cy="1152144"/>
        </p:xfrm>
        <a:graphic>
          <a:graphicData uri="http://schemas.openxmlformats.org/drawingml/2006/table">
            <a:tbl>
              <a:tblPr/>
              <a:tblGrid>
                <a:gridCol w="15748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346200">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384048">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HR@5</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Single (Raw)</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Single (Proc.)</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Multi (Proc.)</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extLst>
                  <a:ext uri="{0D108BD9-81ED-4DB2-BD59-A6C34878D82A}">
                    <a16:rowId xmlns:a16="http://schemas.microsoft.com/office/drawing/2014/main" val="10000"/>
                  </a:ext>
                </a:extLst>
              </a:tr>
              <a:tr h="384048">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Sports→Cloth</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3.70</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3.77</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5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4.09</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1"/>
                  </a:ext>
                </a:extLst>
              </a:tr>
              <a:tr h="384048">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Cloth→Sports</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1.83</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1.99</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5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2.08</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2"/>
                  </a:ext>
                </a:extLst>
              </a:tr>
            </a:tbl>
          </a:graphicData>
        </a:graphic>
      </p:graphicFrame>
      <p:sp>
        <p:nvSpPr>
          <p:cNvPr id="6" name="Text 3"/>
          <p:cNvSpPr txBox="1"/>
          <p:nvPr/>
        </p:nvSpPr>
        <p:spPr>
          <a:xfrm>
            <a:off x="640080" y="4470400"/>
            <a:ext cx="5303520" cy="88900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절대값보다 상대 등급이 더 좋은 신호</a:t>
            </a:r>
            <a:endParaRPr lang="en-US" sz="1500" dirty="0"/>
          </a:p>
          <a:p>
            <a:pPr marL="190500" indent="-190500">
              <a:spcAft>
                <a:spcPts val="600"/>
              </a:spcAft>
              <a:buSzPct val="100000"/>
              <a:buChar char="•"/>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같은 입력이라도 분해하면 추가 이득</a:t>
            </a:r>
            <a:endParaRPr lang="en-US" sz="1500" dirty="0"/>
          </a:p>
        </p:txBody>
      </p:sp>
      <p:sp>
        <p:nvSpPr>
          <p:cNvPr id="7" name="Text 4"/>
          <p:cNvSpPr txBox="1"/>
          <p:nvPr/>
        </p:nvSpPr>
        <p:spPr>
          <a:xfrm>
            <a:off x="6400800" y="1325880"/>
            <a:ext cx="5212080" cy="365760"/>
          </a:xfrm>
          <a:prstGeom prst="rect">
            <a:avLst/>
          </a:prstGeom>
          <a:noFill/>
          <a:ln/>
        </p:spPr>
        <p:txBody>
          <a:bodyPr wrap="square" lIns="0" tIns="0" rIns="0" bIns="0" rtlCol="0" anchor="t"/>
          <a:lstStyle/>
          <a:p>
            <a:pPr marL="0" indent="0">
              <a:spcAft>
                <a:spcPts val="600"/>
              </a:spcAft>
              <a:buNone/>
            </a:pPr>
            <a:r>
              <a:rPr lang="en-US" sz="20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EQ2-2  결합 방식 (Table 6)</a:t>
            </a:r>
            <a:endParaRPr lang="en-US" sz="2000" dirty="0"/>
          </a:p>
        </p:txBody>
      </p:sp>
      <p:sp>
        <p:nvSpPr>
          <p:cNvPr id="8" name="Text 5"/>
          <p:cNvSpPr txBox="1"/>
          <p:nvPr/>
        </p:nvSpPr>
        <p:spPr>
          <a:xfrm>
            <a:off x="6400800" y="1783080"/>
            <a:ext cx="5212080" cy="914400"/>
          </a:xfrm>
          <a:prstGeom prst="rect">
            <a:avLst/>
          </a:prstGeom>
          <a:noFill/>
          <a:ln/>
        </p:spPr>
        <p:txBody>
          <a:bodyPr wrap="square" lIns="0" tIns="0" rIns="0" bIns="0" rtlCol="0" anchor="t"/>
          <a:lstStyle/>
          <a:p>
            <a:pPr marL="190500" indent="-190500">
              <a:spcAft>
                <a:spcPts val="600"/>
              </a:spcAft>
              <a:buSzPct val="100000"/>
              <a:buChar char="•"/>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Mean: 균등 평균</a:t>
            </a:r>
            <a:endParaRPr lang="en-US" sz="1800" dirty="0"/>
          </a:p>
          <a:p>
            <a:pPr marL="190500" indent="-190500">
              <a:spcAft>
                <a:spcPts val="600"/>
              </a:spcAft>
              <a:buSzPct val="100000"/>
              <a:buChar char="•"/>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Concat: 이어붙이기</a:t>
            </a:r>
            <a:endParaRPr lang="en-US" sz="1800" dirty="0"/>
          </a:p>
          <a:p>
            <a:pPr marL="190500" indent="-190500">
              <a:spcAft>
                <a:spcPts val="600"/>
              </a:spcAft>
              <a:buSzPct val="100000"/>
              <a:buChar char="•"/>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Self-Attn: 적응적 가중치 (제안 방법)</a:t>
            </a:r>
            <a:endParaRPr lang="en-US" sz="1800" dirty="0"/>
          </a:p>
        </p:txBody>
      </p:sp>
      <p:graphicFrame>
        <p:nvGraphicFramePr>
          <p:cNvPr id="41" name="Table 1"/>
          <p:cNvGraphicFramePr>
            <a:graphicFrameLocks noGrp="1"/>
          </p:cNvGraphicFramePr>
          <p:nvPr>
            <p:extLst>
              <p:ext uri="{D42A27DB-BD31-4B8C-83A1-F6EECF244321}">
                <p14:modId xmlns:p14="http://schemas.microsoft.com/office/powerpoint/2010/main" val="3529309817"/>
              </p:ext>
            </p:extLst>
          </p:nvPr>
        </p:nvGraphicFramePr>
        <p:xfrm>
          <a:off x="6400800" y="2997200"/>
          <a:ext cx="5212080" cy="1152144"/>
        </p:xfrm>
        <a:graphic>
          <a:graphicData uri="http://schemas.openxmlformats.org/drawingml/2006/table">
            <a:tbl>
              <a:tblPr/>
              <a:tblGrid>
                <a:gridCol w="15087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384048">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HR@5</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Mean</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Concat</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Self-Attn</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extLst>
                  <a:ext uri="{0D108BD9-81ED-4DB2-BD59-A6C34878D82A}">
                    <a16:rowId xmlns:a16="http://schemas.microsoft.com/office/drawing/2014/main" val="10000"/>
                  </a:ext>
                </a:extLst>
              </a:tr>
              <a:tr h="384048">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Sports→Cloth</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3.66</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3.99</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5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4.09</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1"/>
                  </a:ext>
                </a:extLst>
              </a:tr>
              <a:tr h="384048">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Cloth→Sports</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1.93</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5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2.01</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5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2.08</a:t>
                      </a:r>
                      <a:endParaRPr lang="en-US" sz="15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2"/>
                  </a:ext>
                </a:extLst>
              </a:tr>
            </a:tbl>
          </a:graphicData>
        </a:graphic>
      </p:graphicFrame>
      <p:sp>
        <p:nvSpPr>
          <p:cNvPr id="10" name="Text 6"/>
          <p:cNvSpPr txBox="1"/>
          <p:nvPr/>
        </p:nvSpPr>
        <p:spPr>
          <a:xfrm>
            <a:off x="6400800" y="4470400"/>
            <a:ext cx="5207000" cy="88900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사용자 · 도메인마다 중요한 기준이 다름 → 적응적 가중치가 중요</a:t>
            </a:r>
            <a:endParaRPr lang="en-US" sz="1500" dirty="0"/>
          </a:p>
        </p:txBody>
      </p:sp>
      <p:sp>
        <p:nvSpPr>
          <p:cNvPr id="11" name="Text 7"/>
          <p:cNvSpPr txBox="1"/>
          <p:nvPr/>
        </p:nvSpPr>
        <p:spPr>
          <a:xfrm>
            <a:off x="640080" y="5870448"/>
            <a:ext cx="10972800" cy="228600"/>
          </a:xfrm>
          <a:prstGeom prst="rect">
            <a:avLst/>
          </a:prstGeom>
          <a:noFill/>
          <a:ln/>
        </p:spPr>
        <p:txBody>
          <a:bodyPr wrap="square" lIns="0" tIns="0" rIns="0" bIns="0" rtlCol="0" anchor="ctr"/>
          <a:lstStyle/>
          <a:p>
            <a:pPr marL="0" indent="0">
              <a:buNone/>
            </a:pPr>
            <a:r>
              <a:rPr lang="en-US" sz="95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Table 5, Table 6, Kang &amp; Lee, KDD 2026 (p.8)</a:t>
            </a:r>
            <a:endParaRPr lang="en-US" sz="950" dirty="0"/>
          </a:p>
        </p:txBody>
      </p:sp>
    </p:spTree>
    <p:extLst>
      <p:ext uri="{BB962C8B-B14F-4D97-AF65-F5344CB8AC3E}">
        <p14:creationId xmlns:p14="http://schemas.microsoft.com/office/powerpoint/2010/main" val="37880861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4. EQ2-3 — Cold-start Scenario</a:t>
            </a:r>
            <a:endParaRPr lang="en-US" sz="2800" dirty="0"/>
          </a:p>
        </p:txBody>
      </p:sp>
      <p:sp>
        <p:nvSpPr>
          <p:cNvPr id="3" name="Text 1"/>
          <p:cNvSpPr txBox="1"/>
          <p:nvPr/>
        </p:nvSpPr>
        <p:spPr>
          <a:xfrm>
            <a:off x="640080" y="1325880"/>
            <a:ext cx="10972800" cy="411480"/>
          </a:xfrm>
          <a:prstGeom prst="rect">
            <a:avLst/>
          </a:prstGeom>
          <a:noFill/>
          <a:ln/>
        </p:spPr>
        <p:txBody>
          <a:bodyPr wrap="square" lIns="0" tIns="0" rIns="0" bIns="0" rtlCol="0" anchor="t"/>
          <a:lstStyle/>
          <a:p>
            <a:pPr marL="0" indent="0">
              <a:spcAft>
                <a:spcPts val="600"/>
              </a:spcAft>
              <a:buNone/>
            </a:pPr>
            <a:r>
              <a:rPr lang="en-US" sz="18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설정  사용자의 10%를 뽑아 target 학습 데이터의 상호작용을 5개 미만으로 제한</a:t>
            </a:r>
            <a:endParaRPr lang="en-US" sz="1800" dirty="0"/>
          </a:p>
        </p:txBody>
      </p:sp>
      <p:graphicFrame>
        <p:nvGraphicFramePr>
          <p:cNvPr id="22" name="Table 0"/>
          <p:cNvGraphicFramePr>
            <a:graphicFrameLocks noGrp="1"/>
          </p:cNvGraphicFramePr>
          <p:nvPr/>
        </p:nvGraphicFramePr>
        <p:xfrm>
          <a:off x="640080" y="1920240"/>
          <a:ext cx="6766560" cy="2243328"/>
        </p:xfrm>
        <a:graphic>
          <a:graphicData uri="http://schemas.openxmlformats.org/drawingml/2006/table">
            <a:tbl>
              <a:tblPr/>
              <a:tblGrid>
                <a:gridCol w="16459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411480">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Source→Target</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HR@5 PPA</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HR@5 Multi-TAP</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NDCG@5 PPA</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NDCG@5 Multi-TAP</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extLst>
                  <a:ext uri="{0D108BD9-81ED-4DB2-BD59-A6C34878D82A}">
                    <a16:rowId xmlns:a16="http://schemas.microsoft.com/office/drawing/2014/main" val="10000"/>
                  </a:ext>
                </a:extLst>
              </a:tr>
              <a:tr h="411480">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Elec→Home</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3.25</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3.19</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0.80</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6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0.82</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1"/>
                  </a:ext>
                </a:extLst>
              </a:tr>
              <a:tr h="411480">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Home→Elec</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2.31</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6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2.42</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0.69</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6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0.75</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2"/>
                  </a:ext>
                </a:extLst>
              </a:tr>
              <a:tr h="411480">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Home→Toys</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1.24</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6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1.42</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0.31</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6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0.39</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3"/>
                  </a:ext>
                </a:extLst>
              </a:tr>
              <a:tr h="411480">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Toys→Home</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2.26</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2.20</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tc>
                  <a:txBody>
                    <a:bodyPr/>
                    <a:lstStyle/>
                    <a:p>
                      <a:pPr marL="0" indent="0" algn="ctr">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0.53</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lgn="ctr">
                        <a:buNone/>
                      </a:pPr>
                      <a:r>
                        <a:rPr lang="en-US" sz="1600" b="0" i="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0.55</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E9F7F6"/>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7863840" y="1920240"/>
            <a:ext cx="3749040" cy="2194560"/>
          </a:xfrm>
          <a:prstGeom prst="rect">
            <a:avLst/>
          </a:prstGeom>
          <a:noFill/>
          <a:ln/>
        </p:spPr>
        <p:txBody>
          <a:bodyPr wrap="square" lIns="0" tIns="0" rIns="0" bIns="0" rtlCol="0" anchor="t"/>
          <a:lstStyle/>
          <a:p>
            <a:pPr marL="0" indent="0">
              <a:spcAft>
                <a:spcPts val="600"/>
              </a:spcAft>
              <a:buNone/>
            </a:pPr>
            <a:r>
              <a:rPr lang="en-US" sz="18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PPA 대비 최대 향상</a:t>
            </a:r>
            <a:endParaRPr lang="en-US" sz="1800" dirty="0"/>
          </a:p>
          <a:p>
            <a:pPr marL="0" indent="0">
              <a:spcAft>
                <a:spcPts val="600"/>
              </a:spcAft>
              <a:buNone/>
            </a:pPr>
            <a:r>
              <a:rPr lang="en-US" sz="22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HR  +14.52%</a:t>
            </a:r>
            <a:endParaRPr lang="en-US" sz="1800" dirty="0"/>
          </a:p>
          <a:p>
            <a:pPr marL="0" indent="0">
              <a:spcAft>
                <a:spcPts val="600"/>
              </a:spcAft>
              <a:buNone/>
            </a:pPr>
            <a:r>
              <a:rPr lang="en-US" sz="16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Home→Toys, 1.42 vs 1.24</a:t>
            </a:r>
            <a:endParaRPr lang="en-US" sz="1800" dirty="0"/>
          </a:p>
          <a:p>
            <a:pPr marL="0" indent="0">
              <a:spcAft>
                <a:spcPts val="600"/>
              </a:spcAft>
              <a:buNone/>
            </a:pPr>
            <a:r>
              <a:rPr lang="en-US" sz="22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NDCG  +25.81%</a:t>
            </a:r>
            <a:endParaRPr lang="en-US" sz="1800" dirty="0"/>
          </a:p>
          <a:p>
            <a:pPr marL="0" indent="0">
              <a:spcAft>
                <a:spcPts val="600"/>
              </a:spcAft>
              <a:buNone/>
            </a:pPr>
            <a:r>
              <a:rPr lang="en-US" sz="160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Home→Toys, 0.39 vs 0.31</a:t>
            </a:r>
            <a:endParaRPr lang="en-US" sz="1800" dirty="0"/>
          </a:p>
        </p:txBody>
      </p:sp>
      <p:sp>
        <p:nvSpPr>
          <p:cNvPr id="6" name="Shape 3"/>
          <p:cNvSpPr/>
          <p:nvPr/>
        </p:nvSpPr>
        <p:spPr>
          <a:xfrm>
            <a:off x="640080" y="4368800"/>
            <a:ext cx="10972800" cy="1168400"/>
          </a:xfrm>
          <a:prstGeom prst="rect">
            <a:avLst/>
          </a:prstGeom>
          <a:solidFill>
            <a:srgbClr val="E9F7F6">
              <a:alpha val="50000"/>
            </a:srgbClr>
          </a:solidFill>
          <a:ln w="12700">
            <a:solidFill>
              <a:srgbClr val="E9F7F6"/>
            </a:solidFill>
            <a:prstDash val="solid"/>
          </a:ln>
        </p:spPr>
        <p:txBody>
          <a:bodyPr/>
          <a:lstStyle/>
          <a:p>
            <a:endParaRPr lang="ko-KR" altLang="en-US"/>
          </a:p>
        </p:txBody>
      </p:sp>
      <p:sp>
        <p:nvSpPr>
          <p:cNvPr id="7" name="Text 4"/>
          <p:cNvSpPr txBox="1"/>
          <p:nvPr/>
        </p:nvSpPr>
        <p:spPr>
          <a:xfrm>
            <a:off x="812800" y="4470400"/>
            <a:ext cx="10668000" cy="990600"/>
          </a:xfrm>
          <a:prstGeom prst="rect">
            <a:avLst/>
          </a:prstGeom>
          <a:noFill/>
          <a:ln/>
        </p:spPr>
        <p:txBody>
          <a:bodyPr wrap="square" lIns="0" tIns="0" rIns="0" bIns="0" rtlCol="0" anchor="t"/>
          <a:lstStyle/>
          <a:p>
            <a:pPr marL="0" indent="0">
              <a:spcAft>
                <a:spcPts val="600"/>
              </a:spcAft>
              <a:buNone/>
            </a:pPr>
            <a:r>
              <a:rPr lang="en-US" sz="150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정확한 해석</a:t>
            </a:r>
            <a:endParaRPr lang="en-US" sz="1500" dirty="0"/>
          </a:p>
          <a:p>
            <a:pPr marL="190500" indent="-190500">
              <a:spcAft>
                <a:spcPts val="600"/>
              </a:spcAft>
              <a:buSzPct val="100000"/>
              <a:buChar char="•"/>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NDCG@5는 4개 방향 모두 우세, HR@5는 Elec→Home(3.25 vs 3.19), Toys→Home(2.26 vs 2.20)에서 PPA가 근소하게 높음</a:t>
            </a:r>
            <a:endParaRPr lang="en-US" sz="1500" dirty="0"/>
          </a:p>
          <a:p>
            <a:pPr marL="190500" indent="-190500">
              <a:spcAft>
                <a:spcPts val="600"/>
              </a:spcAft>
              <a:buSzPct val="100000"/>
              <a:buChar char="•"/>
            </a:pPr>
            <a:r>
              <a:rPr lang="en-US" sz="15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 본문의 "consistently outperforms"는 NDCG 기준으로 성립</a:t>
            </a:r>
            <a:endParaRPr lang="en-US" sz="1500" dirty="0"/>
          </a:p>
        </p:txBody>
      </p:sp>
      <p:sp>
        <p:nvSpPr>
          <p:cNvPr id="8" name="Text 5"/>
          <p:cNvSpPr txBox="1"/>
          <p:nvPr/>
        </p:nvSpPr>
        <p:spPr>
          <a:xfrm>
            <a:off x="640080" y="5870448"/>
            <a:ext cx="10972800" cy="228600"/>
          </a:xfrm>
          <a:prstGeom prst="rect">
            <a:avLst/>
          </a:prstGeom>
          <a:noFill/>
          <a:ln/>
        </p:spPr>
        <p:txBody>
          <a:bodyPr wrap="square" lIns="0" tIns="0" rIns="0" bIns="0" rtlCol="0" anchor="ctr"/>
          <a:lstStyle/>
          <a:p>
            <a:pPr marL="0" indent="0">
              <a:buNone/>
            </a:pPr>
            <a:r>
              <a:rPr lang="en-US" sz="95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Table 7, Kang &amp; Lee, KDD 2026 (p.8)</a:t>
            </a:r>
            <a:endParaRPr lang="en-US" sz="950" dirty="0"/>
          </a:p>
        </p:txBody>
      </p:sp>
    </p:spTree>
    <p:extLst>
      <p:ext uri="{BB962C8B-B14F-4D97-AF65-F5344CB8AC3E}">
        <p14:creationId xmlns:p14="http://schemas.microsoft.com/office/powerpoint/2010/main" val="554139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4. EQ3 · EQ4 · EQ5</a:t>
            </a:r>
            <a:endParaRPr lang="en-US" sz="2800" dirty="0"/>
          </a:p>
        </p:txBody>
      </p:sp>
      <p:sp>
        <p:nvSpPr>
          <p:cNvPr id="3" name="Text 1"/>
          <p:cNvSpPr txBox="1"/>
          <p:nvPr/>
        </p:nvSpPr>
        <p:spPr>
          <a:xfrm>
            <a:off x="640080" y="1325880"/>
            <a:ext cx="5486400" cy="365760"/>
          </a:xfrm>
          <a:prstGeom prst="rect">
            <a:avLst/>
          </a:prstGeom>
          <a:noFill/>
          <a:ln/>
        </p:spPr>
        <p:txBody>
          <a:bodyPr wrap="square" lIns="0" tIns="0" rIns="0" bIns="0" rtlCol="0" anchor="t"/>
          <a:lstStyle/>
          <a:p>
            <a:pPr marL="0" indent="0">
              <a:spcAft>
                <a:spcPts val="600"/>
              </a:spcAft>
              <a:buNone/>
            </a:pPr>
            <a:r>
              <a:rPr lang="en-US" sz="18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EQ3  도플갱어 전이의 효과 (Figure 4)</a:t>
            </a:r>
            <a:endParaRPr lang="en-US" sz="1800" dirty="0"/>
          </a:p>
        </p:txBody>
      </p:sp>
      <p:sp>
        <p:nvSpPr>
          <p:cNvPr id="5" name="Text 2"/>
          <p:cNvSpPr txBox="1"/>
          <p:nvPr/>
        </p:nvSpPr>
        <p:spPr>
          <a:xfrm>
            <a:off x="640080" y="3383280"/>
            <a:ext cx="5303520" cy="1828800"/>
          </a:xfrm>
          <a:prstGeom prst="rect">
            <a:avLst/>
          </a:prstGeom>
          <a:noFill/>
          <a:ln/>
        </p:spPr>
        <p:txBody>
          <a:bodyPr wrap="square" lIns="0" tIns="0" rIns="0" bIns="0" rtlCol="0" anchor="t"/>
          <a:lstStyle/>
          <a:p>
            <a:pPr marL="190500" indent="-190500">
              <a:spcAft>
                <a:spcPts val="600"/>
              </a:spcAft>
              <a:buSzPct val="100000"/>
              <a:buChar char="•"/>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Direct-ID: LightGCN ID 벡터끼리 직접 정렬</a:t>
            </a:r>
            <a:endParaRPr lang="en-US" sz="1800" dirty="0"/>
          </a:p>
          <a:p>
            <a:pPr marL="190500" indent="-190500">
              <a:spcAft>
                <a:spcPts val="600"/>
              </a:spcAft>
              <a:buSzPct val="100000"/>
              <a:buChar char="•"/>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Direct-Persona: 페르소나 벡터끼리 직접 정렬</a:t>
            </a:r>
            <a:endParaRPr lang="en-US" sz="1800" dirty="0"/>
          </a:p>
          <a:p>
            <a:pPr marL="190500" indent="-190500">
              <a:spcAft>
                <a:spcPts val="600"/>
              </a:spcAft>
              <a:buSzPct val="100000"/>
              <a:buChar char="•"/>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Direct-Both: 둘을 이어붙인 것끼리 직접 정렬 (백본 동일, 전이 방식만 다름)</a:t>
            </a:r>
            <a:endParaRPr lang="en-US" sz="1800" dirty="0"/>
          </a:p>
          <a:p>
            <a:pPr marL="190500" indent="-190500">
              <a:spcAft>
                <a:spcPts val="600"/>
              </a:spcAft>
              <a:buSzPct val="100000"/>
              <a:buChar char="•"/>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Multi-TAP이 모든 경우 최고, 직접 정렬은 방향마다 불안정 → 도메인 고유 신호를 억누를 수 있음</a:t>
            </a:r>
            <a:endParaRPr lang="en-US" sz="1800" dirty="0"/>
          </a:p>
        </p:txBody>
      </p:sp>
      <p:sp>
        <p:nvSpPr>
          <p:cNvPr id="6" name="Text 3"/>
          <p:cNvSpPr txBox="1"/>
          <p:nvPr/>
        </p:nvSpPr>
        <p:spPr>
          <a:xfrm>
            <a:off x="6400800" y="1325880"/>
            <a:ext cx="5212080" cy="365760"/>
          </a:xfrm>
          <a:prstGeom prst="rect">
            <a:avLst/>
          </a:prstGeom>
          <a:noFill/>
          <a:ln/>
        </p:spPr>
        <p:txBody>
          <a:bodyPr wrap="square" lIns="0" tIns="0" rIns="0" bIns="0" rtlCol="0" anchor="t"/>
          <a:lstStyle/>
          <a:p>
            <a:pPr marL="0" indent="0">
              <a:spcAft>
                <a:spcPts val="600"/>
              </a:spcAft>
              <a:buNone/>
            </a:pPr>
            <a:r>
              <a:rPr lang="en-US" sz="18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EQ4  하이퍼파라미터 민감도 (Figure 5)</a:t>
            </a:r>
            <a:endParaRPr lang="en-US" sz="1800" dirty="0"/>
          </a:p>
        </p:txBody>
      </p:sp>
      <p:sp>
        <p:nvSpPr>
          <p:cNvPr id="8" name="Text 4"/>
          <p:cNvSpPr txBox="1"/>
          <p:nvPr/>
        </p:nvSpPr>
        <p:spPr>
          <a:xfrm>
            <a:off x="6400800" y="3657600"/>
            <a:ext cx="5212080" cy="1188720"/>
          </a:xfrm>
          <a:prstGeom prst="rect">
            <a:avLst/>
          </a:prstGeom>
          <a:noFill/>
          <a:ln/>
        </p:spPr>
        <p:txBody>
          <a:bodyPr wrap="square" lIns="0" tIns="0" rIns="0" bIns="0" rtlCol="0" anchor="t"/>
          <a:lstStyle/>
          <a:p>
            <a:pPr marL="190500" indent="-190500">
              <a:spcAft>
                <a:spcPts val="600"/>
              </a:spcAft>
              <a:buSzPct val="100000"/>
              <a:buChar char="•"/>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λ (도플갱어 손실 가중치): 0이 아니면 향상, 1보다 클 때 특히 좋음 → 의미적 지식 전이가 중요</a:t>
            </a:r>
            <a:endParaRPr lang="en-US" sz="1800" dirty="0"/>
          </a:p>
          <a:p>
            <a:pPr marL="190500" indent="-190500">
              <a:spcAft>
                <a:spcPts val="600"/>
              </a:spcAft>
              <a:buSzPct val="100000"/>
              <a:buChar char="•"/>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τ (온도): 0.4~0.6에서 최적, 도메인 쌍이 달라도 안정적</a:t>
            </a:r>
            <a:endParaRPr lang="en-US" sz="1800" dirty="0"/>
          </a:p>
        </p:txBody>
      </p:sp>
      <p:sp>
        <p:nvSpPr>
          <p:cNvPr id="9" name="Shape 5"/>
          <p:cNvSpPr/>
          <p:nvPr/>
        </p:nvSpPr>
        <p:spPr>
          <a:xfrm>
            <a:off x="6400800" y="4892040"/>
            <a:ext cx="5212080" cy="0"/>
          </a:xfrm>
          <a:prstGeom prst="line">
            <a:avLst/>
          </a:prstGeom>
          <a:noFill/>
          <a:ln w="9525">
            <a:solidFill>
              <a:srgbClr val="D9DDE1"/>
            </a:solidFill>
            <a:prstDash val="solid"/>
          </a:ln>
        </p:spPr>
        <p:txBody>
          <a:bodyPr/>
          <a:lstStyle/>
          <a:p>
            <a:endParaRPr lang="ko-KR" altLang="en-US"/>
          </a:p>
        </p:txBody>
      </p:sp>
      <p:sp>
        <p:nvSpPr>
          <p:cNvPr id="10" name="Text 6"/>
          <p:cNvSpPr txBox="1"/>
          <p:nvPr/>
        </p:nvSpPr>
        <p:spPr>
          <a:xfrm>
            <a:off x="6400800" y="4983480"/>
            <a:ext cx="5212080" cy="685800"/>
          </a:xfrm>
          <a:prstGeom prst="rect">
            <a:avLst/>
          </a:prstGeom>
          <a:noFill/>
          <a:ln/>
        </p:spPr>
        <p:txBody>
          <a:bodyPr wrap="square" lIns="0" tIns="0" rIns="0" bIns="0" rtlCol="0" anchor="t"/>
          <a:lstStyle/>
          <a:p>
            <a:pPr marL="0" indent="0">
              <a:spcAft>
                <a:spcPts val="600"/>
              </a:spcAft>
              <a:buNone/>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EQ5  효율성  학습 9~30분 (LightGCN 위에 가벼운 모듈만) · 페르소나 생성 사용자당 약 3초, 오프라인</a:t>
            </a:r>
            <a:endParaRPr lang="en-US" sz="1600" dirty="0"/>
          </a:p>
        </p:txBody>
      </p:sp>
      <p:sp>
        <p:nvSpPr>
          <p:cNvPr id="11" name="Text 7"/>
          <p:cNvSpPr txBox="1"/>
          <p:nvPr/>
        </p:nvSpPr>
        <p:spPr>
          <a:xfrm>
            <a:off x="640080" y="5870448"/>
            <a:ext cx="10972800" cy="228600"/>
          </a:xfrm>
          <a:prstGeom prst="rect">
            <a:avLst/>
          </a:prstGeom>
          <a:noFill/>
          <a:ln/>
        </p:spPr>
        <p:txBody>
          <a:bodyPr wrap="square" lIns="0" tIns="0" rIns="0" bIns="0" rtlCol="0" anchor="ctr"/>
          <a:lstStyle/>
          <a:p>
            <a:pPr marL="0" indent="0">
              <a:buNone/>
            </a:pPr>
            <a:r>
              <a:rPr lang="en-US" sz="95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Figure 4 (p.9, 좌측 단), Figure 5 (p.9, 우측 단), Kang &amp; Lee, KDD 2026</a:t>
            </a:r>
            <a:endParaRPr lang="en-US" sz="950" dirty="0"/>
          </a:p>
        </p:txBody>
      </p:sp>
      <p:pic>
        <p:nvPicPr>
          <p:cNvPr id="12" name="그림 11">
            <a:extLst>
              <a:ext uri="{FF2B5EF4-FFF2-40B4-BE49-F238E27FC236}">
                <a16:creationId xmlns:a16="http://schemas.microsoft.com/office/drawing/2014/main" id="{07B5EF9E-1B56-255D-5D7E-92534FEDC559}"/>
              </a:ext>
            </a:extLst>
          </p:cNvPr>
          <p:cNvPicPr>
            <a:picLocks noChangeAspect="1"/>
          </p:cNvPicPr>
          <p:nvPr/>
        </p:nvPicPr>
        <p:blipFill>
          <a:blip r:embed="rId4"/>
          <a:stretch>
            <a:fillRect/>
          </a:stretch>
        </p:blipFill>
        <p:spPr>
          <a:xfrm>
            <a:off x="640080" y="1587137"/>
            <a:ext cx="4443984" cy="1724335"/>
          </a:xfrm>
          <a:prstGeom prst="rect">
            <a:avLst/>
          </a:prstGeom>
        </p:spPr>
      </p:pic>
      <p:pic>
        <p:nvPicPr>
          <p:cNvPr id="13" name="그림 12">
            <a:extLst>
              <a:ext uri="{FF2B5EF4-FFF2-40B4-BE49-F238E27FC236}">
                <a16:creationId xmlns:a16="http://schemas.microsoft.com/office/drawing/2014/main" id="{A9A164AE-9C0C-DD1C-4137-9384FA553B34}"/>
              </a:ext>
            </a:extLst>
          </p:cNvPr>
          <p:cNvPicPr>
            <a:picLocks noChangeAspect="1"/>
          </p:cNvPicPr>
          <p:nvPr/>
        </p:nvPicPr>
        <p:blipFill>
          <a:blip r:embed="rId5"/>
          <a:stretch>
            <a:fillRect/>
          </a:stretch>
        </p:blipFill>
        <p:spPr>
          <a:xfrm>
            <a:off x="6917416" y="1718071"/>
            <a:ext cx="4178847" cy="1789844"/>
          </a:xfrm>
          <a:prstGeom prst="rect">
            <a:avLst/>
          </a:prstGeom>
        </p:spPr>
      </p:pic>
    </p:spTree>
    <p:extLst>
      <p:ext uri="{BB962C8B-B14F-4D97-AF65-F5344CB8AC3E}">
        <p14:creationId xmlns:p14="http://schemas.microsoft.com/office/powerpoint/2010/main" val="237582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5. Related Work</a:t>
            </a:r>
            <a:endParaRPr lang="en-US" sz="2800" dirty="0"/>
          </a:p>
        </p:txBody>
      </p:sp>
      <p:graphicFrame>
        <p:nvGraphicFramePr>
          <p:cNvPr id="24" name="Table 0"/>
          <p:cNvGraphicFramePr>
            <a:graphicFrameLocks noGrp="1"/>
          </p:cNvGraphicFramePr>
          <p:nvPr/>
        </p:nvGraphicFramePr>
        <p:xfrm>
          <a:off x="640080" y="1325880"/>
          <a:ext cx="10972800" cy="1536192"/>
        </p:xfrm>
        <a:graphic>
          <a:graphicData uri="http://schemas.openxmlformats.org/drawingml/2006/table">
            <a:tbl>
              <a:tblPr/>
              <a:tblGrid>
                <a:gridCol w="25603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384048">
                <a:tc>
                  <a:txBody>
                    <a:bodyPr/>
                    <a:lstStyle/>
                    <a:p>
                      <a:pPr marL="0" indent="0">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분류</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대표 연구</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tc>
                  <a:txBody>
                    <a:bodyPr/>
                    <a:lstStyle/>
                    <a:p>
                      <a:pPr marL="0" indent="0">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한계</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F2F4F6"/>
                    </a:solidFill>
                  </a:tcPr>
                </a:tc>
                <a:extLst>
                  <a:ext uri="{0D108BD9-81ED-4DB2-BD59-A6C34878D82A}">
                    <a16:rowId xmlns:a16="http://schemas.microsoft.com/office/drawing/2014/main" val="10000"/>
                  </a:ext>
                </a:extLst>
              </a:tr>
              <a:tr h="384048">
                <a:tc>
                  <a:txBody>
                    <a:bodyPr/>
                    <a:lstStyle/>
                    <a:p>
                      <a:pPr marL="0" indent="0">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매핑 방식</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EMCDR, CDIMF</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rowSpan="3">
                  <a:txBody>
                    <a:bodyPr/>
                    <a:lstStyle/>
                    <a:p>
                      <a:pPr marL="0" indent="0">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모두 도메인 단위로 작동 → IDH를 다루지 않음</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분해 방식</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UniCDR, EDDA</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vMerge="1">
                  <a:txBody>
                    <a:bodyPr/>
                    <a:lstStyle/>
                    <a:p>
                      <a:endParaRPr lang="ko-KR"/>
                    </a:p>
                  </a:txBody>
                  <a:tcPr/>
                </a:tc>
                <a:extLst>
                  <a:ext uri="{0D108BD9-81ED-4DB2-BD59-A6C34878D82A}">
                    <a16:rowId xmlns:a16="http://schemas.microsoft.com/office/drawing/2014/main" val="10002"/>
                  </a:ext>
                </a:extLst>
              </a:tr>
              <a:tr h="384048">
                <a:tc>
                  <a:txBody>
                    <a:bodyPr/>
                    <a:lstStyle/>
                    <a:p>
                      <a:pPr marL="0" indent="0">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부정적 전이 완화</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600" b="0" i="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CUT, TrineCDR, DGCDR</a:t>
                      </a:r>
                      <a:endParaRPr lang="en-US" sz="1600" b="0" i="0" dirty="0">
                        <a:latin typeface="Pretendard" panose="02000503000000020004" pitchFamily="2" charset="-127"/>
                        <a:ea typeface="Pretendard" panose="02000503000000020004" pitchFamily="2" charset="-127"/>
                        <a:cs typeface="Pretendard" panose="02000503000000020004" pitchFamily="2" charset="-127"/>
                      </a:endParaRPr>
                    </a:p>
                  </a:txBody>
                  <a:tcPr marL="54864" marR="54864" marT="54864" marB="54864"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vMerge="1">
                  <a:txBody>
                    <a:bodyPr/>
                    <a:lstStyle/>
                    <a:p>
                      <a:endParaRPr lang="ko-KR"/>
                    </a:p>
                  </a:txBody>
                  <a:tcPr/>
                </a:tc>
                <a:extLst>
                  <a:ext uri="{0D108BD9-81ED-4DB2-BD59-A6C34878D82A}">
                    <a16:rowId xmlns:a16="http://schemas.microsoft.com/office/drawing/2014/main" val="10003"/>
                  </a:ext>
                </a:extLst>
              </a:tr>
            </a:tbl>
          </a:graphicData>
        </a:graphic>
      </p:graphicFrame>
      <p:sp>
        <p:nvSpPr>
          <p:cNvPr id="4" name="Text 1"/>
          <p:cNvSpPr txBox="1"/>
          <p:nvPr/>
        </p:nvSpPr>
        <p:spPr>
          <a:xfrm>
            <a:off x="640080" y="3154680"/>
            <a:ext cx="5303520" cy="1737360"/>
          </a:xfrm>
          <a:prstGeom prst="rect">
            <a:avLst/>
          </a:prstGeom>
          <a:noFill/>
          <a:ln/>
        </p:spPr>
        <p:txBody>
          <a:bodyPr wrap="square" lIns="0" tIns="0" rIns="0" bIns="0" rtlCol="0" anchor="t"/>
          <a:lstStyle/>
          <a:p>
            <a:pPr marL="0" indent="0">
              <a:spcAft>
                <a:spcPts val="600"/>
              </a:spcAft>
              <a:buNone/>
            </a:pPr>
            <a:r>
              <a:rPr lang="en-US" sz="18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PPA와의 차이</a:t>
            </a:r>
            <a:endParaRPr lang="en-US" sz="1800" dirty="0"/>
          </a:p>
          <a:p>
            <a:pPr marL="190500" indent="-190500">
              <a:spcAft>
                <a:spcPts val="600"/>
              </a:spcAft>
              <a:buSzPct val="100000"/>
              <a:buChar char="•"/>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PPA도 여러 선호 "프로토타입"을 쓰지만 상호작용 데이터에서 암묵적으로 학습</a:t>
            </a:r>
            <a:endParaRPr lang="en-US" sz="1600" dirty="0"/>
          </a:p>
          <a:p>
            <a:pPr marL="190500" indent="-190500">
              <a:spcAft>
                <a:spcPts val="600"/>
              </a:spcAft>
              <a:buSzPct val="100000"/>
              <a:buChar char="•"/>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프로토타입 개수를 하이퍼파라미터로 정해야 함</a:t>
            </a:r>
            <a:endParaRPr lang="en-US" sz="1600" dirty="0"/>
          </a:p>
          <a:p>
            <a:pPr marL="190500" indent="-190500">
              <a:spcAft>
                <a:spcPts val="600"/>
              </a:spcAft>
              <a:buSzPct val="100000"/>
              <a:buChar char="•"/>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target 도메인에 맞춰 조정되지 않음</a:t>
            </a:r>
            <a:endParaRPr lang="en-US" sz="1600" dirty="0"/>
          </a:p>
        </p:txBody>
      </p:sp>
      <p:sp>
        <p:nvSpPr>
          <p:cNvPr id="5" name="Text 2"/>
          <p:cNvSpPr txBox="1"/>
          <p:nvPr/>
        </p:nvSpPr>
        <p:spPr>
          <a:xfrm>
            <a:off x="6400800" y="3154680"/>
            <a:ext cx="5212080" cy="1737360"/>
          </a:xfrm>
          <a:prstGeom prst="rect">
            <a:avLst/>
          </a:prstGeom>
          <a:noFill/>
          <a:ln/>
        </p:spPr>
        <p:txBody>
          <a:bodyPr wrap="square" lIns="0" tIns="0" rIns="0" bIns="0" rtlCol="0" anchor="t"/>
          <a:lstStyle/>
          <a:p>
            <a:pPr marL="0" indent="0">
              <a:spcAft>
                <a:spcPts val="600"/>
              </a:spcAft>
              <a:buNone/>
            </a:pPr>
            <a:r>
              <a:rPr lang="en-US" sz="18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LASSO (LLM 기반)와의 차이</a:t>
            </a:r>
            <a:endParaRPr lang="en-US" sz="1800" dirty="0"/>
          </a:p>
          <a:p>
            <a:pPr marL="190500" indent="-190500">
              <a:spcAft>
                <a:spcPts val="600"/>
              </a:spcAft>
              <a:buSzPct val="100000"/>
              <a:buChar char="•"/>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LLM이 알아서 추론해 비정형 프로필 1개로 압축</a:t>
            </a:r>
            <a:endParaRPr lang="en-US" sz="1600" dirty="0"/>
          </a:p>
          <a:p>
            <a:pPr marL="190500" indent="-190500">
              <a:spcAft>
                <a:spcPts val="600"/>
              </a:spcAft>
              <a:buSzPct val="100000"/>
              <a:buChar char="•"/>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제어가 어렵고 전이가 불안정할 수 있음</a:t>
            </a:r>
            <a:endParaRPr lang="en-US" sz="1600" dirty="0"/>
          </a:p>
        </p:txBody>
      </p:sp>
      <p:sp>
        <p:nvSpPr>
          <p:cNvPr id="6" name="Shape 3"/>
          <p:cNvSpPr/>
          <p:nvPr/>
        </p:nvSpPr>
        <p:spPr>
          <a:xfrm>
            <a:off x="640080" y="4937760"/>
            <a:ext cx="10972800" cy="685800"/>
          </a:xfrm>
          <a:prstGeom prst="rect">
            <a:avLst/>
          </a:prstGeom>
          <a:solidFill>
            <a:srgbClr val="E9F7F6">
              <a:alpha val="50000"/>
            </a:srgbClr>
          </a:solidFill>
          <a:ln w="12700">
            <a:solidFill>
              <a:srgbClr val="E9F7F6"/>
            </a:solidFill>
            <a:prstDash val="solid"/>
          </a:ln>
        </p:spPr>
        <p:txBody>
          <a:bodyPr/>
          <a:lstStyle/>
          <a:p>
            <a:endParaRPr lang="ko-KR" altLang="en-US"/>
          </a:p>
        </p:txBody>
      </p:sp>
      <p:sp>
        <p:nvSpPr>
          <p:cNvPr id="7" name="Text 4"/>
          <p:cNvSpPr txBox="1"/>
          <p:nvPr/>
        </p:nvSpPr>
        <p:spPr>
          <a:xfrm>
            <a:off x="868680" y="4937760"/>
            <a:ext cx="10607040" cy="685800"/>
          </a:xfrm>
          <a:prstGeom prst="rect">
            <a:avLst/>
          </a:prstGeom>
          <a:noFill/>
          <a:ln/>
        </p:spPr>
        <p:txBody>
          <a:bodyPr wrap="square" lIns="0" tIns="0" rIns="0" bIns="0" rtlCol="0" anchor="ctr"/>
          <a:lstStyle/>
          <a:p>
            <a:pPr marL="0" indent="0">
              <a:spcAft>
                <a:spcPts val="600"/>
              </a:spcAft>
              <a:buNone/>
            </a:pPr>
            <a:r>
              <a:rPr lang="en-US" sz="1600" dirty="0">
                <a:solidFill>
                  <a:srgbClr val="002856"/>
                </a:solidFill>
                <a:latin typeface="Pretendard" panose="02000503000000020004" pitchFamily="2" charset="-127"/>
                <a:ea typeface="Pretendard" panose="02000503000000020004" pitchFamily="2" charset="-127"/>
                <a:cs typeface="Pretendard" panose="02000503000000020004" pitchFamily="2" charset="-127"/>
              </a:rPr>
              <a:t>Multi-TAP  </a:t>
            </a: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명시적이고 해석 가능한 5개 기준 + 구조화된 입력으로 LLM 역할 제한 + target 적응형 전이</a:t>
            </a:r>
            <a:endParaRPr lang="en-US" sz="1600" dirty="0"/>
          </a:p>
        </p:txBody>
      </p:sp>
      <p:sp>
        <p:nvSpPr>
          <p:cNvPr id="8" name="Text 5"/>
          <p:cNvSpPr txBox="1"/>
          <p:nvPr/>
        </p:nvSpPr>
        <p:spPr>
          <a:xfrm>
            <a:off x="640080" y="5870448"/>
            <a:ext cx="10972800" cy="228600"/>
          </a:xfrm>
          <a:prstGeom prst="rect">
            <a:avLst/>
          </a:prstGeom>
          <a:noFill/>
          <a:ln/>
        </p:spPr>
        <p:txBody>
          <a:bodyPr wrap="square" lIns="0" tIns="0" rIns="0" bIns="0" rtlCol="0" anchor="ctr"/>
          <a:lstStyle/>
          <a:p>
            <a:pPr marL="0" indent="0">
              <a:buNone/>
            </a:pPr>
            <a:r>
              <a:rPr lang="en-US" sz="950" dirty="0">
                <a:solidFill>
                  <a:srgbClr val="6E7781"/>
                </a:solidFill>
                <a:latin typeface="Pretendard" panose="02000503000000020004" pitchFamily="2" charset="-127"/>
                <a:ea typeface="Pretendard" panose="02000503000000020004" pitchFamily="2" charset="-127"/>
                <a:cs typeface="Pretendard" panose="02000503000000020004" pitchFamily="2" charset="-127"/>
              </a:rPr>
              <a:t>Kang &amp; Lee, KDD 2026, Section 5</a:t>
            </a:r>
            <a:endParaRPr lang="en-US" sz="950" dirty="0"/>
          </a:p>
        </p:txBody>
      </p:sp>
    </p:spTree>
    <p:extLst>
      <p:ext uri="{BB962C8B-B14F-4D97-AF65-F5344CB8AC3E}">
        <p14:creationId xmlns:p14="http://schemas.microsoft.com/office/powerpoint/2010/main" val="33486382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sz="2800" dirty="0">
                <a:solidFill>
                  <a:srgbClr val="111111"/>
                </a:solidFill>
                <a:latin typeface="Pretendard" panose="02000503000000020004" pitchFamily="2" charset="-127"/>
                <a:ea typeface="Pretendard" panose="02000503000000020004" pitchFamily="2" charset="-127"/>
                <a:cs typeface="Pretendard" panose="02000503000000020004" pitchFamily="2" charset="-127"/>
              </a:rPr>
              <a:t>6. Conclusion</a:t>
            </a:r>
            <a:endParaRPr lang="en-US" sz="2800" dirty="0"/>
          </a:p>
        </p:txBody>
      </p:sp>
      <p:sp>
        <p:nvSpPr>
          <p:cNvPr id="3" name="Text 1"/>
          <p:cNvSpPr txBox="1"/>
          <p:nvPr/>
        </p:nvSpPr>
        <p:spPr>
          <a:xfrm>
            <a:off x="640080" y="1554480"/>
            <a:ext cx="1463040" cy="822960"/>
          </a:xfrm>
          <a:prstGeom prst="rect">
            <a:avLst/>
          </a:prstGeom>
          <a:noFill/>
          <a:ln/>
        </p:spPr>
        <p:txBody>
          <a:bodyPr wrap="square" lIns="0" tIns="0" rIns="0" bIns="0" rtlCol="0" anchor="ctr"/>
          <a:lstStyle/>
          <a:p>
            <a:pPr marL="0" indent="0">
              <a:spcAft>
                <a:spcPts val="600"/>
              </a:spcAft>
              <a:buNone/>
            </a:pPr>
            <a:r>
              <a:rPr lang="en-US" sz="20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관찰</a:t>
            </a:r>
            <a:endParaRPr lang="en-US" sz="2000" dirty="0"/>
          </a:p>
        </p:txBody>
      </p:sp>
      <p:sp>
        <p:nvSpPr>
          <p:cNvPr id="4" name="Text 2"/>
          <p:cNvSpPr txBox="1"/>
          <p:nvPr/>
        </p:nvSpPr>
        <p:spPr>
          <a:xfrm>
            <a:off x="2194560" y="1554480"/>
            <a:ext cx="9418320" cy="822960"/>
          </a:xfrm>
          <a:prstGeom prst="rect">
            <a:avLst/>
          </a:prstGeom>
          <a:noFill/>
          <a:ln/>
        </p:spPr>
        <p:txBody>
          <a:bodyPr wrap="square" lIns="0" tIns="0" rIns="0" bIns="0" rtlCol="0" anchor="ctr"/>
          <a:lstStyle/>
          <a:p>
            <a:pPr marL="0" indent="0">
              <a:spcAft>
                <a:spcPts val="600"/>
              </a:spcAft>
              <a:buNone/>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기존 CDR은 도메인 내 이질성(IDH)을 명시적으로 포착하지 못함 — 한 도메인 안에서도 선호는 카테고리마다 다름</a:t>
            </a:r>
            <a:endParaRPr lang="en-US" sz="1600" dirty="0"/>
          </a:p>
        </p:txBody>
      </p:sp>
      <p:sp>
        <p:nvSpPr>
          <p:cNvPr id="5" name="Shape 3"/>
          <p:cNvSpPr/>
          <p:nvPr/>
        </p:nvSpPr>
        <p:spPr>
          <a:xfrm>
            <a:off x="640080" y="2578608"/>
            <a:ext cx="10972800" cy="0"/>
          </a:xfrm>
          <a:prstGeom prst="line">
            <a:avLst/>
          </a:prstGeom>
          <a:noFill/>
          <a:ln w="9525">
            <a:solidFill>
              <a:srgbClr val="D9DDE1"/>
            </a:solidFill>
            <a:prstDash val="solid"/>
          </a:ln>
        </p:spPr>
        <p:txBody>
          <a:bodyPr/>
          <a:lstStyle/>
          <a:p>
            <a:endParaRPr lang="ko-KR" altLang="en-US"/>
          </a:p>
        </p:txBody>
      </p:sp>
      <p:sp>
        <p:nvSpPr>
          <p:cNvPr id="6" name="Text 4"/>
          <p:cNvSpPr txBox="1"/>
          <p:nvPr/>
        </p:nvSpPr>
        <p:spPr>
          <a:xfrm>
            <a:off x="640080" y="2788920"/>
            <a:ext cx="1463040" cy="822960"/>
          </a:xfrm>
          <a:prstGeom prst="rect">
            <a:avLst/>
          </a:prstGeom>
          <a:noFill/>
          <a:ln/>
        </p:spPr>
        <p:txBody>
          <a:bodyPr wrap="square" lIns="0" tIns="0" rIns="0" bIns="0" rtlCol="0" anchor="ctr"/>
          <a:lstStyle/>
          <a:p>
            <a:pPr marL="0" indent="0">
              <a:spcAft>
                <a:spcPts val="600"/>
              </a:spcAft>
              <a:buNone/>
            </a:pPr>
            <a:r>
              <a:rPr lang="en-US" sz="20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방법</a:t>
            </a:r>
            <a:endParaRPr lang="en-US" sz="2000" dirty="0"/>
          </a:p>
        </p:txBody>
      </p:sp>
      <p:sp>
        <p:nvSpPr>
          <p:cNvPr id="7" name="Text 5"/>
          <p:cNvSpPr txBox="1"/>
          <p:nvPr/>
        </p:nvSpPr>
        <p:spPr>
          <a:xfrm>
            <a:off x="2194560" y="2788920"/>
            <a:ext cx="9418320" cy="822960"/>
          </a:xfrm>
          <a:prstGeom prst="rect">
            <a:avLst/>
          </a:prstGeom>
          <a:noFill/>
          <a:ln/>
        </p:spPr>
        <p:txBody>
          <a:bodyPr wrap="square" lIns="0" tIns="0" rIns="0" bIns="0" rtlCol="0" anchor="ctr"/>
          <a:lstStyle/>
          <a:p>
            <a:pPr marL="0" indent="0">
              <a:spcAft>
                <a:spcPts val="600"/>
              </a:spcAft>
              <a:buNone/>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다중 페르소나로 이질적 선호를 구조화해 모델링하고(P1), 도플갱어 정렬로 target 적응적 전이를 수행(P2)</a:t>
            </a:r>
            <a:endParaRPr lang="en-US" sz="1600" dirty="0"/>
          </a:p>
        </p:txBody>
      </p:sp>
      <p:sp>
        <p:nvSpPr>
          <p:cNvPr id="8" name="Shape 6"/>
          <p:cNvSpPr/>
          <p:nvPr/>
        </p:nvSpPr>
        <p:spPr>
          <a:xfrm>
            <a:off x="640080" y="3813048"/>
            <a:ext cx="10972800" cy="0"/>
          </a:xfrm>
          <a:prstGeom prst="line">
            <a:avLst/>
          </a:prstGeom>
          <a:noFill/>
          <a:ln w="9525">
            <a:solidFill>
              <a:srgbClr val="D9DDE1"/>
            </a:solidFill>
            <a:prstDash val="solid"/>
          </a:ln>
        </p:spPr>
        <p:txBody>
          <a:bodyPr/>
          <a:lstStyle/>
          <a:p>
            <a:endParaRPr lang="ko-KR" altLang="en-US"/>
          </a:p>
        </p:txBody>
      </p:sp>
      <p:sp>
        <p:nvSpPr>
          <p:cNvPr id="9" name="Text 7"/>
          <p:cNvSpPr txBox="1"/>
          <p:nvPr/>
        </p:nvSpPr>
        <p:spPr>
          <a:xfrm>
            <a:off x="640080" y="4023360"/>
            <a:ext cx="1463040" cy="822960"/>
          </a:xfrm>
          <a:prstGeom prst="rect">
            <a:avLst/>
          </a:prstGeom>
          <a:noFill/>
          <a:ln/>
        </p:spPr>
        <p:txBody>
          <a:bodyPr wrap="square" lIns="0" tIns="0" rIns="0" bIns="0" rtlCol="0" anchor="ctr"/>
          <a:lstStyle/>
          <a:p>
            <a:pPr marL="0" indent="0">
              <a:spcAft>
                <a:spcPts val="600"/>
              </a:spcAft>
              <a:buNone/>
            </a:pPr>
            <a:r>
              <a:rPr lang="en-US" sz="2000" dirty="0">
                <a:solidFill>
                  <a:srgbClr val="0E8F8A"/>
                </a:solidFill>
                <a:latin typeface="Pretendard" panose="02000503000000020004" pitchFamily="2" charset="-127"/>
                <a:ea typeface="Pretendard" panose="02000503000000020004" pitchFamily="2" charset="-127"/>
                <a:cs typeface="Pretendard" panose="02000503000000020004" pitchFamily="2" charset="-127"/>
              </a:rPr>
              <a:t>결과</a:t>
            </a:r>
            <a:endParaRPr lang="en-US" sz="2000" dirty="0"/>
          </a:p>
        </p:txBody>
      </p:sp>
      <p:sp>
        <p:nvSpPr>
          <p:cNvPr id="10" name="Text 8"/>
          <p:cNvSpPr txBox="1"/>
          <p:nvPr/>
        </p:nvSpPr>
        <p:spPr>
          <a:xfrm>
            <a:off x="2194560" y="4023360"/>
            <a:ext cx="9418320" cy="822960"/>
          </a:xfrm>
          <a:prstGeom prst="rect">
            <a:avLst/>
          </a:prstGeom>
          <a:noFill/>
          <a:ln/>
        </p:spPr>
        <p:txBody>
          <a:bodyPr wrap="square" lIns="0" tIns="0" rIns="0" bIns="0" rtlCol="0" anchor="ctr"/>
          <a:lstStyle/>
          <a:p>
            <a:pPr marL="0" indent="0">
              <a:spcAft>
                <a:spcPts val="600"/>
              </a:spcAft>
              <a:buNone/>
            </a:pPr>
            <a:r>
              <a:rPr lang="en-US" sz="1600" dirty="0">
                <a:solidFill>
                  <a:srgbClr val="1A1A1A"/>
                </a:solidFill>
                <a:latin typeface="Pretendard" panose="02000503000000020004" pitchFamily="2" charset="-127"/>
                <a:ea typeface="Pretendard" panose="02000503000000020004" pitchFamily="2" charset="-127"/>
                <a:cs typeface="Pretendard" panose="02000503000000020004" pitchFamily="2" charset="-127"/>
              </a:rPr>
              <a:t>SOTA 대비 일관된 성능 우위, 동시에 계산 효율적</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0E5C4-DC58-FA8E-73E5-FA9C8423532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385261A-E871-71DA-013A-DC2B03DD4724}"/>
              </a:ext>
            </a:extLst>
          </p:cNvPr>
          <p:cNvSpPr txBox="1"/>
          <p:nvPr/>
        </p:nvSpPr>
        <p:spPr>
          <a:xfrm>
            <a:off x="640080" y="384048"/>
            <a:ext cx="10972800" cy="640080"/>
          </a:xfrm>
          <a:prstGeom prst="rect">
            <a:avLst/>
          </a:prstGeom>
          <a:noFill/>
          <a:ln/>
        </p:spPr>
        <p:txBody>
          <a:bodyPr wrap="square" lIns="0" tIns="0" rIns="0" bIns="0" rtlCol="0" anchor="ctr"/>
          <a:lstStyle/>
          <a:p>
            <a:pPr marL="0" indent="0">
              <a:buNone/>
            </a:pPr>
            <a:r>
              <a:rPr lang="en-US" altLang="ko-KR" sz="2800" dirty="0"/>
              <a:t>7.</a:t>
            </a:r>
            <a:r>
              <a:rPr lang="ko-KR" altLang="en-US" sz="2800" dirty="0"/>
              <a:t> </a:t>
            </a:r>
            <a:r>
              <a:rPr lang="en-US" altLang="ko-KR" sz="2800" dirty="0"/>
              <a:t>Limitations</a:t>
            </a:r>
            <a:endParaRPr lang="en-US" sz="2800" dirty="0"/>
          </a:p>
        </p:txBody>
      </p:sp>
    </p:spTree>
    <p:extLst>
      <p:ext uri="{BB962C8B-B14F-4D97-AF65-F5344CB8AC3E}">
        <p14:creationId xmlns:p14="http://schemas.microsoft.com/office/powerpoint/2010/main" val="38742233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2561B73-D1E4-514F-B8D9-6371DEE3AC16}">
  <we:reference id="f5f369e5-aa35-49d7-ad7b-638152ddb008" version="1.0.0.1" store="EXCatalog" storeType="EXCatalog"/>
  <we:alternateReferences>
    <we:reference id="WA200010001" version="1.0.0.1" store="ko-KR" storeType="OMEX"/>
  </we:alternateReferences>
  <we:properties>
    <we:property name="claude.fileId" value="&quot;0fa46bfd-7f50-4844-b9e8-60f57d66c15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1442</TotalTime>
  <Words>5301</Words>
  <Application>Microsoft Macintosh PowerPoint</Application>
  <PresentationFormat>와이드스크린</PresentationFormat>
  <Paragraphs>570</Paragraphs>
  <Slides>26</Slides>
  <Notes>26</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26</vt:i4>
      </vt:variant>
    </vt:vector>
  </HeadingPairs>
  <TitlesOfParts>
    <vt:vector size="30" baseType="lpstr">
      <vt:lpstr>Pretendard</vt:lpstr>
      <vt:lpstr>Arial</vt:lpstr>
      <vt:lpstr>Cambria Math</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(학부생) 박민성 (산업공학과)</cp:lastModifiedBy>
  <cp:revision>3</cp:revision>
  <dcterms:created xsi:type="dcterms:W3CDTF">2026-09-28T14:11:14Z</dcterms:created>
  <dcterms:modified xsi:type="dcterms:W3CDTF">2026-09-29T14:15:27Z</dcterms:modified>
</cp:coreProperties>
</file>